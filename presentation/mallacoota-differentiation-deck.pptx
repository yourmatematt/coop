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shifts from premium pricing to scientific differentiation. We're not asking consumers to pay more—we're showing them they're buying fundamentally different products. Our defense is science, not luxury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perceives all abalone as identical. This perception forces us into price competition we cannot win. Our strategy: prove scientifically that wild EX1191 and Chinese farmed are fundamentally different products serving different consumer needs. We defend market share through education, not price 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fundamental shift: we're not premium abalone competing against cheap abalone. We're a beauty supplement that happens to be abalone, competing against basic protein. Different categories, different purposes, different consumers. Price becomes irrelevant when you're solving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Hormones are the clearest, most binary differentiator. Wild abalone has ZERO growth hormones because they grow naturally over years. Farmed abalone uses hormones to accelerate growth for commercial viability. For beauty consumers, this is non-negotiable. Simple lab test proves it. Game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compound serves a specific beauty function. Wild abalone contains significantly higher levels because of their natural diet and environment. These aren't marginal differences—these are presence vs absence in key categories. Lab testing will quantify these differences and create undeniable proof points for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behind the science. Wild abalone bio-accumulate beauty compounds from complex marine algae over decades. Farmed abalone eat pellets designed for fast growth, not compound richness. You literally cannot replicate 56 years of natural accumulation in a 6-month farming cycle. This is our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testing is our foundation. $15-25K investment proves the science. Hormone panel is non-negotiable - this alone differentiates us. Peptide and compound analysis adds depth. We need clear superiority in at least 3 markers. If results don't show meaningful differentiation, we pivot to sustainability story with minimal sunk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only—don't overcomplicate. Hormone-free resonates with clean beauty movement. Scientific proof gives credibility. EX1191 provides traceability and heritage. QR codes on packaging link directly to lab results—radical transparency. Let consumers verify our claims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Influencer testing validates market messaging. We give them both products and lab results—let them compare and educate their audience. This isn't sponsorship, it's scientific demonstration. If they can't generate engagement around the differences, our differentiation story needs work. 5% engagement threshold proves market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is everything. We lose in the seafood aisle competing against farmed. We win in the beauty supplements aisle where our price is competitive with collagen drinks and peptide supplements. Same product, different shelf, different comparison set, different outcome. This isn't about raising prices—it's about changing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armor against price objections. We're not asking for more money—we're offering different value. Protein? Both have it. Price? Same ballpark. Everything else? Completely different. The comparison table makes this visual and undeniable. QR codes let consumers verify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model is conservative and realistic. We're not projecting premium pricing—we're projecting volume recovery through differentiation. Year 1: stem the bleeding by defending half our lost share. Year 2: recover three-quarters through proven differentiation. Year 3: full recovery plus new beauty-focused consumers. ROI based on keeping customers we've lost, not charging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is aggressive but achievable. Lab results in 8 weeks provide ammunition for everything else. Influencer testing validates messaging in weeks 9-12. Retail discussions happen in parallel. Full rollout by month 5 means we're defending market share before losing more ground. Every week counts when revenue is collapsing.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are manageable. If lab results fail to show differentiation, we've only invested $15K and can pivot to sustainability messaging. If hormone messaging doesn't resonate, we have beauty compounds as backup. If competitors copy claims, our EX1191 traceability and ongoing testing creates authenticity they can't match. Every risk has a controlled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steps to start immediately. Board approval for lab testing is step one—everything else follows. We test both products to ensure comparative credibility. Hormone and compound analysis are non-negotiable. Results become infographics for consumer education. Singapore influencers validate messaging before wider rollout. Clear, actionable,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bottom line. We're not premium abalone—we're a beauty supplement. They're not cheap abalone—they're basic protein. Different products, different purposes, different value propositions. Science creates the separation. Transparency builds trust. Education drives choice. We defend our market through differentiation, not discounting. Ready to invest $15-25K and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914400" y="2743200"/>
            <a:ext cx="16459200" cy="2743200"/>
          </a:xfrm>
          <a:prstGeom prst="rect">
            <a:avLst/>
          </a:prstGeom>
          <a:noFill/>
          <a:ln/>
        </p:spPr>
        <p:txBody>
          <a:bodyPr wrap="square" rtlCol="0" anchor="ctr"/>
          <a:lstStyle/>
          <a:p>
            <a:pPr algn="ctr" indent="0" marL="0">
              <a:buNone/>
            </a:pPr>
            <a:r>
              <a:rPr lang="en-US" sz="5400" b="1" dirty="0">
                <a:solidFill>
                  <a:srgbClr val="FFFFFF"/>
                </a:solidFill>
              </a:rPr>
              <a:t>The Science of</a:t>
            </a:r>
            <a:endParaRPr lang="en-US" sz="5400" dirty="0"/>
          </a:p>
          <a:p>
            <a:pPr algn="ctr" indent="0" marL="0">
              <a:buNone/>
            </a:pPr>
            <a:r>
              <a:rPr lang="en-US" sz="5400" b="1" dirty="0">
                <a:solidFill>
                  <a:srgbClr val="FFFFFF"/>
                </a:solidFill>
              </a:rPr>
              <a:t>Differentiation</a:t>
            </a:r>
            <a:endParaRPr lang="en-US" sz="5400" dirty="0"/>
          </a:p>
        </p:txBody>
      </p:sp>
      <p:sp>
        <p:nvSpPr>
          <p:cNvPr id="3" name="Shape 1"/>
          <p:cNvSpPr/>
          <p:nvPr/>
        </p:nvSpPr>
        <p:spPr>
          <a:xfrm>
            <a:off x="7315200" y="5852160"/>
            <a:ext cx="3657600" cy="91440"/>
          </a:xfrm>
          <a:prstGeom prst="rect">
            <a:avLst/>
          </a:prstGeom>
          <a:solidFill>
            <a:srgbClr val="D4AF37"/>
          </a:solidFill>
          <a:ln/>
        </p:spPr>
      </p:sp>
      <p:sp>
        <p:nvSpPr>
          <p:cNvPr id="4" name="Text 2"/>
          <p:cNvSpPr/>
          <p:nvPr/>
        </p:nvSpPr>
        <p:spPr>
          <a:xfrm>
            <a:off x="914400" y="6400800"/>
            <a:ext cx="16459200" cy="1463040"/>
          </a:xfrm>
          <a:prstGeom prst="rect">
            <a:avLst/>
          </a:prstGeom>
          <a:noFill/>
          <a:ln/>
        </p:spPr>
        <p:txBody>
          <a:bodyPr wrap="square" rtlCol="0" anchor="ctr"/>
          <a:lstStyle/>
          <a:p>
            <a:pPr algn="ctr" indent="0" marL="0">
              <a:buNone/>
            </a:pPr>
            <a:r>
              <a:rPr lang="en-US" sz="2400" dirty="0">
                <a:solidFill>
                  <a:srgbClr val="7FCDCD"/>
                </a:solidFill>
              </a:rPr>
              <a:t>Why Wild EX1191 and Chinese Farmed</a:t>
            </a:r>
            <a:endParaRPr lang="en-US" sz="2400" dirty="0"/>
          </a:p>
          <a:p>
            <a:pPr algn="ctr" indent="0" marL="0">
              <a:buNone/>
            </a:pPr>
            <a:r>
              <a:rPr lang="en-US" sz="2400" dirty="0">
                <a:solidFill>
                  <a:srgbClr val="7FCDCD"/>
                </a:solidFill>
              </a:rPr>
              <a:t>Are Completely Different Products</a:t>
            </a:r>
            <a:endParaRPr lang="en-US" sz="2400" dirty="0"/>
          </a:p>
        </p:txBody>
      </p:sp>
      <p:sp>
        <p:nvSpPr>
          <p:cNvPr id="5" name="Text 3"/>
          <p:cNvSpPr/>
          <p:nvPr/>
        </p:nvSpPr>
        <p:spPr>
          <a:xfrm>
            <a:off x="914400" y="8412480"/>
            <a:ext cx="16459200" cy="548640"/>
          </a:xfrm>
          <a:prstGeom prst="rect">
            <a:avLst/>
          </a:prstGeom>
          <a:noFill/>
          <a:ln/>
        </p:spPr>
        <p:txBody>
          <a:bodyPr wrap="square" rtlCol="0" anchor="ctr"/>
          <a:lstStyle/>
          <a:p>
            <a:pPr algn="ctr" indent="0" marL="0">
              <a:buNone/>
            </a:pPr>
            <a:r>
              <a:rPr lang="en-US" sz="1800" dirty="0">
                <a:solidFill>
                  <a:srgbClr val="FFFFFF"/>
                </a:solidFill>
              </a:rPr>
              <a:t>November 2025</a:t>
            </a:r>
            <a:endParaRPr lang="en-US" sz="1800" dirty="0"/>
          </a:p>
        </p:txBody>
      </p:sp>
      <p:sp>
        <p:nvSpPr>
          <p:cNvPr id="6" name="Text 4"/>
          <p:cNvSpPr/>
          <p:nvPr/>
        </p:nvSpPr>
        <p:spPr>
          <a:xfrm>
            <a:off x="914400" y="9144000"/>
            <a:ext cx="16459200" cy="731520"/>
          </a:xfrm>
          <a:prstGeom prst="rect">
            <a:avLst/>
          </a:prstGeom>
          <a:noFill/>
          <a:ln/>
        </p:spPr>
        <p:txBody>
          <a:bodyPr wrap="square" rtlCol="0" anchor="ctr"/>
          <a:lstStyle/>
          <a:p>
            <a:pPr algn="ctr" indent="0" marL="0">
              <a:buNone/>
            </a:pPr>
            <a:r>
              <a:rPr lang="en-US" sz="1800" b="1" dirty="0">
                <a:solidFill>
                  <a:srgbClr val="D4AF37"/>
                </a:solidFill>
              </a:rPr>
              <a:t>MALLACOOTA BLACK LIP ABALONE CO-OPERATIVE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4000" b="1" dirty="0">
                <a:solidFill>
                  <a:srgbClr val="FFFFFF"/>
                </a:solidFill>
              </a:rPr>
              <a:t>The Market Reality</a:t>
            </a:r>
            <a:endParaRPr lang="en-US" sz="4000" dirty="0"/>
          </a:p>
        </p:txBody>
      </p:sp>
      <p:sp>
        <p:nvSpPr>
          <p:cNvPr id="4" name="Shape 2"/>
          <p:cNvSpPr/>
          <p:nvPr/>
        </p:nvSpPr>
        <p:spPr>
          <a:xfrm>
            <a:off x="914400" y="2011680"/>
            <a:ext cx="16459200" cy="1280160"/>
          </a:xfrm>
          <a:prstGeom prst="rect">
            <a:avLst/>
          </a:prstGeom>
          <a:solidFill>
            <a:srgbClr val="FFFFFF"/>
          </a:solidFill>
          <a:ln w="101600">
            <a:solidFill>
              <a:srgbClr val="DC3545"/>
            </a:solidFill>
            <a:prstDash val="solid"/>
          </a:ln>
        </p:spPr>
      </p:sp>
      <p:sp>
        <p:nvSpPr>
          <p:cNvPr id="5" name="Text 3"/>
          <p:cNvSpPr/>
          <p:nvPr/>
        </p:nvSpPr>
        <p:spPr>
          <a:xfrm>
            <a:off x="1280160" y="2286000"/>
            <a:ext cx="15727680" cy="731520"/>
          </a:xfrm>
          <a:prstGeom prst="rect">
            <a:avLst/>
          </a:prstGeom>
          <a:noFill/>
          <a:ln/>
        </p:spPr>
        <p:txBody>
          <a:bodyPr wrap="square" rtlCol="0" anchor="ctr"/>
          <a:lstStyle/>
          <a:p>
            <a:pPr algn="ctr" indent="0" marL="0">
              <a:buNone/>
            </a:pPr>
            <a:r>
              <a:rPr lang="en-US" sz="3200" b="1" dirty="0">
                <a:solidFill>
                  <a:srgbClr val="DC3545"/>
                </a:solidFill>
              </a:rPr>
              <a:t>75% Revenue Collapse from Chinese Farmed Flooding</a:t>
            </a:r>
            <a:endParaRPr lang="en-US" sz="3200" dirty="0"/>
          </a:p>
        </p:txBody>
      </p:sp>
      <p:sp>
        <p:nvSpPr>
          <p:cNvPr id="6" name="Text 4"/>
          <p:cNvSpPr/>
          <p:nvPr/>
        </p:nvSpPr>
        <p:spPr>
          <a:xfrm>
            <a:off x="1280160" y="3657600"/>
            <a:ext cx="15727680" cy="548640"/>
          </a:xfrm>
          <a:prstGeom prst="rect">
            <a:avLst/>
          </a:prstGeom>
          <a:noFill/>
          <a:ln/>
        </p:spPr>
        <p:txBody>
          <a:bodyPr wrap="square" rtlCol="0" anchor="ctr"/>
          <a:lstStyle/>
          <a:p>
            <a:pPr indent="0" marL="0">
              <a:buNone/>
            </a:pPr>
            <a:r>
              <a:rPr lang="en-US" sz="2400" b="1" dirty="0">
                <a:solidFill>
                  <a:srgbClr val="003366"/>
                </a:solidFill>
              </a:rPr>
              <a:t>Current Market Pricing:</a:t>
            </a:r>
            <a:endParaRPr lang="en-US" sz="2400" dirty="0"/>
          </a:p>
        </p:txBody>
      </p:sp>
      <p:sp>
        <p:nvSpPr>
          <p:cNvPr id="7" name="Text 5"/>
          <p:cNvSpPr/>
          <p:nvPr/>
        </p:nvSpPr>
        <p:spPr>
          <a:xfrm>
            <a:off x="1280160" y="4297680"/>
            <a:ext cx="15727680" cy="548640"/>
          </a:xfrm>
          <a:prstGeom prst="rect">
            <a:avLst/>
          </a:prstGeom>
          <a:noFill/>
          <a:ln/>
        </p:spPr>
        <p:txBody>
          <a:bodyPr wrap="square" rtlCol="0" anchor="ctr"/>
          <a:lstStyle/>
          <a:p>
            <a:pPr algn="ctr" indent="0" marL="0">
              <a:buNone/>
            </a:pPr>
            <a:r>
              <a:rPr lang="en-US" sz="2200" dirty="0">
                <a:solidFill>
                  <a:srgbClr val="1A1A1A"/>
                </a:solidFill>
              </a:rPr>
              <a:t>Chinese Farmed: $8-12/kg  •  Wild EX1191: $40-60/kg</a:t>
            </a:r>
            <a:endParaRPr lang="en-US" sz="2200" dirty="0"/>
          </a:p>
        </p:txBody>
      </p:sp>
      <p:sp>
        <p:nvSpPr>
          <p:cNvPr id="8" name="Shape 6"/>
          <p:cNvSpPr/>
          <p:nvPr/>
        </p:nvSpPr>
        <p:spPr>
          <a:xfrm>
            <a:off x="914400" y="5303520"/>
            <a:ext cx="8046720" cy="2743200"/>
          </a:xfrm>
          <a:prstGeom prst="rect">
            <a:avLst/>
          </a:prstGeom>
          <a:solidFill>
            <a:srgbClr val="FFF3CD"/>
          </a:solidFill>
          <a:ln w="50800">
            <a:solidFill>
              <a:srgbClr val="FFC107"/>
            </a:solidFill>
            <a:prstDash val="solid"/>
          </a:ln>
        </p:spPr>
      </p:sp>
      <p:sp>
        <p:nvSpPr>
          <p:cNvPr id="9" name="Text 7"/>
          <p:cNvSpPr/>
          <p:nvPr/>
        </p:nvSpPr>
        <p:spPr>
          <a:xfrm>
            <a:off x="1280160" y="5486400"/>
            <a:ext cx="7315200" cy="548640"/>
          </a:xfrm>
          <a:prstGeom prst="rect">
            <a:avLst/>
          </a:prstGeom>
          <a:noFill/>
          <a:ln/>
        </p:spPr>
        <p:txBody>
          <a:bodyPr wrap="square" rtlCol="0" anchor="ctr"/>
          <a:lstStyle/>
          <a:p>
            <a:pPr indent="0" marL="0">
              <a:buNone/>
            </a:pPr>
            <a:r>
              <a:rPr lang="en-US" sz="2200" b="1" dirty="0">
                <a:solidFill>
                  <a:srgbClr val="856404"/>
                </a:solidFill>
              </a:rPr>
              <a:t>THE PROBLEM</a:t>
            </a:r>
            <a:endParaRPr lang="en-US" sz="2200" dirty="0"/>
          </a:p>
        </p:txBody>
      </p:sp>
      <p:sp>
        <p:nvSpPr>
          <p:cNvPr id="10" name="Text 8"/>
          <p:cNvSpPr/>
          <p:nvPr/>
        </p:nvSpPr>
        <p:spPr>
          <a:xfrm>
            <a:off x="1280160" y="6126480"/>
            <a:ext cx="7315200" cy="1828800"/>
          </a:xfrm>
          <a:prstGeom prst="rect">
            <a:avLst/>
          </a:prstGeom>
          <a:noFill/>
          <a:ln/>
        </p:spPr>
        <p:txBody>
          <a:bodyPr wrap="square" rtlCol="0" anchor="ctr"/>
          <a:lstStyle/>
          <a:p>
            <a:pPr algn="ctr" indent="0" marL="0">
              <a:buNone/>
            </a:pPr>
            <a:r>
              <a:rPr lang="en-US" sz="1800" dirty="0">
                <a:solidFill>
                  <a:srgbClr val="856404"/>
                </a:solidFill>
              </a:rPr>
              <a:t>Consumers think</a:t>
            </a:r>
            <a:endParaRPr lang="en-US" sz="1800" dirty="0"/>
          </a:p>
          <a:p>
            <a:pPr algn="ctr" indent="0" marL="0">
              <a:buNone/>
            </a:pPr>
            <a:r>
              <a:rPr lang="en-US" sz="1800" dirty="0">
                <a:solidFill>
                  <a:srgbClr val="856404"/>
                </a:solidFill>
              </a:rPr>
              <a:t>"abalone is abalone"</a:t>
            </a:r>
            <a:endParaRPr lang="en-US" sz="1800" dirty="0"/>
          </a:p>
          <a:p>
            <a:pPr algn="ctr" indent="0" marL="0">
              <a:buNone/>
            </a:pPr>
            <a:endParaRPr lang="en-US" sz="1800" dirty="0"/>
          </a:p>
          <a:p>
            <a:pPr algn="ctr" indent="0" marL="0">
              <a:buNone/>
            </a:pPr>
            <a:r>
              <a:rPr lang="en-US" sz="1800" dirty="0">
                <a:solidFill>
                  <a:srgbClr val="856404"/>
                </a:solidFill>
              </a:rPr>
              <a:t>We're competing on price</a:t>
            </a:r>
            <a:endParaRPr lang="en-US" sz="1800" dirty="0"/>
          </a:p>
          <a:p>
            <a:pPr algn="ctr" indent="0" marL="0">
              <a:buNone/>
            </a:pPr>
            <a:r>
              <a:rPr lang="en-US" sz="1800" dirty="0">
                <a:solidFill>
                  <a:srgbClr val="856404"/>
                </a:solidFill>
              </a:rPr>
              <a:t>in the same category</a:t>
            </a:r>
            <a:endParaRPr lang="en-US" sz="1800" dirty="0"/>
          </a:p>
        </p:txBody>
      </p:sp>
      <p:sp>
        <p:nvSpPr>
          <p:cNvPr id="11" name="Shape 9"/>
          <p:cNvSpPr/>
          <p:nvPr/>
        </p:nvSpPr>
        <p:spPr>
          <a:xfrm>
            <a:off x="9326880" y="5303520"/>
            <a:ext cx="8046720" cy="2743200"/>
          </a:xfrm>
          <a:prstGeom prst="rect">
            <a:avLst/>
          </a:prstGeom>
          <a:solidFill>
            <a:srgbClr val="D4EDDA"/>
          </a:solidFill>
          <a:ln w="50800">
            <a:solidFill>
              <a:srgbClr val="28A745"/>
            </a:solidFill>
            <a:prstDash val="solid"/>
          </a:ln>
        </p:spPr>
      </p:sp>
      <p:sp>
        <p:nvSpPr>
          <p:cNvPr id="12" name="Text 10"/>
          <p:cNvSpPr/>
          <p:nvPr/>
        </p:nvSpPr>
        <p:spPr>
          <a:xfrm>
            <a:off x="9692640" y="5486400"/>
            <a:ext cx="7315200" cy="548640"/>
          </a:xfrm>
          <a:prstGeom prst="rect">
            <a:avLst/>
          </a:prstGeom>
          <a:noFill/>
          <a:ln/>
        </p:spPr>
        <p:txBody>
          <a:bodyPr wrap="square" rtlCol="0" anchor="ctr"/>
          <a:lstStyle/>
          <a:p>
            <a:pPr indent="0" marL="0">
              <a:buNone/>
            </a:pPr>
            <a:r>
              <a:rPr lang="en-US" sz="2200" b="1" dirty="0">
                <a:solidFill>
                  <a:srgbClr val="155724"/>
                </a:solidFill>
              </a:rPr>
              <a:t>THE SOLUTION</a:t>
            </a:r>
            <a:endParaRPr lang="en-US" sz="2200" dirty="0"/>
          </a:p>
        </p:txBody>
      </p:sp>
      <p:sp>
        <p:nvSpPr>
          <p:cNvPr id="13" name="Text 11"/>
          <p:cNvSpPr/>
          <p:nvPr/>
        </p:nvSpPr>
        <p:spPr>
          <a:xfrm>
            <a:off x="9692640" y="6126480"/>
            <a:ext cx="7315200" cy="1828800"/>
          </a:xfrm>
          <a:prstGeom prst="rect">
            <a:avLst/>
          </a:prstGeom>
          <a:noFill/>
          <a:ln/>
        </p:spPr>
        <p:txBody>
          <a:bodyPr wrap="square" rtlCol="0" anchor="ctr"/>
          <a:lstStyle/>
          <a:p>
            <a:pPr algn="ctr" indent="0" marL="0">
              <a:buNone/>
            </a:pPr>
            <a:r>
              <a:rPr lang="en-US" sz="1800" dirty="0">
                <a:solidFill>
                  <a:srgbClr val="155724"/>
                </a:solidFill>
              </a:rPr>
              <a:t>Prove they're buying</a:t>
            </a:r>
            <a:endParaRPr lang="en-US" sz="1800" dirty="0"/>
          </a:p>
          <a:p>
            <a:pPr algn="ctr" indent="0" marL="0">
              <a:buNone/>
            </a:pPr>
            <a:r>
              <a:rPr lang="en-US" sz="1800" dirty="0">
                <a:solidFill>
                  <a:srgbClr val="155724"/>
                </a:solidFill>
              </a:rPr>
              <a:t>DIFFERENT products</a:t>
            </a:r>
            <a:endParaRPr lang="en-US" sz="1800" dirty="0"/>
          </a:p>
          <a:p>
            <a:pPr algn="ctr" indent="0" marL="0">
              <a:buNone/>
            </a:pPr>
            <a:endParaRPr lang="en-US" sz="1800" dirty="0"/>
          </a:p>
          <a:p>
            <a:pPr algn="ctr" indent="0" marL="0">
              <a:buNone/>
            </a:pPr>
            <a:r>
              <a:rPr lang="en-US" sz="1800" dirty="0">
                <a:solidFill>
                  <a:srgbClr val="155724"/>
                </a:solidFill>
              </a:rPr>
              <a:t>Compete on PURPOSE,</a:t>
            </a:r>
            <a:endParaRPr lang="en-US" sz="1800" dirty="0"/>
          </a:p>
          <a:p>
            <a:pPr algn="ctr" indent="0" marL="0">
              <a:buNone/>
            </a:pPr>
            <a:r>
              <a:rPr lang="en-US" sz="1800" dirty="0">
                <a:solidFill>
                  <a:srgbClr val="155724"/>
                </a:solidFill>
              </a:rPr>
              <a:t>not on price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4000" b="1" dirty="0">
                <a:solidFill>
                  <a:srgbClr val="FFFFFF"/>
                </a:solidFill>
              </a:rPr>
              <a:t>The Category Shift</a:t>
            </a:r>
            <a:endParaRPr lang="en-US" sz="4000" dirty="0"/>
          </a:p>
        </p:txBody>
      </p:sp>
      <p:sp>
        <p:nvSpPr>
          <p:cNvPr id="4" name="Shape 2"/>
          <p:cNvSpPr/>
          <p:nvPr/>
        </p:nvSpPr>
        <p:spPr>
          <a:xfrm>
            <a:off x="914400" y="2194560"/>
            <a:ext cx="8046720" cy="5486400"/>
          </a:xfrm>
          <a:prstGeom prst="rect">
            <a:avLst/>
          </a:prstGeom>
          <a:solidFill>
            <a:srgbClr val="FFEBEE"/>
          </a:solidFill>
          <a:ln w="76200">
            <a:solidFill>
              <a:srgbClr val="DC3545"/>
            </a:solidFill>
            <a:prstDash val="solid"/>
          </a:ln>
        </p:spPr>
      </p:sp>
      <p:sp>
        <p:nvSpPr>
          <p:cNvPr id="5" name="Text 3"/>
          <p:cNvSpPr/>
          <p:nvPr/>
        </p:nvSpPr>
        <p:spPr>
          <a:xfrm>
            <a:off x="1280160" y="2468880"/>
            <a:ext cx="7315200" cy="640080"/>
          </a:xfrm>
          <a:prstGeom prst="rect">
            <a:avLst/>
          </a:prstGeom>
          <a:noFill/>
          <a:ln/>
        </p:spPr>
        <p:txBody>
          <a:bodyPr wrap="square" rtlCol="0" anchor="ctr"/>
          <a:lstStyle/>
          <a:p>
            <a:pPr algn="ctr" indent="0" marL="0">
              <a:buNone/>
            </a:pPr>
            <a:r>
              <a:rPr lang="en-US" sz="2600" b="1" dirty="0">
                <a:solidFill>
                  <a:srgbClr val="DC3545"/>
                </a:solidFill>
              </a:rPr>
              <a:t>Chinese Farmed</a:t>
            </a:r>
            <a:endParaRPr lang="en-US" sz="2600" dirty="0"/>
          </a:p>
        </p:txBody>
      </p:sp>
      <p:sp>
        <p:nvSpPr>
          <p:cNvPr id="6" name="Shape 4"/>
          <p:cNvSpPr/>
          <p:nvPr/>
        </p:nvSpPr>
        <p:spPr>
          <a:xfrm>
            <a:off x="1828800" y="3383280"/>
            <a:ext cx="6217920" cy="914400"/>
          </a:xfrm>
          <a:prstGeom prst="rect">
            <a:avLst/>
          </a:prstGeom>
          <a:solidFill>
            <a:srgbClr val="FFFFFF"/>
          </a:solidFill>
          <a:ln/>
        </p:spPr>
      </p:sp>
      <p:sp>
        <p:nvSpPr>
          <p:cNvPr id="7" name="Text 5"/>
          <p:cNvSpPr/>
          <p:nvPr/>
        </p:nvSpPr>
        <p:spPr>
          <a:xfrm>
            <a:off x="1828800" y="3566160"/>
            <a:ext cx="6217920" cy="548640"/>
          </a:xfrm>
          <a:prstGeom prst="rect">
            <a:avLst/>
          </a:prstGeom>
          <a:noFill/>
          <a:ln/>
        </p:spPr>
        <p:txBody>
          <a:bodyPr wrap="square" rtlCol="0" anchor="ctr"/>
          <a:lstStyle/>
          <a:p>
            <a:pPr algn="ctr" indent="0" marL="0">
              <a:buNone/>
            </a:pPr>
            <a:r>
              <a:rPr lang="en-US" sz="2400" b="1" dirty="0">
                <a:solidFill>
                  <a:srgbClr val="1A1A1A"/>
                </a:solidFill>
              </a:rPr>
              <a:t>Basic Protein Food</a:t>
            </a:r>
            <a:endParaRPr lang="en-US" sz="2400" dirty="0"/>
          </a:p>
        </p:txBody>
      </p:sp>
      <p:sp>
        <p:nvSpPr>
          <p:cNvPr id="8" name="Text 6"/>
          <p:cNvSpPr/>
          <p:nvPr/>
        </p:nvSpPr>
        <p:spPr>
          <a:xfrm>
            <a:off x="1645920" y="4663440"/>
            <a:ext cx="6583680" cy="2560320"/>
          </a:xfrm>
          <a:prstGeom prst="rect">
            <a:avLst/>
          </a:prstGeom>
          <a:noFill/>
          <a:ln/>
        </p:spPr>
        <p:txBody>
          <a:bodyPr wrap="square" rtlCol="0" anchor="ctr"/>
          <a:lstStyle/>
          <a:p>
            <a:pPr indent="0" marL="0">
              <a:lnSpc>
                <a:spcPts val="2800"/>
              </a:lnSpc>
              <a:buNone/>
            </a:pPr>
            <a:r>
              <a:rPr lang="en-US" sz="2000" dirty="0">
                <a:solidFill>
                  <a:srgbClr val="DC3545"/>
                </a:solidFill>
              </a:rPr>
              <a:t>✗ Hormones</a:t>
            </a:r>
            <a:endParaRPr lang="en-US" sz="2000" dirty="0"/>
          </a:p>
          <a:p>
            <a:pPr indent="0" marL="0">
              <a:lnSpc>
                <a:spcPts val="2800"/>
              </a:lnSpc>
              <a:buNone/>
            </a:pPr>
            <a:r>
              <a:rPr lang="en-US" sz="2000" dirty="0">
                <a:solidFill>
                  <a:srgbClr val="DC3545"/>
                </a:solidFill>
              </a:rPr>
              <a:t>✗ Pellet-fed</a:t>
            </a:r>
            <a:endParaRPr lang="en-US" sz="2000" dirty="0"/>
          </a:p>
          <a:p>
            <a:pPr indent="0" marL="0">
              <a:lnSpc>
                <a:spcPts val="2800"/>
              </a:lnSpc>
              <a:buNone/>
            </a:pPr>
            <a:r>
              <a:rPr lang="en-US" sz="2000" dirty="0">
                <a:solidFill>
                  <a:srgbClr val="DC3545"/>
                </a:solidFill>
              </a:rPr>
              <a:t>✗ Commodity</a:t>
            </a:r>
            <a:endParaRPr lang="en-US" sz="2000" dirty="0"/>
          </a:p>
          <a:p>
            <a:pPr indent="0" marL="0">
              <a:lnSpc>
                <a:spcPts val="2800"/>
              </a:lnSpc>
              <a:buNone/>
            </a:pPr>
            <a:r>
              <a:rPr lang="en-US" sz="2000" dirty="0">
                <a:solidFill>
                  <a:srgbClr val="DC3545"/>
                </a:solidFill>
              </a:rPr>
              <a:t>✗ Price-driven</a:t>
            </a:r>
            <a:endParaRPr lang="en-US" sz="2000" dirty="0"/>
          </a:p>
        </p:txBody>
      </p:sp>
      <p:sp>
        <p:nvSpPr>
          <p:cNvPr id="9" name="Shape 7"/>
          <p:cNvSpPr/>
          <p:nvPr/>
        </p:nvSpPr>
        <p:spPr>
          <a:xfrm>
            <a:off x="9326880" y="2194560"/>
            <a:ext cx="8046720" cy="5486400"/>
          </a:xfrm>
          <a:prstGeom prst="rect">
            <a:avLst/>
          </a:prstGeom>
          <a:solidFill>
            <a:srgbClr val="E8F5E9"/>
          </a:solidFill>
          <a:ln w="76200">
            <a:solidFill>
              <a:srgbClr val="28A745"/>
            </a:solidFill>
            <a:prstDash val="solid"/>
          </a:ln>
        </p:spPr>
      </p:sp>
      <p:sp>
        <p:nvSpPr>
          <p:cNvPr id="10" name="Text 8"/>
          <p:cNvSpPr/>
          <p:nvPr/>
        </p:nvSpPr>
        <p:spPr>
          <a:xfrm>
            <a:off x="9692640" y="2468880"/>
            <a:ext cx="7315200" cy="640080"/>
          </a:xfrm>
          <a:prstGeom prst="rect">
            <a:avLst/>
          </a:prstGeom>
          <a:noFill/>
          <a:ln/>
        </p:spPr>
        <p:txBody>
          <a:bodyPr wrap="square" rtlCol="0" anchor="ctr"/>
          <a:lstStyle/>
          <a:p>
            <a:pPr algn="ctr" indent="0" marL="0">
              <a:buNone/>
            </a:pPr>
            <a:r>
              <a:rPr lang="en-US" sz="2600" b="1" dirty="0">
                <a:solidFill>
                  <a:srgbClr val="28A745"/>
                </a:solidFill>
              </a:rPr>
              <a:t>Wild EX1191</a:t>
            </a:r>
            <a:endParaRPr lang="en-US" sz="2600" dirty="0"/>
          </a:p>
        </p:txBody>
      </p:sp>
      <p:sp>
        <p:nvSpPr>
          <p:cNvPr id="11" name="Shape 9"/>
          <p:cNvSpPr/>
          <p:nvPr/>
        </p:nvSpPr>
        <p:spPr>
          <a:xfrm>
            <a:off x="10241280" y="3383280"/>
            <a:ext cx="6217920" cy="914400"/>
          </a:xfrm>
          <a:prstGeom prst="rect">
            <a:avLst/>
          </a:prstGeom>
          <a:solidFill>
            <a:srgbClr val="FFFFFF"/>
          </a:solidFill>
          <a:ln/>
        </p:spPr>
      </p:sp>
      <p:sp>
        <p:nvSpPr>
          <p:cNvPr id="12" name="Text 10"/>
          <p:cNvSpPr/>
          <p:nvPr/>
        </p:nvSpPr>
        <p:spPr>
          <a:xfrm>
            <a:off x="10241280" y="3566160"/>
            <a:ext cx="6217920" cy="548640"/>
          </a:xfrm>
          <a:prstGeom prst="rect">
            <a:avLst/>
          </a:prstGeom>
          <a:noFill/>
          <a:ln/>
        </p:spPr>
        <p:txBody>
          <a:bodyPr wrap="square" rtlCol="0" anchor="ctr"/>
          <a:lstStyle/>
          <a:p>
            <a:pPr algn="ctr" indent="0" marL="0">
              <a:buNone/>
            </a:pPr>
            <a:r>
              <a:rPr lang="en-US" sz="2400" b="1" dirty="0">
                <a:solidFill>
                  <a:srgbClr val="1A1A1A"/>
                </a:solidFill>
              </a:rPr>
              <a:t>Beauty Supplement</a:t>
            </a:r>
            <a:endParaRPr lang="en-US" sz="2400" dirty="0"/>
          </a:p>
        </p:txBody>
      </p:sp>
      <p:sp>
        <p:nvSpPr>
          <p:cNvPr id="13" name="Text 11"/>
          <p:cNvSpPr/>
          <p:nvPr/>
        </p:nvSpPr>
        <p:spPr>
          <a:xfrm>
            <a:off x="10058400" y="4663440"/>
            <a:ext cx="6583680" cy="2560320"/>
          </a:xfrm>
          <a:prstGeom prst="rect">
            <a:avLst/>
          </a:prstGeom>
          <a:noFill/>
          <a:ln/>
        </p:spPr>
        <p:txBody>
          <a:bodyPr wrap="square" rtlCol="0" anchor="ctr"/>
          <a:lstStyle/>
          <a:p>
            <a:pPr indent="0" marL="0">
              <a:lnSpc>
                <a:spcPts val="2800"/>
              </a:lnSpc>
              <a:buNone/>
            </a:pPr>
            <a:r>
              <a:rPr lang="en-US" sz="2000" dirty="0">
                <a:solidFill>
                  <a:srgbClr val="28A745"/>
                </a:solidFill>
              </a:rPr>
              <a:t>✓ Hormone-free</a:t>
            </a:r>
            <a:endParaRPr lang="en-US" sz="2000" dirty="0"/>
          </a:p>
          <a:p>
            <a:pPr indent="0" marL="0">
              <a:lnSpc>
                <a:spcPts val="2800"/>
              </a:lnSpc>
              <a:buNone/>
            </a:pPr>
            <a:r>
              <a:rPr lang="en-US" sz="2000" dirty="0">
                <a:solidFill>
                  <a:srgbClr val="28A745"/>
                </a:solidFill>
              </a:rPr>
              <a:t>✓ Wild algae diet</a:t>
            </a:r>
            <a:endParaRPr lang="en-US" sz="2000" dirty="0"/>
          </a:p>
          <a:p>
            <a:pPr indent="0" marL="0">
              <a:lnSpc>
                <a:spcPts val="2800"/>
              </a:lnSpc>
              <a:buNone/>
            </a:pPr>
            <a:r>
              <a:rPr lang="en-US" sz="2000" dirty="0">
                <a:solidFill>
                  <a:srgbClr val="28A745"/>
                </a:solidFill>
              </a:rPr>
              <a:t>✓ Beauty compounds</a:t>
            </a:r>
            <a:endParaRPr lang="en-US" sz="2000" dirty="0"/>
          </a:p>
          <a:p>
            <a:pPr indent="0" marL="0">
              <a:lnSpc>
                <a:spcPts val="2800"/>
              </a:lnSpc>
              <a:buNone/>
            </a:pPr>
            <a:r>
              <a:rPr lang="en-US" sz="2000" dirty="0">
                <a:solidFill>
                  <a:srgbClr val="28A745"/>
                </a:solidFill>
              </a:rPr>
              <a:t>✓ Benefit-driven</a:t>
            </a:r>
            <a:endParaRPr lang="en-US" sz="2000" dirty="0"/>
          </a:p>
        </p:txBody>
      </p:sp>
      <p:sp>
        <p:nvSpPr>
          <p:cNvPr id="14" name="Shape 12"/>
          <p:cNvSpPr/>
          <p:nvPr/>
        </p:nvSpPr>
        <p:spPr>
          <a:xfrm>
            <a:off x="2743200" y="8229600"/>
            <a:ext cx="12801600" cy="1097280"/>
          </a:xfrm>
          <a:prstGeom prst="rect">
            <a:avLst/>
          </a:prstGeom>
          <a:solidFill>
            <a:srgbClr val="003366"/>
          </a:solidFill>
          <a:ln/>
        </p:spPr>
      </p:sp>
      <p:sp>
        <p:nvSpPr>
          <p:cNvPr id="15" name="Text 13"/>
          <p:cNvSpPr/>
          <p:nvPr/>
        </p:nvSpPr>
        <p:spPr>
          <a:xfrm>
            <a:off x="2743200" y="8321040"/>
            <a:ext cx="12801600" cy="914400"/>
          </a:xfrm>
          <a:prstGeom prst="rect">
            <a:avLst/>
          </a:prstGeom>
          <a:noFill/>
          <a:ln/>
        </p:spPr>
        <p:txBody>
          <a:bodyPr wrap="square" rtlCol="0" anchor="ctr"/>
          <a:lstStyle/>
          <a:p>
            <a:pPr algn="ctr" indent="0" marL="0">
              <a:buNone/>
            </a:pPr>
            <a:r>
              <a:rPr lang="en-US" sz="2600" b="1" dirty="0">
                <a:solidFill>
                  <a:srgbClr val="D4AF37"/>
                </a:solidFill>
              </a:rPr>
              <a:t>Stop competing on PRICE. Start competing on PURPOSE.</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The Science: Hormone-Free Advantage</a:t>
            </a:r>
            <a:endParaRPr lang="en-US" sz="3800" dirty="0"/>
          </a:p>
        </p:txBody>
      </p:sp>
      <p:sp>
        <p:nvSpPr>
          <p:cNvPr id="4" name="Shape 2"/>
          <p:cNvSpPr/>
          <p:nvPr/>
        </p:nvSpPr>
        <p:spPr>
          <a:xfrm>
            <a:off x="914400" y="2194560"/>
            <a:ext cx="8046720" cy="4572000"/>
          </a:xfrm>
          <a:prstGeom prst="rect">
            <a:avLst/>
          </a:prstGeom>
          <a:solidFill>
            <a:srgbClr val="E8F5E9"/>
          </a:solidFill>
          <a:ln w="76200">
            <a:solidFill>
              <a:srgbClr val="28A745"/>
            </a:solidFill>
            <a:prstDash val="solid"/>
          </a:ln>
        </p:spPr>
      </p:sp>
      <p:sp>
        <p:nvSpPr>
          <p:cNvPr id="5" name="Text 3"/>
          <p:cNvSpPr/>
          <p:nvPr/>
        </p:nvSpPr>
        <p:spPr>
          <a:xfrm>
            <a:off x="1280160" y="2468880"/>
            <a:ext cx="7315200" cy="548640"/>
          </a:xfrm>
          <a:prstGeom prst="rect">
            <a:avLst/>
          </a:prstGeom>
          <a:noFill/>
          <a:ln/>
        </p:spPr>
        <p:txBody>
          <a:bodyPr wrap="square" rtlCol="0" anchor="ctr"/>
          <a:lstStyle/>
          <a:p>
            <a:pPr algn="ctr" indent="0" marL="0">
              <a:buNone/>
            </a:pPr>
            <a:r>
              <a:rPr lang="en-US" sz="2800" b="1" dirty="0">
                <a:solidFill>
                  <a:srgbClr val="28A745"/>
                </a:solidFill>
              </a:rPr>
              <a:t>Wild EX1191</a:t>
            </a:r>
            <a:endParaRPr lang="en-US" sz="2800" dirty="0"/>
          </a:p>
        </p:txBody>
      </p:sp>
      <p:sp>
        <p:nvSpPr>
          <p:cNvPr id="6" name="Text 4"/>
          <p:cNvSpPr/>
          <p:nvPr/>
        </p:nvSpPr>
        <p:spPr>
          <a:xfrm>
            <a:off x="2743200" y="3383280"/>
            <a:ext cx="4389120" cy="1463040"/>
          </a:xfrm>
          <a:prstGeom prst="rect">
            <a:avLst/>
          </a:prstGeom>
          <a:noFill/>
          <a:ln/>
        </p:spPr>
        <p:txBody>
          <a:bodyPr wrap="square" rtlCol="0" anchor="ctr"/>
          <a:lstStyle/>
          <a:p>
            <a:pPr algn="ctr" indent="0" marL="0">
              <a:buNone/>
            </a:pPr>
            <a:r>
              <a:rPr lang="en-US" sz="9600" b="1" dirty="0">
                <a:solidFill>
                  <a:srgbClr val="28A745"/>
                </a:solidFill>
              </a:rPr>
              <a:t>✓</a:t>
            </a:r>
            <a:endParaRPr lang="en-US" sz="9600" dirty="0"/>
          </a:p>
        </p:txBody>
      </p:sp>
      <p:sp>
        <p:nvSpPr>
          <p:cNvPr id="7" name="Text 5"/>
          <p:cNvSpPr/>
          <p:nvPr/>
        </p:nvSpPr>
        <p:spPr>
          <a:xfrm>
            <a:off x="1645920" y="5029200"/>
            <a:ext cx="6583680" cy="1280160"/>
          </a:xfrm>
          <a:prstGeom prst="rect">
            <a:avLst/>
          </a:prstGeom>
          <a:noFill/>
          <a:ln/>
        </p:spPr>
        <p:txBody>
          <a:bodyPr wrap="square" rtlCol="0" anchor="ctr"/>
          <a:lstStyle/>
          <a:p>
            <a:pPr algn="ctr" indent="0" marL="0">
              <a:buNone/>
            </a:pPr>
            <a:r>
              <a:rPr lang="en-US" sz="2400" b="1" dirty="0">
                <a:solidFill>
                  <a:srgbClr val="28A745"/>
                </a:solidFill>
              </a:rPr>
              <a:t>ZERO</a:t>
            </a:r>
            <a:endParaRPr lang="en-US" sz="2400" dirty="0"/>
          </a:p>
          <a:p>
            <a:pPr algn="ctr" indent="0" marL="0">
              <a:buNone/>
            </a:pPr>
            <a:r>
              <a:rPr lang="en-US" sz="2400" b="1" dirty="0">
                <a:solidFill>
                  <a:srgbClr val="28A745"/>
                </a:solidFill>
              </a:rPr>
              <a:t>Growth Hormones</a:t>
            </a:r>
            <a:endParaRPr lang="en-US" sz="2400" dirty="0"/>
          </a:p>
        </p:txBody>
      </p:sp>
      <p:sp>
        <p:nvSpPr>
          <p:cNvPr id="8" name="Shape 6"/>
          <p:cNvSpPr/>
          <p:nvPr/>
        </p:nvSpPr>
        <p:spPr>
          <a:xfrm>
            <a:off x="9326880" y="2194560"/>
            <a:ext cx="8046720" cy="4572000"/>
          </a:xfrm>
          <a:prstGeom prst="rect">
            <a:avLst/>
          </a:prstGeom>
          <a:solidFill>
            <a:srgbClr val="FFEBEE"/>
          </a:solidFill>
          <a:ln w="76200">
            <a:solidFill>
              <a:srgbClr val="DC3545"/>
            </a:solidFill>
            <a:prstDash val="solid"/>
          </a:ln>
        </p:spPr>
      </p:sp>
      <p:sp>
        <p:nvSpPr>
          <p:cNvPr id="9" name="Text 7"/>
          <p:cNvSpPr/>
          <p:nvPr/>
        </p:nvSpPr>
        <p:spPr>
          <a:xfrm>
            <a:off x="9692640" y="2468880"/>
            <a:ext cx="7315200" cy="548640"/>
          </a:xfrm>
          <a:prstGeom prst="rect">
            <a:avLst/>
          </a:prstGeom>
          <a:noFill/>
          <a:ln/>
        </p:spPr>
        <p:txBody>
          <a:bodyPr wrap="square" rtlCol="0" anchor="ctr"/>
          <a:lstStyle/>
          <a:p>
            <a:pPr algn="ctr" indent="0" marL="0">
              <a:buNone/>
            </a:pPr>
            <a:r>
              <a:rPr lang="en-US" sz="2800" b="1" dirty="0">
                <a:solidFill>
                  <a:srgbClr val="DC3545"/>
                </a:solidFill>
              </a:rPr>
              <a:t>Chinese Farmed</a:t>
            </a:r>
            <a:endParaRPr lang="en-US" sz="2800" dirty="0"/>
          </a:p>
        </p:txBody>
      </p:sp>
      <p:sp>
        <p:nvSpPr>
          <p:cNvPr id="10" name="Text 8"/>
          <p:cNvSpPr/>
          <p:nvPr/>
        </p:nvSpPr>
        <p:spPr>
          <a:xfrm>
            <a:off x="11155680" y="3383280"/>
            <a:ext cx="4389120" cy="1463040"/>
          </a:xfrm>
          <a:prstGeom prst="rect">
            <a:avLst/>
          </a:prstGeom>
          <a:noFill/>
          <a:ln/>
        </p:spPr>
        <p:txBody>
          <a:bodyPr wrap="square" rtlCol="0" anchor="ctr"/>
          <a:lstStyle/>
          <a:p>
            <a:pPr algn="ctr" indent="0" marL="0">
              <a:buNone/>
            </a:pPr>
            <a:r>
              <a:rPr lang="en-US" sz="9600" b="1" dirty="0">
                <a:solidFill>
                  <a:srgbClr val="DC3545"/>
                </a:solidFill>
              </a:rPr>
              <a:t>✗</a:t>
            </a:r>
            <a:endParaRPr lang="en-US" sz="9600" dirty="0"/>
          </a:p>
        </p:txBody>
      </p:sp>
      <p:sp>
        <p:nvSpPr>
          <p:cNvPr id="11" name="Text 9"/>
          <p:cNvSpPr/>
          <p:nvPr/>
        </p:nvSpPr>
        <p:spPr>
          <a:xfrm>
            <a:off x="10058400" y="5029200"/>
            <a:ext cx="6583680" cy="1280160"/>
          </a:xfrm>
          <a:prstGeom prst="rect">
            <a:avLst/>
          </a:prstGeom>
          <a:noFill/>
          <a:ln/>
        </p:spPr>
        <p:txBody>
          <a:bodyPr wrap="square" rtlCol="0" anchor="ctr"/>
          <a:lstStyle/>
          <a:p>
            <a:pPr algn="ctr" indent="0" marL="0">
              <a:buNone/>
            </a:pPr>
            <a:r>
              <a:rPr lang="en-US" sz="2400" b="1" dirty="0">
                <a:solidFill>
                  <a:srgbClr val="DC3545"/>
                </a:solidFill>
              </a:rPr>
              <a:t>Industry-Standard</a:t>
            </a:r>
            <a:endParaRPr lang="en-US" sz="2400" dirty="0"/>
          </a:p>
          <a:p>
            <a:pPr algn="ctr" indent="0" marL="0">
              <a:buNone/>
            </a:pPr>
            <a:r>
              <a:rPr lang="en-US" sz="2400" b="1" dirty="0">
                <a:solidFill>
                  <a:srgbClr val="DC3545"/>
                </a:solidFill>
              </a:rPr>
              <a:t>Hormone Use</a:t>
            </a:r>
            <a:endParaRPr lang="en-US" sz="2400" dirty="0"/>
          </a:p>
        </p:txBody>
      </p:sp>
      <p:sp>
        <p:nvSpPr>
          <p:cNvPr id="12" name="Shape 10"/>
          <p:cNvSpPr/>
          <p:nvPr/>
        </p:nvSpPr>
        <p:spPr>
          <a:xfrm>
            <a:off x="2743200" y="7315200"/>
            <a:ext cx="12801600" cy="1463040"/>
          </a:xfrm>
          <a:prstGeom prst="rect">
            <a:avLst/>
          </a:prstGeom>
          <a:solidFill>
            <a:srgbClr val="D4AF37"/>
          </a:solidFill>
          <a:ln/>
        </p:spPr>
      </p:sp>
      <p:sp>
        <p:nvSpPr>
          <p:cNvPr id="13" name="Text 11"/>
          <p:cNvSpPr/>
          <p:nvPr/>
        </p:nvSpPr>
        <p:spPr>
          <a:xfrm>
            <a:off x="2743200" y="7498080"/>
            <a:ext cx="12801600" cy="1097280"/>
          </a:xfrm>
          <a:prstGeom prst="rect">
            <a:avLst/>
          </a:prstGeom>
          <a:noFill/>
          <a:ln/>
        </p:spPr>
        <p:txBody>
          <a:bodyPr wrap="square" rtlCol="0" anchor="ctr"/>
          <a:lstStyle/>
          <a:p>
            <a:pPr algn="ctr" indent="0" marL="0">
              <a:buNone/>
            </a:pPr>
            <a:r>
              <a:rPr lang="en-US" sz="2600" b="1" dirty="0">
                <a:solidFill>
                  <a:srgbClr val="FFFFFF"/>
                </a:solidFill>
              </a:rPr>
              <a:t>Consumer Question:</a:t>
            </a:r>
            <a:endParaRPr lang="en-US" sz="2600" dirty="0"/>
          </a:p>
          <a:p>
            <a:pPr algn="ctr" indent="0" marL="0">
              <a:buNone/>
            </a:pPr>
            <a:r>
              <a:rPr lang="en-US" sz="2600" b="1" dirty="0">
                <a:solidFill>
                  <a:srgbClr val="FFFFFF"/>
                </a:solidFill>
              </a:rPr>
              <a:t>"Would you put hormones on your face?"</a:t>
            </a:r>
            <a:endParaRPr lang="en-US" sz="2600" dirty="0"/>
          </a:p>
        </p:txBody>
      </p:sp>
      <p:sp>
        <p:nvSpPr>
          <p:cNvPr id="14" name="Text 12"/>
          <p:cNvSpPr/>
          <p:nvPr/>
        </p:nvSpPr>
        <p:spPr>
          <a:xfrm>
            <a:off x="1828800" y="9144000"/>
            <a:ext cx="14630400" cy="548640"/>
          </a:xfrm>
          <a:prstGeom prst="rect">
            <a:avLst/>
          </a:prstGeom>
          <a:noFill/>
          <a:ln/>
        </p:spPr>
        <p:txBody>
          <a:bodyPr wrap="square" rtlCol="0" anchor="ctr"/>
          <a:lstStyle/>
          <a:p>
            <a:pPr algn="ctr" indent="0" marL="0">
              <a:buNone/>
            </a:pPr>
            <a:r>
              <a:rPr lang="en-US" sz="1800" i="1" dirty="0">
                <a:solidFill>
                  <a:srgbClr val="003366"/>
                </a:solidFill>
              </a:rPr>
              <a:t>Lab Test: Simple binary hormone panel = Clear YES/NO result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The Science: Beauty Compounds Comparison</a:t>
            </a:r>
            <a:endParaRPr lang="en-US" sz="3800" dirty="0"/>
          </a:p>
        </p:txBody>
      </p:sp>
      <p:sp>
        <p:nvSpPr>
          <p:cNvPr id="4" name="Shape 2"/>
          <p:cNvSpPr/>
          <p:nvPr/>
        </p:nvSpPr>
        <p:spPr>
          <a:xfrm>
            <a:off x="914400" y="2194560"/>
            <a:ext cx="16459200" cy="1188720"/>
          </a:xfrm>
          <a:prstGeom prst="rect">
            <a:avLst/>
          </a:prstGeom>
          <a:solidFill>
            <a:srgbClr val="003366"/>
          </a:solidFill>
          <a:ln/>
        </p:spPr>
      </p:sp>
      <p:sp>
        <p:nvSpPr>
          <p:cNvPr id="5" name="Text 3"/>
          <p:cNvSpPr/>
          <p:nvPr/>
        </p:nvSpPr>
        <p:spPr>
          <a:xfrm>
            <a:off x="1097280" y="2468880"/>
            <a:ext cx="4572000" cy="640080"/>
          </a:xfrm>
          <a:prstGeom prst="rect">
            <a:avLst/>
          </a:prstGeom>
          <a:noFill/>
          <a:ln/>
        </p:spPr>
        <p:txBody>
          <a:bodyPr wrap="square" rtlCol="0" anchor="ctr"/>
          <a:lstStyle/>
          <a:p>
            <a:pPr indent="0" marL="0">
              <a:buNone/>
            </a:pPr>
            <a:r>
              <a:rPr lang="en-US" sz="1800" b="1" dirty="0">
                <a:solidFill>
                  <a:srgbClr val="FFFFFF"/>
                </a:solidFill>
              </a:rPr>
              <a:t>Compound</a:t>
            </a:r>
            <a:endParaRPr lang="en-US" sz="1800" dirty="0"/>
          </a:p>
        </p:txBody>
      </p:sp>
      <p:sp>
        <p:nvSpPr>
          <p:cNvPr id="6" name="Text 4"/>
          <p:cNvSpPr/>
          <p:nvPr/>
        </p:nvSpPr>
        <p:spPr>
          <a:xfrm>
            <a:off x="5852160" y="2468880"/>
            <a:ext cx="3657600" cy="640080"/>
          </a:xfrm>
          <a:prstGeom prst="rect">
            <a:avLst/>
          </a:prstGeom>
          <a:noFill/>
          <a:ln/>
        </p:spPr>
        <p:txBody>
          <a:bodyPr wrap="square" rtlCol="0" anchor="ctr"/>
          <a:lstStyle/>
          <a:p>
            <a:pPr algn="ctr" indent="0" marL="0">
              <a:buNone/>
            </a:pPr>
            <a:r>
              <a:rPr lang="en-US" sz="1800" b="1" dirty="0">
                <a:solidFill>
                  <a:srgbClr val="FFFFFF"/>
                </a:solidFill>
              </a:rPr>
              <a:t>Wild EX1191</a:t>
            </a:r>
            <a:endParaRPr lang="en-US" sz="1800" dirty="0"/>
          </a:p>
        </p:txBody>
      </p:sp>
      <p:sp>
        <p:nvSpPr>
          <p:cNvPr id="7" name="Text 5"/>
          <p:cNvSpPr/>
          <p:nvPr/>
        </p:nvSpPr>
        <p:spPr>
          <a:xfrm>
            <a:off x="9692640" y="2468880"/>
            <a:ext cx="3657600" cy="640080"/>
          </a:xfrm>
          <a:prstGeom prst="rect">
            <a:avLst/>
          </a:prstGeom>
          <a:noFill/>
          <a:ln/>
        </p:spPr>
        <p:txBody>
          <a:bodyPr wrap="square" rtlCol="0" anchor="ctr"/>
          <a:lstStyle/>
          <a:p>
            <a:pPr algn="ctr" indent="0" marL="0">
              <a:buNone/>
            </a:pPr>
            <a:r>
              <a:rPr lang="en-US" sz="1800" b="1" dirty="0">
                <a:solidFill>
                  <a:srgbClr val="FFFFFF"/>
                </a:solidFill>
              </a:rPr>
              <a:t>Chinese Farmed</a:t>
            </a:r>
            <a:endParaRPr lang="en-US" sz="1800" dirty="0"/>
          </a:p>
        </p:txBody>
      </p:sp>
      <p:sp>
        <p:nvSpPr>
          <p:cNvPr id="8" name="Text 6"/>
          <p:cNvSpPr/>
          <p:nvPr/>
        </p:nvSpPr>
        <p:spPr>
          <a:xfrm>
            <a:off x="13533120" y="2468880"/>
            <a:ext cx="3657600" cy="640080"/>
          </a:xfrm>
          <a:prstGeom prst="rect">
            <a:avLst/>
          </a:prstGeom>
          <a:noFill/>
          <a:ln/>
        </p:spPr>
        <p:txBody>
          <a:bodyPr wrap="square" rtlCol="0" anchor="ctr"/>
          <a:lstStyle/>
          <a:p>
            <a:pPr algn="ctr" indent="0" marL="0">
              <a:buNone/>
            </a:pPr>
            <a:r>
              <a:rPr lang="en-US" sz="1800" b="1" dirty="0">
                <a:solidFill>
                  <a:srgbClr val="FFFFFF"/>
                </a:solidFill>
              </a:rPr>
              <a:t>Beauty Benefit</a:t>
            </a:r>
            <a:endParaRPr lang="en-US" sz="1800" dirty="0"/>
          </a:p>
        </p:txBody>
      </p:sp>
      <p:sp>
        <p:nvSpPr>
          <p:cNvPr id="9" name="Shape 7"/>
          <p:cNvSpPr/>
          <p:nvPr/>
        </p:nvSpPr>
        <p:spPr>
          <a:xfrm>
            <a:off x="914400" y="3383280"/>
            <a:ext cx="16459200" cy="1188720"/>
          </a:xfrm>
          <a:prstGeom prst="rect">
            <a:avLst/>
          </a:prstGeom>
          <a:solidFill>
            <a:srgbClr val="FFFFFF"/>
          </a:solidFill>
          <a:ln w="12700">
            <a:solidFill>
              <a:srgbClr val="CCCCCC"/>
            </a:solidFill>
            <a:prstDash val="solid"/>
          </a:ln>
        </p:spPr>
      </p:sp>
      <p:sp>
        <p:nvSpPr>
          <p:cNvPr id="10" name="Text 8"/>
          <p:cNvSpPr/>
          <p:nvPr/>
        </p:nvSpPr>
        <p:spPr>
          <a:xfrm>
            <a:off x="1097280" y="3602736"/>
            <a:ext cx="4572000" cy="731520"/>
          </a:xfrm>
          <a:prstGeom prst="rect">
            <a:avLst/>
          </a:prstGeom>
          <a:noFill/>
          <a:ln/>
        </p:spPr>
        <p:txBody>
          <a:bodyPr wrap="square" rtlCol="0" anchor="ctr"/>
          <a:lstStyle/>
          <a:p>
            <a:pPr indent="0" marL="0">
              <a:buNone/>
            </a:pPr>
            <a:r>
              <a:rPr lang="en-US" sz="1600" dirty="0">
                <a:solidFill>
                  <a:srgbClr val="1A1A1A"/>
                </a:solidFill>
              </a:rPr>
              <a:t>400-600 Da Peptides</a:t>
            </a:r>
            <a:endParaRPr lang="en-US" sz="1600" dirty="0"/>
          </a:p>
        </p:txBody>
      </p:sp>
      <p:sp>
        <p:nvSpPr>
          <p:cNvPr id="11" name="Text 9"/>
          <p:cNvSpPr/>
          <p:nvPr/>
        </p:nvSpPr>
        <p:spPr>
          <a:xfrm>
            <a:off x="5852160" y="3602736"/>
            <a:ext cx="3657600" cy="731520"/>
          </a:xfrm>
          <a:prstGeom prst="rect">
            <a:avLst/>
          </a:prstGeom>
          <a:noFill/>
          <a:ln/>
        </p:spPr>
        <p:txBody>
          <a:bodyPr wrap="square" rtlCol="0" anchor="ctr"/>
          <a:lstStyle/>
          <a:p>
            <a:pPr algn="ctr" indent="0" marL="0">
              <a:buNone/>
            </a:pPr>
            <a:r>
              <a:rPr lang="en-US" sz="1600" b="1" dirty="0">
                <a:solidFill>
                  <a:srgbClr val="28A745"/>
                </a:solidFill>
              </a:rPr>
              <a:t>✓ HIGH</a:t>
            </a:r>
            <a:endParaRPr lang="en-US" sz="1600" dirty="0"/>
          </a:p>
        </p:txBody>
      </p:sp>
      <p:sp>
        <p:nvSpPr>
          <p:cNvPr id="12" name="Text 10"/>
          <p:cNvSpPr/>
          <p:nvPr/>
        </p:nvSpPr>
        <p:spPr>
          <a:xfrm>
            <a:off x="9692640" y="3602736"/>
            <a:ext cx="3657600" cy="731520"/>
          </a:xfrm>
          <a:prstGeom prst="rect">
            <a:avLst/>
          </a:prstGeom>
          <a:noFill/>
          <a:ln/>
        </p:spPr>
        <p:txBody>
          <a:bodyPr wrap="square" rtlCol="0" anchor="ctr"/>
          <a:lstStyle/>
          <a:p>
            <a:pPr algn="ctr" indent="0" marL="0">
              <a:buNone/>
            </a:pPr>
            <a:r>
              <a:rPr lang="en-US" sz="1600" b="1" dirty="0">
                <a:solidFill>
                  <a:srgbClr val="DC3545"/>
                </a:solidFill>
              </a:rPr>
              <a:t>✗ Low</a:t>
            </a:r>
            <a:endParaRPr lang="en-US" sz="1600" dirty="0"/>
          </a:p>
        </p:txBody>
      </p:sp>
      <p:sp>
        <p:nvSpPr>
          <p:cNvPr id="13" name="Text 11"/>
          <p:cNvSpPr/>
          <p:nvPr/>
        </p:nvSpPr>
        <p:spPr>
          <a:xfrm>
            <a:off x="13533120" y="3602736"/>
            <a:ext cx="3657600" cy="731520"/>
          </a:xfrm>
          <a:prstGeom prst="rect">
            <a:avLst/>
          </a:prstGeom>
          <a:noFill/>
          <a:ln/>
        </p:spPr>
        <p:txBody>
          <a:bodyPr wrap="square" rtlCol="0" anchor="ctr"/>
          <a:lstStyle/>
          <a:p>
            <a:pPr algn="ctr" indent="0" marL="0">
              <a:buNone/>
            </a:pPr>
            <a:r>
              <a:rPr lang="en-US" sz="1400" dirty="0">
                <a:solidFill>
                  <a:srgbClr val="1A1A1A"/>
                </a:solidFill>
              </a:rPr>
              <a:t>Optimal absorption</a:t>
            </a:r>
            <a:endParaRPr lang="en-US" sz="1400" dirty="0"/>
          </a:p>
        </p:txBody>
      </p:sp>
      <p:sp>
        <p:nvSpPr>
          <p:cNvPr id="14" name="Shape 12"/>
          <p:cNvSpPr/>
          <p:nvPr/>
        </p:nvSpPr>
        <p:spPr>
          <a:xfrm>
            <a:off x="914400" y="4572000"/>
            <a:ext cx="16459200" cy="1188720"/>
          </a:xfrm>
          <a:prstGeom prst="rect">
            <a:avLst/>
          </a:prstGeom>
          <a:solidFill>
            <a:srgbClr val="E8E8E8"/>
          </a:solidFill>
          <a:ln w="12700">
            <a:solidFill>
              <a:srgbClr val="CCCCCC"/>
            </a:solidFill>
            <a:prstDash val="solid"/>
          </a:ln>
        </p:spPr>
      </p:sp>
      <p:sp>
        <p:nvSpPr>
          <p:cNvPr id="15" name="Text 13"/>
          <p:cNvSpPr/>
          <p:nvPr/>
        </p:nvSpPr>
        <p:spPr>
          <a:xfrm>
            <a:off x="1097280" y="4791456"/>
            <a:ext cx="4572000" cy="731520"/>
          </a:xfrm>
          <a:prstGeom prst="rect">
            <a:avLst/>
          </a:prstGeom>
          <a:noFill/>
          <a:ln/>
        </p:spPr>
        <p:txBody>
          <a:bodyPr wrap="square" rtlCol="0" anchor="ctr"/>
          <a:lstStyle/>
          <a:p>
            <a:pPr indent="0" marL="0">
              <a:buNone/>
            </a:pPr>
            <a:r>
              <a:rPr lang="en-US" sz="1600" dirty="0">
                <a:solidFill>
                  <a:srgbClr val="1A1A1A"/>
                </a:solidFill>
              </a:rPr>
              <a:t>Tyrosinase Inhibitors</a:t>
            </a:r>
            <a:endParaRPr lang="en-US" sz="1600" dirty="0"/>
          </a:p>
        </p:txBody>
      </p:sp>
      <p:sp>
        <p:nvSpPr>
          <p:cNvPr id="16" name="Text 14"/>
          <p:cNvSpPr/>
          <p:nvPr/>
        </p:nvSpPr>
        <p:spPr>
          <a:xfrm>
            <a:off x="5852160" y="4791456"/>
            <a:ext cx="3657600" cy="731520"/>
          </a:xfrm>
          <a:prstGeom prst="rect">
            <a:avLst/>
          </a:prstGeom>
          <a:noFill/>
          <a:ln/>
        </p:spPr>
        <p:txBody>
          <a:bodyPr wrap="square" rtlCol="0" anchor="ctr"/>
          <a:lstStyle/>
          <a:p>
            <a:pPr algn="ctr" indent="0" marL="0">
              <a:buNone/>
            </a:pPr>
            <a:r>
              <a:rPr lang="en-US" sz="1600" b="1" dirty="0">
                <a:solidFill>
                  <a:srgbClr val="28A745"/>
                </a:solidFill>
              </a:rPr>
              <a:t>✓ Present</a:t>
            </a:r>
            <a:endParaRPr lang="en-US" sz="1600" dirty="0"/>
          </a:p>
        </p:txBody>
      </p:sp>
      <p:sp>
        <p:nvSpPr>
          <p:cNvPr id="17" name="Text 15"/>
          <p:cNvSpPr/>
          <p:nvPr/>
        </p:nvSpPr>
        <p:spPr>
          <a:xfrm>
            <a:off x="9692640" y="4791456"/>
            <a:ext cx="3657600" cy="731520"/>
          </a:xfrm>
          <a:prstGeom prst="rect">
            <a:avLst/>
          </a:prstGeom>
          <a:noFill/>
          <a:ln/>
        </p:spPr>
        <p:txBody>
          <a:bodyPr wrap="square" rtlCol="0" anchor="ctr"/>
          <a:lstStyle/>
          <a:p>
            <a:pPr algn="ctr" indent="0" marL="0">
              <a:buNone/>
            </a:pPr>
            <a:r>
              <a:rPr lang="en-US" sz="1600" b="1" dirty="0">
                <a:solidFill>
                  <a:srgbClr val="DC3545"/>
                </a:solidFill>
              </a:rPr>
              <a:t>✗ Minimal</a:t>
            </a:r>
            <a:endParaRPr lang="en-US" sz="1600" dirty="0"/>
          </a:p>
        </p:txBody>
      </p:sp>
      <p:sp>
        <p:nvSpPr>
          <p:cNvPr id="18" name="Text 16"/>
          <p:cNvSpPr/>
          <p:nvPr/>
        </p:nvSpPr>
        <p:spPr>
          <a:xfrm>
            <a:off x="13533120" y="4791456"/>
            <a:ext cx="3657600" cy="731520"/>
          </a:xfrm>
          <a:prstGeom prst="rect">
            <a:avLst/>
          </a:prstGeom>
          <a:noFill/>
          <a:ln/>
        </p:spPr>
        <p:txBody>
          <a:bodyPr wrap="square" rtlCol="0" anchor="ctr"/>
          <a:lstStyle/>
          <a:p>
            <a:pPr algn="ctr" indent="0" marL="0">
              <a:buNone/>
            </a:pPr>
            <a:r>
              <a:rPr lang="en-US" sz="1400" dirty="0">
                <a:solidFill>
                  <a:srgbClr val="1A1A1A"/>
                </a:solidFill>
              </a:rPr>
              <a:t>Skin brightening</a:t>
            </a:r>
            <a:endParaRPr lang="en-US" sz="1400" dirty="0"/>
          </a:p>
        </p:txBody>
      </p:sp>
      <p:sp>
        <p:nvSpPr>
          <p:cNvPr id="19" name="Shape 17"/>
          <p:cNvSpPr/>
          <p:nvPr/>
        </p:nvSpPr>
        <p:spPr>
          <a:xfrm>
            <a:off x="914400" y="5760720"/>
            <a:ext cx="16459200" cy="1188720"/>
          </a:xfrm>
          <a:prstGeom prst="rect">
            <a:avLst/>
          </a:prstGeom>
          <a:solidFill>
            <a:srgbClr val="FFFFFF"/>
          </a:solidFill>
          <a:ln w="12700">
            <a:solidFill>
              <a:srgbClr val="CCCCCC"/>
            </a:solidFill>
            <a:prstDash val="solid"/>
          </a:ln>
        </p:spPr>
      </p:sp>
      <p:sp>
        <p:nvSpPr>
          <p:cNvPr id="20" name="Text 18"/>
          <p:cNvSpPr/>
          <p:nvPr/>
        </p:nvSpPr>
        <p:spPr>
          <a:xfrm>
            <a:off x="1097280" y="5980176"/>
            <a:ext cx="4572000" cy="731520"/>
          </a:xfrm>
          <a:prstGeom prst="rect">
            <a:avLst/>
          </a:prstGeom>
          <a:noFill/>
          <a:ln/>
        </p:spPr>
        <p:txBody>
          <a:bodyPr wrap="square" rtlCol="0" anchor="ctr"/>
          <a:lstStyle/>
          <a:p>
            <a:pPr indent="0" marL="0">
              <a:buNone/>
            </a:pPr>
            <a:r>
              <a:rPr lang="en-US" sz="1600" dirty="0">
                <a:solidFill>
                  <a:srgbClr val="1A1A1A"/>
                </a:solidFill>
              </a:rPr>
              <a:t>MMP Inhibitors</a:t>
            </a:r>
            <a:endParaRPr lang="en-US" sz="1600" dirty="0"/>
          </a:p>
        </p:txBody>
      </p:sp>
      <p:sp>
        <p:nvSpPr>
          <p:cNvPr id="21" name="Text 19"/>
          <p:cNvSpPr/>
          <p:nvPr/>
        </p:nvSpPr>
        <p:spPr>
          <a:xfrm>
            <a:off x="5852160" y="5980176"/>
            <a:ext cx="3657600" cy="731520"/>
          </a:xfrm>
          <a:prstGeom prst="rect">
            <a:avLst/>
          </a:prstGeom>
          <a:noFill/>
          <a:ln/>
        </p:spPr>
        <p:txBody>
          <a:bodyPr wrap="square" rtlCol="0" anchor="ctr"/>
          <a:lstStyle/>
          <a:p>
            <a:pPr algn="ctr" indent="0" marL="0">
              <a:buNone/>
            </a:pPr>
            <a:r>
              <a:rPr lang="en-US" sz="1600" b="1" dirty="0">
                <a:solidFill>
                  <a:srgbClr val="28A745"/>
                </a:solidFill>
              </a:rPr>
              <a:t>✓ Strong</a:t>
            </a:r>
            <a:endParaRPr lang="en-US" sz="1600" dirty="0"/>
          </a:p>
        </p:txBody>
      </p:sp>
      <p:sp>
        <p:nvSpPr>
          <p:cNvPr id="22" name="Text 20"/>
          <p:cNvSpPr/>
          <p:nvPr/>
        </p:nvSpPr>
        <p:spPr>
          <a:xfrm>
            <a:off x="9692640" y="5980176"/>
            <a:ext cx="3657600" cy="731520"/>
          </a:xfrm>
          <a:prstGeom prst="rect">
            <a:avLst/>
          </a:prstGeom>
          <a:noFill/>
          <a:ln/>
        </p:spPr>
        <p:txBody>
          <a:bodyPr wrap="square" rtlCol="0" anchor="ctr"/>
          <a:lstStyle/>
          <a:p>
            <a:pPr algn="ctr" indent="0" marL="0">
              <a:buNone/>
            </a:pPr>
            <a:r>
              <a:rPr lang="en-US" sz="1600" b="1" dirty="0">
                <a:solidFill>
                  <a:srgbClr val="DC3545"/>
                </a:solidFill>
              </a:rPr>
              <a:t>✗ Weak</a:t>
            </a:r>
            <a:endParaRPr lang="en-US" sz="1600" dirty="0"/>
          </a:p>
        </p:txBody>
      </p:sp>
      <p:sp>
        <p:nvSpPr>
          <p:cNvPr id="23" name="Text 21"/>
          <p:cNvSpPr/>
          <p:nvPr/>
        </p:nvSpPr>
        <p:spPr>
          <a:xfrm>
            <a:off x="13533120" y="5980176"/>
            <a:ext cx="3657600" cy="731520"/>
          </a:xfrm>
          <a:prstGeom prst="rect">
            <a:avLst/>
          </a:prstGeom>
          <a:noFill/>
          <a:ln/>
        </p:spPr>
        <p:txBody>
          <a:bodyPr wrap="square" rtlCol="0" anchor="ctr"/>
          <a:lstStyle/>
          <a:p>
            <a:pPr algn="ctr" indent="0" marL="0">
              <a:buNone/>
            </a:pPr>
            <a:r>
              <a:rPr lang="en-US" sz="1400" dirty="0">
                <a:solidFill>
                  <a:srgbClr val="1A1A1A"/>
                </a:solidFill>
              </a:rPr>
              <a:t>Anti-wrinkle</a:t>
            </a:r>
            <a:endParaRPr lang="en-US" sz="1400" dirty="0"/>
          </a:p>
        </p:txBody>
      </p:sp>
      <p:sp>
        <p:nvSpPr>
          <p:cNvPr id="24" name="Shape 22"/>
          <p:cNvSpPr/>
          <p:nvPr/>
        </p:nvSpPr>
        <p:spPr>
          <a:xfrm>
            <a:off x="914400" y="6949440"/>
            <a:ext cx="16459200" cy="1188720"/>
          </a:xfrm>
          <a:prstGeom prst="rect">
            <a:avLst/>
          </a:prstGeom>
          <a:solidFill>
            <a:srgbClr val="E8E8E8"/>
          </a:solidFill>
          <a:ln w="12700">
            <a:solidFill>
              <a:srgbClr val="CCCCCC"/>
            </a:solidFill>
            <a:prstDash val="solid"/>
          </a:ln>
        </p:spPr>
      </p:sp>
      <p:sp>
        <p:nvSpPr>
          <p:cNvPr id="25" name="Text 23"/>
          <p:cNvSpPr/>
          <p:nvPr/>
        </p:nvSpPr>
        <p:spPr>
          <a:xfrm>
            <a:off x="1097280" y="7168896"/>
            <a:ext cx="4572000" cy="731520"/>
          </a:xfrm>
          <a:prstGeom prst="rect">
            <a:avLst/>
          </a:prstGeom>
          <a:noFill/>
          <a:ln/>
        </p:spPr>
        <p:txBody>
          <a:bodyPr wrap="square" rtlCol="0" anchor="ctr"/>
          <a:lstStyle/>
          <a:p>
            <a:pPr indent="0" marL="0">
              <a:buNone/>
            </a:pPr>
            <a:r>
              <a:rPr lang="en-US" sz="1600" dirty="0">
                <a:solidFill>
                  <a:srgbClr val="1A1A1A"/>
                </a:solidFill>
              </a:rPr>
              <a:t>Sulfated Polysaccharides</a:t>
            </a:r>
            <a:endParaRPr lang="en-US" sz="1600" dirty="0"/>
          </a:p>
        </p:txBody>
      </p:sp>
      <p:sp>
        <p:nvSpPr>
          <p:cNvPr id="26" name="Text 24"/>
          <p:cNvSpPr/>
          <p:nvPr/>
        </p:nvSpPr>
        <p:spPr>
          <a:xfrm>
            <a:off x="5852160" y="7168896"/>
            <a:ext cx="3657600" cy="731520"/>
          </a:xfrm>
          <a:prstGeom prst="rect">
            <a:avLst/>
          </a:prstGeom>
          <a:noFill/>
          <a:ln/>
        </p:spPr>
        <p:txBody>
          <a:bodyPr wrap="square" rtlCol="0" anchor="ctr"/>
          <a:lstStyle/>
          <a:p>
            <a:pPr algn="ctr" indent="0" marL="0">
              <a:buNone/>
            </a:pPr>
            <a:r>
              <a:rPr lang="en-US" sz="1600" b="1" dirty="0">
                <a:solidFill>
                  <a:srgbClr val="28A745"/>
                </a:solidFill>
              </a:rPr>
              <a:t>✓ High</a:t>
            </a:r>
            <a:endParaRPr lang="en-US" sz="1600" dirty="0"/>
          </a:p>
        </p:txBody>
      </p:sp>
      <p:sp>
        <p:nvSpPr>
          <p:cNvPr id="27" name="Text 25"/>
          <p:cNvSpPr/>
          <p:nvPr/>
        </p:nvSpPr>
        <p:spPr>
          <a:xfrm>
            <a:off x="9692640" y="7168896"/>
            <a:ext cx="3657600" cy="731520"/>
          </a:xfrm>
          <a:prstGeom prst="rect">
            <a:avLst/>
          </a:prstGeom>
          <a:noFill/>
          <a:ln/>
        </p:spPr>
        <p:txBody>
          <a:bodyPr wrap="square" rtlCol="0" anchor="ctr"/>
          <a:lstStyle/>
          <a:p>
            <a:pPr algn="ctr" indent="0" marL="0">
              <a:buNone/>
            </a:pPr>
            <a:r>
              <a:rPr lang="en-US" sz="1600" b="1" dirty="0">
                <a:solidFill>
                  <a:srgbClr val="DC3545"/>
                </a:solidFill>
              </a:rPr>
              <a:t>✗ None</a:t>
            </a:r>
            <a:endParaRPr lang="en-US" sz="1600" dirty="0"/>
          </a:p>
        </p:txBody>
      </p:sp>
      <p:sp>
        <p:nvSpPr>
          <p:cNvPr id="28" name="Text 26"/>
          <p:cNvSpPr/>
          <p:nvPr/>
        </p:nvSpPr>
        <p:spPr>
          <a:xfrm>
            <a:off x="13533120" y="7168896"/>
            <a:ext cx="3657600" cy="731520"/>
          </a:xfrm>
          <a:prstGeom prst="rect">
            <a:avLst/>
          </a:prstGeom>
          <a:noFill/>
          <a:ln/>
        </p:spPr>
        <p:txBody>
          <a:bodyPr wrap="square" rtlCol="0" anchor="ctr"/>
          <a:lstStyle/>
          <a:p>
            <a:pPr algn="ctr" indent="0" marL="0">
              <a:buNone/>
            </a:pPr>
            <a:r>
              <a:rPr lang="en-US" sz="1400" dirty="0">
                <a:solidFill>
                  <a:srgbClr val="1A1A1A"/>
                </a:solidFill>
              </a:rPr>
              <a:t>Anti-inflammatory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The Natural Bio-Accumulation Story</a:t>
            </a:r>
            <a:endParaRPr lang="en-US" sz="3800" dirty="0"/>
          </a:p>
        </p:txBody>
      </p:sp>
      <p:sp>
        <p:nvSpPr>
          <p:cNvPr id="4" name="Text 2"/>
          <p:cNvSpPr/>
          <p:nvPr/>
        </p:nvSpPr>
        <p:spPr>
          <a:xfrm>
            <a:off x="1280160" y="2194560"/>
            <a:ext cx="15727680" cy="548640"/>
          </a:xfrm>
          <a:prstGeom prst="rect">
            <a:avLst/>
          </a:prstGeom>
          <a:noFill/>
          <a:ln/>
        </p:spPr>
        <p:txBody>
          <a:bodyPr wrap="square" rtlCol="0" anchor="ctr"/>
          <a:lstStyle/>
          <a:p>
            <a:pPr indent="0" marL="0">
              <a:buNone/>
            </a:pPr>
            <a:r>
              <a:rPr lang="en-US" sz="2400" b="1" dirty="0">
                <a:solidFill>
                  <a:srgbClr val="28A745"/>
                </a:solidFill>
              </a:rPr>
              <a:t>Wild EX1191:</a:t>
            </a:r>
            <a:endParaRPr lang="en-US" sz="2400" dirty="0"/>
          </a:p>
        </p:txBody>
      </p:sp>
      <p:sp>
        <p:nvSpPr>
          <p:cNvPr id="5" name="Shape 3"/>
          <p:cNvSpPr/>
          <p:nvPr/>
        </p:nvSpPr>
        <p:spPr>
          <a:xfrm>
            <a:off x="1828800" y="3108960"/>
            <a:ext cx="4023360" cy="1097280"/>
          </a:xfrm>
          <a:prstGeom prst="rect">
            <a:avLst/>
          </a:prstGeom>
          <a:solidFill>
            <a:srgbClr val="28A745"/>
          </a:solidFill>
          <a:ln/>
        </p:spPr>
      </p:sp>
      <p:sp>
        <p:nvSpPr>
          <p:cNvPr id="6" name="Text 4"/>
          <p:cNvSpPr/>
          <p:nvPr/>
        </p:nvSpPr>
        <p:spPr>
          <a:xfrm>
            <a:off x="1828800" y="3200400"/>
            <a:ext cx="4023360" cy="914400"/>
          </a:xfrm>
          <a:prstGeom prst="rect">
            <a:avLst/>
          </a:prstGeom>
          <a:noFill/>
          <a:ln/>
        </p:spPr>
        <p:txBody>
          <a:bodyPr wrap="square" rtlCol="0" anchor="ctr"/>
          <a:lstStyle/>
          <a:p>
            <a:pPr algn="ctr" indent="0" marL="0">
              <a:buNone/>
            </a:pPr>
            <a:r>
              <a:rPr lang="en-US" sz="1800" b="1" dirty="0">
                <a:solidFill>
                  <a:srgbClr val="FFFFFF"/>
                </a:solidFill>
              </a:rPr>
              <a:t>Complex</a:t>
            </a:r>
            <a:endParaRPr lang="en-US" sz="1800" dirty="0"/>
          </a:p>
          <a:p>
            <a:pPr algn="ctr" indent="0" marL="0">
              <a:buNone/>
            </a:pPr>
            <a:r>
              <a:rPr lang="en-US" sz="1800" b="1" dirty="0">
                <a:solidFill>
                  <a:srgbClr val="FFFFFF"/>
                </a:solidFill>
              </a:rPr>
              <a:t>Marine Algae</a:t>
            </a:r>
            <a:endParaRPr lang="en-US" sz="1800" dirty="0"/>
          </a:p>
        </p:txBody>
      </p:sp>
      <p:sp>
        <p:nvSpPr>
          <p:cNvPr id="7" name="Text 5"/>
          <p:cNvSpPr/>
          <p:nvPr/>
        </p:nvSpPr>
        <p:spPr>
          <a:xfrm>
            <a:off x="6217920" y="3383280"/>
            <a:ext cx="1097280" cy="548640"/>
          </a:xfrm>
          <a:prstGeom prst="rect">
            <a:avLst/>
          </a:prstGeom>
          <a:noFill/>
          <a:ln/>
        </p:spPr>
        <p:txBody>
          <a:bodyPr wrap="square" rtlCol="0" anchor="ctr"/>
          <a:lstStyle/>
          <a:p>
            <a:pPr algn="ctr" indent="0" marL="0">
              <a:buNone/>
            </a:pPr>
            <a:r>
              <a:rPr lang="en-US" sz="3600" dirty="0">
                <a:solidFill>
                  <a:srgbClr val="28A745"/>
                </a:solidFill>
              </a:rPr>
              <a:t>→</a:t>
            </a:r>
            <a:endParaRPr lang="en-US" sz="3600" dirty="0"/>
          </a:p>
        </p:txBody>
      </p:sp>
      <p:sp>
        <p:nvSpPr>
          <p:cNvPr id="8" name="Shape 6"/>
          <p:cNvSpPr/>
          <p:nvPr/>
        </p:nvSpPr>
        <p:spPr>
          <a:xfrm>
            <a:off x="7680960" y="3108960"/>
            <a:ext cx="4023360" cy="1097280"/>
          </a:xfrm>
          <a:prstGeom prst="rect">
            <a:avLst/>
          </a:prstGeom>
          <a:solidFill>
            <a:srgbClr val="28A745"/>
          </a:solidFill>
          <a:ln/>
        </p:spPr>
      </p:sp>
      <p:sp>
        <p:nvSpPr>
          <p:cNvPr id="9" name="Text 7"/>
          <p:cNvSpPr/>
          <p:nvPr/>
        </p:nvSpPr>
        <p:spPr>
          <a:xfrm>
            <a:off x="7680960" y="3200400"/>
            <a:ext cx="4023360" cy="914400"/>
          </a:xfrm>
          <a:prstGeom prst="rect">
            <a:avLst/>
          </a:prstGeom>
          <a:noFill/>
          <a:ln/>
        </p:spPr>
        <p:txBody>
          <a:bodyPr wrap="square" rtlCol="0" anchor="ctr"/>
          <a:lstStyle/>
          <a:p>
            <a:pPr algn="ctr" indent="0" marL="0">
              <a:buNone/>
            </a:pPr>
            <a:r>
              <a:rPr lang="en-US" sz="1800" b="1" dirty="0">
                <a:solidFill>
                  <a:srgbClr val="FFFFFF"/>
                </a:solidFill>
              </a:rPr>
              <a:t>Wild Abalone</a:t>
            </a:r>
            <a:endParaRPr lang="en-US" sz="1800" dirty="0"/>
          </a:p>
          <a:p>
            <a:pPr algn="ctr" indent="0" marL="0">
              <a:buNone/>
            </a:pPr>
            <a:r>
              <a:rPr lang="en-US" sz="1800" b="1" dirty="0">
                <a:solidFill>
                  <a:srgbClr val="FFFFFF"/>
                </a:solidFill>
              </a:rPr>
              <a:t>(56 years)</a:t>
            </a:r>
            <a:endParaRPr lang="en-US" sz="1800" dirty="0"/>
          </a:p>
        </p:txBody>
      </p:sp>
      <p:sp>
        <p:nvSpPr>
          <p:cNvPr id="10" name="Text 8"/>
          <p:cNvSpPr/>
          <p:nvPr/>
        </p:nvSpPr>
        <p:spPr>
          <a:xfrm>
            <a:off x="12070080" y="3383280"/>
            <a:ext cx="1097280" cy="548640"/>
          </a:xfrm>
          <a:prstGeom prst="rect">
            <a:avLst/>
          </a:prstGeom>
          <a:noFill/>
          <a:ln/>
        </p:spPr>
        <p:txBody>
          <a:bodyPr wrap="square" rtlCol="0" anchor="ctr"/>
          <a:lstStyle/>
          <a:p>
            <a:pPr algn="ctr" indent="0" marL="0">
              <a:buNone/>
            </a:pPr>
            <a:r>
              <a:rPr lang="en-US" sz="3600" dirty="0">
                <a:solidFill>
                  <a:srgbClr val="28A745"/>
                </a:solidFill>
              </a:rPr>
              <a:t>→</a:t>
            </a:r>
            <a:endParaRPr lang="en-US" sz="3600" dirty="0"/>
          </a:p>
        </p:txBody>
      </p:sp>
      <p:sp>
        <p:nvSpPr>
          <p:cNvPr id="11" name="Shape 9"/>
          <p:cNvSpPr/>
          <p:nvPr/>
        </p:nvSpPr>
        <p:spPr>
          <a:xfrm>
            <a:off x="13533120" y="3108960"/>
            <a:ext cx="4023360" cy="1097280"/>
          </a:xfrm>
          <a:prstGeom prst="rect">
            <a:avLst/>
          </a:prstGeom>
          <a:solidFill>
            <a:srgbClr val="28A745"/>
          </a:solidFill>
          <a:ln/>
        </p:spPr>
      </p:sp>
      <p:sp>
        <p:nvSpPr>
          <p:cNvPr id="12" name="Text 10"/>
          <p:cNvSpPr/>
          <p:nvPr/>
        </p:nvSpPr>
        <p:spPr>
          <a:xfrm>
            <a:off x="13533120" y="3200400"/>
            <a:ext cx="4023360" cy="914400"/>
          </a:xfrm>
          <a:prstGeom prst="rect">
            <a:avLst/>
          </a:prstGeom>
          <a:noFill/>
          <a:ln/>
        </p:spPr>
        <p:txBody>
          <a:bodyPr wrap="square" rtlCol="0" anchor="ctr"/>
          <a:lstStyle/>
          <a:p>
            <a:pPr algn="ctr" indent="0" marL="0">
              <a:buNone/>
            </a:pPr>
            <a:r>
              <a:rPr lang="en-US" sz="1800" b="1" dirty="0">
                <a:solidFill>
                  <a:srgbClr val="FFFFFF"/>
                </a:solidFill>
              </a:rPr>
              <a:t>Beauty</a:t>
            </a:r>
            <a:endParaRPr lang="en-US" sz="1800" dirty="0"/>
          </a:p>
          <a:p>
            <a:pPr algn="ctr" indent="0" marL="0">
              <a:buNone/>
            </a:pPr>
            <a:r>
              <a:rPr lang="en-US" sz="1800" b="1" dirty="0">
                <a:solidFill>
                  <a:srgbClr val="FFFFFF"/>
                </a:solidFill>
              </a:rPr>
              <a:t>Compounds</a:t>
            </a:r>
            <a:endParaRPr lang="en-US" sz="1800" dirty="0"/>
          </a:p>
        </p:txBody>
      </p:sp>
      <p:sp>
        <p:nvSpPr>
          <p:cNvPr id="13" name="Text 11"/>
          <p:cNvSpPr/>
          <p:nvPr/>
        </p:nvSpPr>
        <p:spPr>
          <a:xfrm>
            <a:off x="1280160" y="4937760"/>
            <a:ext cx="15727680" cy="548640"/>
          </a:xfrm>
          <a:prstGeom prst="rect">
            <a:avLst/>
          </a:prstGeom>
          <a:noFill/>
          <a:ln/>
        </p:spPr>
        <p:txBody>
          <a:bodyPr wrap="square" rtlCol="0" anchor="ctr"/>
          <a:lstStyle/>
          <a:p>
            <a:pPr indent="0" marL="0">
              <a:buNone/>
            </a:pPr>
            <a:r>
              <a:rPr lang="en-US" sz="2400" b="1" dirty="0">
                <a:solidFill>
                  <a:srgbClr val="DC3545"/>
                </a:solidFill>
              </a:rPr>
              <a:t>Chinese Farmed:</a:t>
            </a:r>
            <a:endParaRPr lang="en-US" sz="2400" dirty="0"/>
          </a:p>
        </p:txBody>
      </p:sp>
      <p:sp>
        <p:nvSpPr>
          <p:cNvPr id="14" name="Shape 12"/>
          <p:cNvSpPr/>
          <p:nvPr/>
        </p:nvSpPr>
        <p:spPr>
          <a:xfrm>
            <a:off x="1828800" y="5852160"/>
            <a:ext cx="4023360" cy="1097280"/>
          </a:xfrm>
          <a:prstGeom prst="rect">
            <a:avLst/>
          </a:prstGeom>
          <a:solidFill>
            <a:srgbClr val="DC3545"/>
          </a:solidFill>
          <a:ln/>
        </p:spPr>
      </p:sp>
      <p:sp>
        <p:nvSpPr>
          <p:cNvPr id="15" name="Text 13"/>
          <p:cNvSpPr/>
          <p:nvPr/>
        </p:nvSpPr>
        <p:spPr>
          <a:xfrm>
            <a:off x="1828800" y="5943600"/>
            <a:ext cx="4023360" cy="914400"/>
          </a:xfrm>
          <a:prstGeom prst="rect">
            <a:avLst/>
          </a:prstGeom>
          <a:noFill/>
          <a:ln/>
        </p:spPr>
        <p:txBody>
          <a:bodyPr wrap="square" rtlCol="0" anchor="ctr"/>
          <a:lstStyle/>
          <a:p>
            <a:pPr algn="ctr" indent="0" marL="0">
              <a:buNone/>
            </a:pPr>
            <a:r>
              <a:rPr lang="en-US" sz="1800" b="1" dirty="0">
                <a:solidFill>
                  <a:srgbClr val="FFFFFF"/>
                </a:solidFill>
              </a:rPr>
              <a:t>Commercial</a:t>
            </a:r>
            <a:endParaRPr lang="en-US" sz="1800" dirty="0"/>
          </a:p>
          <a:p>
            <a:pPr algn="ctr" indent="0" marL="0">
              <a:buNone/>
            </a:pPr>
            <a:r>
              <a:rPr lang="en-US" sz="1800" b="1" dirty="0">
                <a:solidFill>
                  <a:srgbClr val="FFFFFF"/>
                </a:solidFill>
              </a:rPr>
              <a:t>Pellets</a:t>
            </a:r>
            <a:endParaRPr lang="en-US" sz="1800" dirty="0"/>
          </a:p>
        </p:txBody>
      </p:sp>
      <p:sp>
        <p:nvSpPr>
          <p:cNvPr id="16" name="Text 14"/>
          <p:cNvSpPr/>
          <p:nvPr/>
        </p:nvSpPr>
        <p:spPr>
          <a:xfrm>
            <a:off x="6217920" y="6126480"/>
            <a:ext cx="1097280" cy="548640"/>
          </a:xfrm>
          <a:prstGeom prst="rect">
            <a:avLst/>
          </a:prstGeom>
          <a:noFill/>
          <a:ln/>
        </p:spPr>
        <p:txBody>
          <a:bodyPr wrap="square" rtlCol="0" anchor="ctr"/>
          <a:lstStyle/>
          <a:p>
            <a:pPr algn="ctr" indent="0" marL="0">
              <a:buNone/>
            </a:pPr>
            <a:r>
              <a:rPr lang="en-US" sz="3600" dirty="0">
                <a:solidFill>
                  <a:srgbClr val="DC3545"/>
                </a:solidFill>
              </a:rPr>
              <a:t>→</a:t>
            </a:r>
            <a:endParaRPr lang="en-US" sz="3600" dirty="0"/>
          </a:p>
        </p:txBody>
      </p:sp>
      <p:sp>
        <p:nvSpPr>
          <p:cNvPr id="17" name="Shape 15"/>
          <p:cNvSpPr/>
          <p:nvPr/>
        </p:nvSpPr>
        <p:spPr>
          <a:xfrm>
            <a:off x="7680960" y="5852160"/>
            <a:ext cx="4023360" cy="1097280"/>
          </a:xfrm>
          <a:prstGeom prst="rect">
            <a:avLst/>
          </a:prstGeom>
          <a:solidFill>
            <a:srgbClr val="DC3545"/>
          </a:solidFill>
          <a:ln/>
        </p:spPr>
      </p:sp>
      <p:sp>
        <p:nvSpPr>
          <p:cNvPr id="18" name="Text 16"/>
          <p:cNvSpPr/>
          <p:nvPr/>
        </p:nvSpPr>
        <p:spPr>
          <a:xfrm>
            <a:off x="7680960" y="5943600"/>
            <a:ext cx="4023360" cy="914400"/>
          </a:xfrm>
          <a:prstGeom prst="rect">
            <a:avLst/>
          </a:prstGeom>
          <a:noFill/>
          <a:ln/>
        </p:spPr>
        <p:txBody>
          <a:bodyPr wrap="square" rtlCol="0" anchor="ctr"/>
          <a:lstStyle/>
          <a:p>
            <a:pPr algn="ctr" indent="0" marL="0">
              <a:buNone/>
            </a:pPr>
            <a:r>
              <a:rPr lang="en-US" sz="1800" b="1" dirty="0">
                <a:solidFill>
                  <a:srgbClr val="FFFFFF"/>
                </a:solidFill>
              </a:rPr>
              <a:t>Farmed Abalone</a:t>
            </a:r>
            <a:endParaRPr lang="en-US" sz="1800" dirty="0"/>
          </a:p>
          <a:p>
            <a:pPr algn="ctr" indent="0" marL="0">
              <a:buNone/>
            </a:pPr>
            <a:r>
              <a:rPr lang="en-US" sz="1800" b="1" dirty="0">
                <a:solidFill>
                  <a:srgbClr val="FFFFFF"/>
                </a:solidFill>
              </a:rPr>
              <a:t>(6-12 months)</a:t>
            </a:r>
            <a:endParaRPr lang="en-US" sz="1800" dirty="0"/>
          </a:p>
        </p:txBody>
      </p:sp>
      <p:sp>
        <p:nvSpPr>
          <p:cNvPr id="19" name="Text 17"/>
          <p:cNvSpPr/>
          <p:nvPr/>
        </p:nvSpPr>
        <p:spPr>
          <a:xfrm>
            <a:off x="12070080" y="6126480"/>
            <a:ext cx="1097280" cy="548640"/>
          </a:xfrm>
          <a:prstGeom prst="rect">
            <a:avLst/>
          </a:prstGeom>
          <a:noFill/>
          <a:ln/>
        </p:spPr>
        <p:txBody>
          <a:bodyPr wrap="square" rtlCol="0" anchor="ctr"/>
          <a:lstStyle/>
          <a:p>
            <a:pPr algn="ctr" indent="0" marL="0">
              <a:buNone/>
            </a:pPr>
            <a:r>
              <a:rPr lang="en-US" sz="3600" dirty="0">
                <a:solidFill>
                  <a:srgbClr val="DC3545"/>
                </a:solidFill>
              </a:rPr>
              <a:t>→</a:t>
            </a:r>
            <a:endParaRPr lang="en-US" sz="3600" dirty="0"/>
          </a:p>
        </p:txBody>
      </p:sp>
      <p:sp>
        <p:nvSpPr>
          <p:cNvPr id="20" name="Shape 18"/>
          <p:cNvSpPr/>
          <p:nvPr/>
        </p:nvSpPr>
        <p:spPr>
          <a:xfrm>
            <a:off x="13533120" y="5852160"/>
            <a:ext cx="4023360" cy="1097280"/>
          </a:xfrm>
          <a:prstGeom prst="rect">
            <a:avLst/>
          </a:prstGeom>
          <a:solidFill>
            <a:srgbClr val="DC3545"/>
          </a:solidFill>
          <a:ln/>
        </p:spPr>
      </p:sp>
      <p:sp>
        <p:nvSpPr>
          <p:cNvPr id="21" name="Text 19"/>
          <p:cNvSpPr/>
          <p:nvPr/>
        </p:nvSpPr>
        <p:spPr>
          <a:xfrm>
            <a:off x="13533120" y="5943600"/>
            <a:ext cx="4023360" cy="914400"/>
          </a:xfrm>
          <a:prstGeom prst="rect">
            <a:avLst/>
          </a:prstGeom>
          <a:noFill/>
          <a:ln/>
        </p:spPr>
        <p:txBody>
          <a:bodyPr wrap="square" rtlCol="0" anchor="ctr"/>
          <a:lstStyle/>
          <a:p>
            <a:pPr algn="ctr" indent="0" marL="0">
              <a:buNone/>
            </a:pPr>
            <a:r>
              <a:rPr lang="en-US" sz="1800" b="1" dirty="0">
                <a:solidFill>
                  <a:srgbClr val="FFFFFF"/>
                </a:solidFill>
              </a:rPr>
              <a:t>Basic</a:t>
            </a:r>
            <a:endParaRPr lang="en-US" sz="1800" dirty="0"/>
          </a:p>
          <a:p>
            <a:pPr algn="ctr" indent="0" marL="0">
              <a:buNone/>
            </a:pPr>
            <a:r>
              <a:rPr lang="en-US" sz="1800" b="1" dirty="0">
                <a:solidFill>
                  <a:srgbClr val="FFFFFF"/>
                </a:solidFill>
              </a:rPr>
              <a:t>Nutrition Only</a:t>
            </a:r>
            <a:endParaRPr lang="en-US" sz="1800" dirty="0"/>
          </a:p>
        </p:txBody>
      </p:sp>
      <p:sp>
        <p:nvSpPr>
          <p:cNvPr id="22" name="Shape 20"/>
          <p:cNvSpPr/>
          <p:nvPr/>
        </p:nvSpPr>
        <p:spPr>
          <a:xfrm>
            <a:off x="1828800" y="7680960"/>
            <a:ext cx="14630400" cy="1463040"/>
          </a:xfrm>
          <a:prstGeom prst="rect">
            <a:avLst/>
          </a:prstGeom>
          <a:solidFill>
            <a:srgbClr val="003366"/>
          </a:solidFill>
          <a:ln/>
        </p:spPr>
      </p:sp>
      <p:sp>
        <p:nvSpPr>
          <p:cNvPr id="23" name="Text 21"/>
          <p:cNvSpPr/>
          <p:nvPr/>
        </p:nvSpPr>
        <p:spPr>
          <a:xfrm>
            <a:off x="1828800" y="7863840"/>
            <a:ext cx="14630400" cy="1097280"/>
          </a:xfrm>
          <a:prstGeom prst="rect">
            <a:avLst/>
          </a:prstGeom>
          <a:noFill/>
          <a:ln/>
        </p:spPr>
        <p:txBody>
          <a:bodyPr wrap="square" rtlCol="0" anchor="ctr"/>
          <a:lstStyle/>
          <a:p>
            <a:pPr algn="ctr" indent="0" marL="0">
              <a:buNone/>
            </a:pPr>
            <a:r>
              <a:rPr lang="en-US" sz="2800" b="1" i="1" dirty="0">
                <a:solidFill>
                  <a:srgbClr val="D4AF37"/>
                </a:solidFill>
              </a:rPr>
              <a:t>"You can't fake 56 years of wild Australian waters"</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Lab Testing Strategy (Gate 1)</a:t>
            </a:r>
            <a:endParaRPr lang="en-US" sz="3800" dirty="0"/>
          </a:p>
        </p:txBody>
      </p:sp>
      <p:sp>
        <p:nvSpPr>
          <p:cNvPr id="4" name="Text 2"/>
          <p:cNvSpPr/>
          <p:nvPr/>
        </p:nvSpPr>
        <p:spPr>
          <a:xfrm>
            <a:off x="1828800" y="2011680"/>
            <a:ext cx="14630400" cy="731520"/>
          </a:xfrm>
          <a:prstGeom prst="rect">
            <a:avLst/>
          </a:prstGeom>
          <a:noFill/>
          <a:ln/>
        </p:spPr>
        <p:txBody>
          <a:bodyPr wrap="square" rtlCol="0" anchor="ctr"/>
          <a:lstStyle/>
          <a:p>
            <a:pPr indent="0" marL="0">
              <a:buNone/>
            </a:pPr>
            <a:r>
              <a:rPr lang="en-US" sz="2800" b="1" dirty="0">
                <a:solidFill>
                  <a:srgbClr val="D4AF37"/>
                </a:solidFill>
              </a:rPr>
              <a:t>Investment: $15,000 - $25,000</a:t>
            </a:r>
            <a:endParaRPr lang="en-US" sz="2800" dirty="0"/>
          </a:p>
        </p:txBody>
      </p:sp>
      <p:sp>
        <p:nvSpPr>
          <p:cNvPr id="5" name="Text 3"/>
          <p:cNvSpPr/>
          <p:nvPr/>
        </p:nvSpPr>
        <p:spPr>
          <a:xfrm>
            <a:off x="2194560" y="3108960"/>
            <a:ext cx="13898880" cy="731520"/>
          </a:xfrm>
          <a:prstGeom prst="rect">
            <a:avLst/>
          </a:prstGeom>
          <a:noFill/>
          <a:ln/>
        </p:spPr>
        <p:txBody>
          <a:bodyPr wrap="square" rtlCol="0" anchor="ctr"/>
          <a:lstStyle/>
          <a:p>
            <a:pPr indent="0" marL="0">
              <a:buNone/>
            </a:pPr>
            <a:r>
              <a:rPr lang="en-US" sz="2000" dirty="0">
                <a:solidFill>
                  <a:srgbClr val="1A1A1A"/>
                </a:solidFill>
              </a:rPr>
              <a:t>✓ 1. Hormone Panel (MOST CRITICAL) - Binary yes/no result</a:t>
            </a:r>
            <a:endParaRPr lang="en-US" sz="2000" dirty="0"/>
          </a:p>
        </p:txBody>
      </p:sp>
      <p:sp>
        <p:nvSpPr>
          <p:cNvPr id="6" name="Text 4"/>
          <p:cNvSpPr/>
          <p:nvPr/>
        </p:nvSpPr>
        <p:spPr>
          <a:xfrm>
            <a:off x="2194560" y="4023360"/>
            <a:ext cx="13898880" cy="731520"/>
          </a:xfrm>
          <a:prstGeom prst="rect">
            <a:avLst/>
          </a:prstGeom>
          <a:noFill/>
          <a:ln/>
        </p:spPr>
        <p:txBody>
          <a:bodyPr wrap="square" rtlCol="0" anchor="ctr"/>
          <a:lstStyle/>
          <a:p>
            <a:pPr indent="0" marL="0">
              <a:buNone/>
            </a:pPr>
            <a:r>
              <a:rPr lang="en-US" sz="2000" dirty="0">
                <a:solidFill>
                  <a:srgbClr val="1A1A1A"/>
                </a:solidFill>
              </a:rPr>
              <a:t>✓ 2. Peptide Size Distribution - 400-600 Da range analysis</a:t>
            </a:r>
            <a:endParaRPr lang="en-US" sz="2000" dirty="0"/>
          </a:p>
        </p:txBody>
      </p:sp>
      <p:sp>
        <p:nvSpPr>
          <p:cNvPr id="7" name="Text 5"/>
          <p:cNvSpPr/>
          <p:nvPr/>
        </p:nvSpPr>
        <p:spPr>
          <a:xfrm>
            <a:off x="2194560" y="4937760"/>
            <a:ext cx="13898880" cy="731520"/>
          </a:xfrm>
          <a:prstGeom prst="rect">
            <a:avLst/>
          </a:prstGeom>
          <a:noFill/>
          <a:ln/>
        </p:spPr>
        <p:txBody>
          <a:bodyPr wrap="square" rtlCol="0" anchor="ctr"/>
          <a:lstStyle/>
          <a:p>
            <a:pPr indent="0" marL="0">
              <a:buNone/>
            </a:pPr>
            <a:r>
              <a:rPr lang="en-US" sz="2000" dirty="0">
                <a:solidFill>
                  <a:srgbClr val="1A1A1A"/>
                </a:solidFill>
              </a:rPr>
              <a:t>✓ 3. Beauty Compound Screening - Tyrosinase, MMP inhibitors</a:t>
            </a:r>
            <a:endParaRPr lang="en-US" sz="2000" dirty="0"/>
          </a:p>
        </p:txBody>
      </p:sp>
      <p:sp>
        <p:nvSpPr>
          <p:cNvPr id="8" name="Text 6"/>
          <p:cNvSpPr/>
          <p:nvPr/>
        </p:nvSpPr>
        <p:spPr>
          <a:xfrm>
            <a:off x="2194560" y="5852160"/>
            <a:ext cx="13898880" cy="731520"/>
          </a:xfrm>
          <a:prstGeom prst="rect">
            <a:avLst/>
          </a:prstGeom>
          <a:noFill/>
          <a:ln/>
        </p:spPr>
        <p:txBody>
          <a:bodyPr wrap="square" rtlCol="0" anchor="ctr"/>
          <a:lstStyle/>
          <a:p>
            <a:pPr indent="0" marL="0">
              <a:buNone/>
            </a:pPr>
            <a:r>
              <a:rPr lang="en-US" sz="2000" dirty="0">
                <a:solidFill>
                  <a:srgbClr val="1A1A1A"/>
                </a:solidFill>
              </a:rPr>
              <a:t>✓ 4. Comparative Analysis - Side-by-side wild vs farmed</a:t>
            </a:r>
            <a:endParaRPr lang="en-US" sz="2000" dirty="0"/>
          </a:p>
        </p:txBody>
      </p:sp>
      <p:sp>
        <p:nvSpPr>
          <p:cNvPr id="9" name="Text 7"/>
          <p:cNvSpPr/>
          <p:nvPr/>
        </p:nvSpPr>
        <p:spPr>
          <a:xfrm>
            <a:off x="1828800" y="7132320"/>
            <a:ext cx="6949440" cy="548640"/>
          </a:xfrm>
          <a:prstGeom prst="rect">
            <a:avLst/>
          </a:prstGeom>
          <a:noFill/>
          <a:ln/>
        </p:spPr>
        <p:txBody>
          <a:bodyPr wrap="square" rtlCol="0" anchor="ctr"/>
          <a:lstStyle/>
          <a:p>
            <a:pPr indent="0" marL="0">
              <a:buNone/>
            </a:pPr>
            <a:r>
              <a:rPr lang="en-US" sz="2200" b="1" dirty="0">
                <a:solidFill>
                  <a:srgbClr val="003366"/>
                </a:solidFill>
              </a:rPr>
              <a:t>Timeline: 6-8 Weeks</a:t>
            </a:r>
            <a:endParaRPr lang="en-US" sz="2200" dirty="0"/>
          </a:p>
        </p:txBody>
      </p:sp>
      <p:sp>
        <p:nvSpPr>
          <p:cNvPr id="10" name="Shape 8"/>
          <p:cNvSpPr/>
          <p:nvPr/>
        </p:nvSpPr>
        <p:spPr>
          <a:xfrm>
            <a:off x="1828800" y="8046720"/>
            <a:ext cx="14630400" cy="1097280"/>
          </a:xfrm>
          <a:prstGeom prst="rect">
            <a:avLst/>
          </a:prstGeom>
          <a:solidFill>
            <a:srgbClr val="D4EDDA"/>
          </a:solidFill>
          <a:ln w="50800">
            <a:solidFill>
              <a:srgbClr val="28A745"/>
            </a:solidFill>
            <a:prstDash val="solid"/>
          </a:ln>
        </p:spPr>
      </p:sp>
      <p:sp>
        <p:nvSpPr>
          <p:cNvPr id="11" name="Text 9"/>
          <p:cNvSpPr/>
          <p:nvPr/>
        </p:nvSpPr>
        <p:spPr>
          <a:xfrm>
            <a:off x="2194560" y="8229600"/>
            <a:ext cx="13898880" cy="731520"/>
          </a:xfrm>
          <a:prstGeom prst="rect">
            <a:avLst/>
          </a:prstGeom>
          <a:noFill/>
          <a:ln/>
        </p:spPr>
        <p:txBody>
          <a:bodyPr wrap="square" rtlCol="0" anchor="ctr"/>
          <a:lstStyle/>
          <a:p>
            <a:pPr algn="ctr" indent="0" marL="0">
              <a:buNone/>
            </a:pPr>
            <a:r>
              <a:rPr lang="en-US" sz="2000" b="1" dirty="0">
                <a:solidFill>
                  <a:srgbClr val="155724"/>
                </a:solidFill>
              </a:rPr>
              <a:t>GO/NO-GO: Clear superiority in 3+ markers proves differentiation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Consumer Messaging Framework</a:t>
            </a:r>
            <a:endParaRPr lang="en-US" sz="3800" dirty="0"/>
          </a:p>
        </p:txBody>
      </p:sp>
      <p:sp>
        <p:nvSpPr>
          <p:cNvPr id="4" name="Shape 2"/>
          <p:cNvSpPr/>
          <p:nvPr/>
        </p:nvSpPr>
        <p:spPr>
          <a:xfrm>
            <a:off x="914400" y="2377440"/>
            <a:ext cx="5120640" cy="4572000"/>
          </a:xfrm>
          <a:prstGeom prst="rect">
            <a:avLst/>
          </a:prstGeom>
          <a:solidFill>
            <a:srgbClr val="FFFFFF"/>
          </a:solidFill>
          <a:ln w="76200">
            <a:solidFill>
              <a:srgbClr val="003366"/>
            </a:solidFill>
            <a:prstDash val="solid"/>
          </a:ln>
        </p:spPr>
      </p:sp>
      <p:sp>
        <p:nvSpPr>
          <p:cNvPr id="5" name="Shape 3"/>
          <p:cNvSpPr/>
          <p:nvPr/>
        </p:nvSpPr>
        <p:spPr>
          <a:xfrm>
            <a:off x="2560320" y="2743200"/>
            <a:ext cx="1828800" cy="1828800"/>
          </a:xfrm>
          <a:prstGeom prst="ellipse">
            <a:avLst/>
          </a:prstGeom>
          <a:solidFill>
            <a:srgbClr val="D4AF37"/>
          </a:solidFill>
          <a:ln/>
        </p:spPr>
      </p:sp>
      <p:sp>
        <p:nvSpPr>
          <p:cNvPr id="6" name="Text 4"/>
          <p:cNvSpPr/>
          <p:nvPr/>
        </p:nvSpPr>
        <p:spPr>
          <a:xfrm>
            <a:off x="2560320" y="2743200"/>
            <a:ext cx="1828800" cy="1828800"/>
          </a:xfrm>
          <a:prstGeom prst="rect">
            <a:avLst/>
          </a:prstGeom>
          <a:noFill/>
          <a:ln/>
        </p:spPr>
        <p:txBody>
          <a:bodyPr wrap="square" rtlCol="0" anchor="ctr"/>
          <a:lstStyle/>
          <a:p>
            <a:pPr algn="ctr" indent="0" marL="0">
              <a:buNone/>
            </a:pPr>
            <a:r>
              <a:rPr lang="en-US" sz="4800" b="1" dirty="0">
                <a:solidFill>
                  <a:srgbClr val="FFFFFF"/>
                </a:solidFill>
              </a:rPr>
              <a:t>1</a:t>
            </a:r>
            <a:endParaRPr lang="en-US" sz="4800" dirty="0"/>
          </a:p>
        </p:txBody>
      </p:sp>
      <p:sp>
        <p:nvSpPr>
          <p:cNvPr id="7" name="Text 5"/>
          <p:cNvSpPr/>
          <p:nvPr/>
        </p:nvSpPr>
        <p:spPr>
          <a:xfrm>
            <a:off x="1280160" y="4937760"/>
            <a:ext cx="4389120" cy="731520"/>
          </a:xfrm>
          <a:prstGeom prst="rect">
            <a:avLst/>
          </a:prstGeom>
          <a:noFill/>
          <a:ln/>
        </p:spPr>
        <p:txBody>
          <a:bodyPr wrap="square" rtlCol="0" anchor="ctr"/>
          <a:lstStyle/>
          <a:p>
            <a:pPr algn="ctr" indent="0" marL="0">
              <a:buNone/>
            </a:pPr>
            <a:r>
              <a:rPr lang="en-US" sz="2000" b="1" dirty="0">
                <a:solidFill>
                  <a:srgbClr val="003366"/>
                </a:solidFill>
              </a:rPr>
              <a:t>Hormone-Free Beauty</a:t>
            </a:r>
            <a:endParaRPr lang="en-US" sz="2000" dirty="0"/>
          </a:p>
        </p:txBody>
      </p:sp>
      <p:sp>
        <p:nvSpPr>
          <p:cNvPr id="8" name="Text 6"/>
          <p:cNvSpPr/>
          <p:nvPr/>
        </p:nvSpPr>
        <p:spPr>
          <a:xfrm>
            <a:off x="1280160" y="5760720"/>
            <a:ext cx="4389120" cy="914400"/>
          </a:xfrm>
          <a:prstGeom prst="rect">
            <a:avLst/>
          </a:prstGeom>
          <a:noFill/>
          <a:ln/>
        </p:spPr>
        <p:txBody>
          <a:bodyPr wrap="square" rtlCol="0" anchor="ctr"/>
          <a:lstStyle/>
          <a:p>
            <a:pPr algn="ctr" indent="0" marL="0">
              <a:buNone/>
            </a:pPr>
            <a:r>
              <a:rPr lang="en-US" sz="1600" dirty="0">
                <a:solidFill>
                  <a:srgbClr val="1A1A1A"/>
                </a:solidFill>
              </a:rPr>
              <a:t>Clean, pure, safe for your skin</a:t>
            </a:r>
            <a:endParaRPr lang="en-US" sz="1600" dirty="0"/>
          </a:p>
        </p:txBody>
      </p:sp>
      <p:sp>
        <p:nvSpPr>
          <p:cNvPr id="9" name="Shape 7"/>
          <p:cNvSpPr/>
          <p:nvPr/>
        </p:nvSpPr>
        <p:spPr>
          <a:xfrm>
            <a:off x="6766560" y="2377440"/>
            <a:ext cx="5120640" cy="4572000"/>
          </a:xfrm>
          <a:prstGeom prst="rect">
            <a:avLst/>
          </a:prstGeom>
          <a:solidFill>
            <a:srgbClr val="FFFFFF"/>
          </a:solidFill>
          <a:ln w="76200">
            <a:solidFill>
              <a:srgbClr val="003366"/>
            </a:solidFill>
            <a:prstDash val="solid"/>
          </a:ln>
        </p:spPr>
      </p:sp>
      <p:sp>
        <p:nvSpPr>
          <p:cNvPr id="10" name="Shape 8"/>
          <p:cNvSpPr/>
          <p:nvPr/>
        </p:nvSpPr>
        <p:spPr>
          <a:xfrm>
            <a:off x="8412480" y="2743200"/>
            <a:ext cx="1828800" cy="1828800"/>
          </a:xfrm>
          <a:prstGeom prst="ellipse">
            <a:avLst/>
          </a:prstGeom>
          <a:solidFill>
            <a:srgbClr val="D4AF37"/>
          </a:solidFill>
          <a:ln/>
        </p:spPr>
      </p:sp>
      <p:sp>
        <p:nvSpPr>
          <p:cNvPr id="11" name="Text 9"/>
          <p:cNvSpPr/>
          <p:nvPr/>
        </p:nvSpPr>
        <p:spPr>
          <a:xfrm>
            <a:off x="8412480" y="2743200"/>
            <a:ext cx="1828800" cy="1828800"/>
          </a:xfrm>
          <a:prstGeom prst="rect">
            <a:avLst/>
          </a:prstGeom>
          <a:noFill/>
          <a:ln/>
        </p:spPr>
        <p:txBody>
          <a:bodyPr wrap="square" rtlCol="0" anchor="ctr"/>
          <a:lstStyle/>
          <a:p>
            <a:pPr algn="ctr" indent="0" marL="0">
              <a:buNone/>
            </a:pPr>
            <a:r>
              <a:rPr lang="en-US" sz="4800" b="1" dirty="0">
                <a:solidFill>
                  <a:srgbClr val="FFFFFF"/>
                </a:solidFill>
              </a:rPr>
              <a:t>2</a:t>
            </a:r>
            <a:endParaRPr lang="en-US" sz="4800" dirty="0"/>
          </a:p>
        </p:txBody>
      </p:sp>
      <p:sp>
        <p:nvSpPr>
          <p:cNvPr id="12" name="Text 10"/>
          <p:cNvSpPr/>
          <p:nvPr/>
        </p:nvSpPr>
        <p:spPr>
          <a:xfrm>
            <a:off x="7132320" y="4937760"/>
            <a:ext cx="4389120" cy="731520"/>
          </a:xfrm>
          <a:prstGeom prst="rect">
            <a:avLst/>
          </a:prstGeom>
          <a:noFill/>
          <a:ln/>
        </p:spPr>
        <p:txBody>
          <a:bodyPr wrap="square" rtlCol="0" anchor="ctr"/>
          <a:lstStyle/>
          <a:p>
            <a:pPr algn="ctr" indent="0" marL="0">
              <a:buNone/>
            </a:pPr>
            <a:r>
              <a:rPr lang="en-US" sz="2000" b="1" dirty="0">
                <a:solidFill>
                  <a:srgbClr val="003366"/>
                </a:solidFill>
              </a:rPr>
              <a:t>Scientifically Different</a:t>
            </a:r>
            <a:endParaRPr lang="en-US" sz="2000" dirty="0"/>
          </a:p>
        </p:txBody>
      </p:sp>
      <p:sp>
        <p:nvSpPr>
          <p:cNvPr id="13" name="Text 11"/>
          <p:cNvSpPr/>
          <p:nvPr/>
        </p:nvSpPr>
        <p:spPr>
          <a:xfrm>
            <a:off x="7132320" y="5760720"/>
            <a:ext cx="4389120" cy="914400"/>
          </a:xfrm>
          <a:prstGeom prst="rect">
            <a:avLst/>
          </a:prstGeom>
          <a:noFill/>
          <a:ln/>
        </p:spPr>
        <p:txBody>
          <a:bodyPr wrap="square" rtlCol="0" anchor="ctr"/>
          <a:lstStyle/>
          <a:p>
            <a:pPr algn="ctr" indent="0" marL="0">
              <a:buNone/>
            </a:pPr>
            <a:r>
              <a:rPr lang="en-US" sz="1600" dirty="0">
                <a:solidFill>
                  <a:srgbClr val="1A1A1A"/>
                </a:solidFill>
              </a:rPr>
              <a:t>Lab-proven compound superiority</a:t>
            </a:r>
            <a:endParaRPr lang="en-US" sz="1600" dirty="0"/>
          </a:p>
        </p:txBody>
      </p:sp>
      <p:sp>
        <p:nvSpPr>
          <p:cNvPr id="14" name="Shape 12"/>
          <p:cNvSpPr/>
          <p:nvPr/>
        </p:nvSpPr>
        <p:spPr>
          <a:xfrm>
            <a:off x="12618720" y="2377440"/>
            <a:ext cx="5120640" cy="4572000"/>
          </a:xfrm>
          <a:prstGeom prst="rect">
            <a:avLst/>
          </a:prstGeom>
          <a:solidFill>
            <a:srgbClr val="FFFFFF"/>
          </a:solidFill>
          <a:ln w="76200">
            <a:solidFill>
              <a:srgbClr val="003366"/>
            </a:solidFill>
            <a:prstDash val="solid"/>
          </a:ln>
        </p:spPr>
      </p:sp>
      <p:sp>
        <p:nvSpPr>
          <p:cNvPr id="15" name="Shape 13"/>
          <p:cNvSpPr/>
          <p:nvPr/>
        </p:nvSpPr>
        <p:spPr>
          <a:xfrm>
            <a:off x="14264640" y="2743200"/>
            <a:ext cx="1828800" cy="1828800"/>
          </a:xfrm>
          <a:prstGeom prst="ellipse">
            <a:avLst/>
          </a:prstGeom>
          <a:solidFill>
            <a:srgbClr val="D4AF37"/>
          </a:solidFill>
          <a:ln/>
        </p:spPr>
      </p:sp>
      <p:sp>
        <p:nvSpPr>
          <p:cNvPr id="16" name="Text 14"/>
          <p:cNvSpPr/>
          <p:nvPr/>
        </p:nvSpPr>
        <p:spPr>
          <a:xfrm>
            <a:off x="14264640" y="2743200"/>
            <a:ext cx="1828800" cy="1828800"/>
          </a:xfrm>
          <a:prstGeom prst="rect">
            <a:avLst/>
          </a:prstGeom>
          <a:noFill/>
          <a:ln/>
        </p:spPr>
        <p:txBody>
          <a:bodyPr wrap="square" rtlCol="0" anchor="ctr"/>
          <a:lstStyle/>
          <a:p>
            <a:pPr algn="ctr" indent="0" marL="0">
              <a:buNone/>
            </a:pPr>
            <a:r>
              <a:rPr lang="en-US" sz="4800" b="1" dirty="0">
                <a:solidFill>
                  <a:srgbClr val="FFFFFF"/>
                </a:solidFill>
              </a:rPr>
              <a:t>3</a:t>
            </a:r>
            <a:endParaRPr lang="en-US" sz="4800" dirty="0"/>
          </a:p>
        </p:txBody>
      </p:sp>
      <p:sp>
        <p:nvSpPr>
          <p:cNvPr id="17" name="Text 15"/>
          <p:cNvSpPr/>
          <p:nvPr/>
        </p:nvSpPr>
        <p:spPr>
          <a:xfrm>
            <a:off x="12984480" y="4937760"/>
            <a:ext cx="4389120" cy="731520"/>
          </a:xfrm>
          <a:prstGeom prst="rect">
            <a:avLst/>
          </a:prstGeom>
          <a:noFill/>
          <a:ln/>
        </p:spPr>
        <p:txBody>
          <a:bodyPr wrap="square" rtlCol="0" anchor="ctr"/>
          <a:lstStyle/>
          <a:p>
            <a:pPr algn="ctr" indent="0" marL="0">
              <a:buNone/>
            </a:pPr>
            <a:r>
              <a:rPr lang="en-US" sz="2000" b="1" dirty="0">
                <a:solidFill>
                  <a:srgbClr val="003366"/>
                </a:solidFill>
              </a:rPr>
              <a:t>EX1191 Legacy</a:t>
            </a:r>
            <a:endParaRPr lang="en-US" sz="2000" dirty="0"/>
          </a:p>
        </p:txBody>
      </p:sp>
      <p:sp>
        <p:nvSpPr>
          <p:cNvPr id="18" name="Text 16"/>
          <p:cNvSpPr/>
          <p:nvPr/>
        </p:nvSpPr>
        <p:spPr>
          <a:xfrm>
            <a:off x="12984480" y="5760720"/>
            <a:ext cx="4389120" cy="914400"/>
          </a:xfrm>
          <a:prstGeom prst="rect">
            <a:avLst/>
          </a:prstGeom>
          <a:noFill/>
          <a:ln/>
        </p:spPr>
        <p:txBody>
          <a:bodyPr wrap="square" rtlCol="0" anchor="ctr"/>
          <a:lstStyle/>
          <a:p>
            <a:pPr algn="ctr" indent="0" marL="0">
              <a:buNone/>
            </a:pPr>
            <a:r>
              <a:rPr lang="en-US" sz="1600" dirty="0">
                <a:solidFill>
                  <a:srgbClr val="1A1A1A"/>
                </a:solidFill>
              </a:rPr>
              <a:t>56 years wild, fully traceable</a:t>
            </a:r>
            <a:endParaRPr lang="en-US" sz="1600" dirty="0"/>
          </a:p>
        </p:txBody>
      </p:sp>
      <p:sp>
        <p:nvSpPr>
          <p:cNvPr id="19" name="Shape 17"/>
          <p:cNvSpPr/>
          <p:nvPr/>
        </p:nvSpPr>
        <p:spPr>
          <a:xfrm>
            <a:off x="2743200" y="7680960"/>
            <a:ext cx="12801600" cy="1280160"/>
          </a:xfrm>
          <a:prstGeom prst="rect">
            <a:avLst/>
          </a:prstGeom>
          <a:solidFill>
            <a:srgbClr val="D4AF37"/>
          </a:solidFill>
          <a:ln/>
        </p:spPr>
      </p:sp>
      <p:sp>
        <p:nvSpPr>
          <p:cNvPr id="20" name="Text 18"/>
          <p:cNvSpPr/>
          <p:nvPr/>
        </p:nvSpPr>
        <p:spPr>
          <a:xfrm>
            <a:off x="2743200" y="7863840"/>
            <a:ext cx="12801600" cy="914400"/>
          </a:xfrm>
          <a:prstGeom prst="rect">
            <a:avLst/>
          </a:prstGeom>
          <a:noFill/>
          <a:ln/>
        </p:spPr>
        <p:txBody>
          <a:bodyPr wrap="square" rtlCol="0" anchor="ctr"/>
          <a:lstStyle/>
          <a:p>
            <a:pPr algn="ctr" indent="0" marL="0">
              <a:buNone/>
            </a:pPr>
            <a:r>
              <a:rPr lang="en-US" sz="2400" b="1" dirty="0">
                <a:solidFill>
                  <a:srgbClr val="FFFFFF"/>
                </a:solidFill>
              </a:rPr>
              <a:t>QR Code Strategy: Direct link to lab results on every package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Influencer Testing Approach</a:t>
            </a:r>
            <a:endParaRPr lang="en-US" sz="3800" dirty="0"/>
          </a:p>
        </p:txBody>
      </p:sp>
      <p:sp>
        <p:nvSpPr>
          <p:cNvPr id="4" name="Text 2"/>
          <p:cNvSpPr/>
          <p:nvPr/>
        </p:nvSpPr>
        <p:spPr>
          <a:xfrm>
            <a:off x="1280160" y="2011680"/>
            <a:ext cx="15727680" cy="548640"/>
          </a:xfrm>
          <a:prstGeom prst="rect">
            <a:avLst/>
          </a:prstGeom>
          <a:noFill/>
          <a:ln/>
        </p:spPr>
        <p:txBody>
          <a:bodyPr wrap="square" rtlCol="0" anchor="ctr"/>
          <a:lstStyle/>
          <a:p>
            <a:pPr indent="0" marL="0">
              <a:buNone/>
            </a:pPr>
            <a:r>
              <a:rPr lang="en-US" sz="2200" dirty="0">
                <a:solidFill>
                  <a:srgbClr val="003366"/>
                </a:solidFill>
              </a:rPr>
              <a:t>Phase 1: 5-8 Beauty Micro-Influencers (50K-150K followers)</a:t>
            </a:r>
            <a:endParaRPr lang="en-US" sz="2200" dirty="0"/>
          </a:p>
        </p:txBody>
      </p:sp>
      <p:sp>
        <p:nvSpPr>
          <p:cNvPr id="5" name="Text 3"/>
          <p:cNvSpPr/>
          <p:nvPr/>
        </p:nvSpPr>
        <p:spPr>
          <a:xfrm>
            <a:off x="1828800" y="2926080"/>
            <a:ext cx="14630400" cy="640080"/>
          </a:xfrm>
          <a:prstGeom prst="rect">
            <a:avLst/>
          </a:prstGeom>
          <a:noFill/>
          <a:ln/>
        </p:spPr>
        <p:txBody>
          <a:bodyPr wrap="square" rtlCol="0" anchor="ctr"/>
          <a:lstStyle/>
          <a:p>
            <a:pPr indent="0" marL="0">
              <a:buNone/>
            </a:pPr>
            <a:r>
              <a:rPr lang="en-US" sz="1800" dirty="0">
                <a:solidFill>
                  <a:srgbClr val="1A1A1A"/>
                </a:solidFill>
              </a:rPr>
              <a:t>▸ Give them BOTH products (wild + farmed) with lab results</a:t>
            </a:r>
            <a:endParaRPr lang="en-US" sz="1800" dirty="0"/>
          </a:p>
        </p:txBody>
      </p:sp>
      <p:sp>
        <p:nvSpPr>
          <p:cNvPr id="6" name="Text 4"/>
          <p:cNvSpPr/>
          <p:nvPr/>
        </p:nvSpPr>
        <p:spPr>
          <a:xfrm>
            <a:off x="1828800" y="3749040"/>
            <a:ext cx="14630400" cy="640080"/>
          </a:xfrm>
          <a:prstGeom prst="rect">
            <a:avLst/>
          </a:prstGeom>
          <a:noFill/>
          <a:ln/>
        </p:spPr>
        <p:txBody>
          <a:bodyPr wrap="square" rtlCol="0" anchor="ctr"/>
          <a:lstStyle/>
          <a:p>
            <a:pPr indent="0" marL="0">
              <a:buNone/>
            </a:pPr>
            <a:r>
              <a:rPr lang="en-US" sz="1800" dirty="0">
                <a:solidFill>
                  <a:srgbClr val="1A1A1A"/>
                </a:solidFill>
              </a:rPr>
              <a:t>▸ Message: "I tested both - here's the science"</a:t>
            </a:r>
            <a:endParaRPr lang="en-US" sz="1800" dirty="0"/>
          </a:p>
        </p:txBody>
      </p:sp>
      <p:sp>
        <p:nvSpPr>
          <p:cNvPr id="7" name="Text 5"/>
          <p:cNvSpPr/>
          <p:nvPr/>
        </p:nvSpPr>
        <p:spPr>
          <a:xfrm>
            <a:off x="1828800" y="4572000"/>
            <a:ext cx="14630400" cy="640080"/>
          </a:xfrm>
          <a:prstGeom prst="rect">
            <a:avLst/>
          </a:prstGeom>
          <a:noFill/>
          <a:ln/>
        </p:spPr>
        <p:txBody>
          <a:bodyPr wrap="square" rtlCol="0" anchor="ctr"/>
          <a:lstStyle/>
          <a:p>
            <a:pPr indent="0" marL="0">
              <a:buNone/>
            </a:pPr>
            <a:r>
              <a:rPr lang="en-US" sz="1800" dirty="0">
                <a:solidFill>
                  <a:srgbClr val="1A1A1A"/>
                </a:solidFill>
              </a:rPr>
              <a:t>▸ Focus: Hormone-free + measurable beauty benefits</a:t>
            </a:r>
            <a:endParaRPr lang="en-US" sz="1800" dirty="0"/>
          </a:p>
        </p:txBody>
      </p:sp>
      <p:sp>
        <p:nvSpPr>
          <p:cNvPr id="8" name="Text 6"/>
          <p:cNvSpPr/>
          <p:nvPr/>
        </p:nvSpPr>
        <p:spPr>
          <a:xfrm>
            <a:off x="1828800" y="5394960"/>
            <a:ext cx="14630400" cy="640080"/>
          </a:xfrm>
          <a:prstGeom prst="rect">
            <a:avLst/>
          </a:prstGeom>
          <a:noFill/>
          <a:ln/>
        </p:spPr>
        <p:txBody>
          <a:bodyPr wrap="square" rtlCol="0" anchor="ctr"/>
          <a:lstStyle/>
          <a:p>
            <a:pPr indent="0" marL="0">
              <a:buNone/>
            </a:pPr>
            <a:r>
              <a:rPr lang="en-US" sz="1800" dirty="0">
                <a:solidFill>
                  <a:srgbClr val="1A1A1A"/>
                </a:solidFill>
              </a:rPr>
              <a:t>▸ Content format: Before/after, side-by-side comparison</a:t>
            </a:r>
            <a:endParaRPr lang="en-US" sz="1800" dirty="0"/>
          </a:p>
        </p:txBody>
      </p:sp>
      <p:sp>
        <p:nvSpPr>
          <p:cNvPr id="9" name="Text 7"/>
          <p:cNvSpPr/>
          <p:nvPr/>
        </p:nvSpPr>
        <p:spPr>
          <a:xfrm>
            <a:off x="1828800" y="6217920"/>
            <a:ext cx="14630400" cy="640080"/>
          </a:xfrm>
          <a:prstGeom prst="rect">
            <a:avLst/>
          </a:prstGeom>
          <a:noFill/>
          <a:ln/>
        </p:spPr>
        <p:txBody>
          <a:bodyPr wrap="square" rtlCol="0" anchor="ctr"/>
          <a:lstStyle/>
          <a:p>
            <a:pPr indent="0" marL="0">
              <a:buNone/>
            </a:pPr>
            <a:r>
              <a:rPr lang="en-US" sz="1800" dirty="0">
                <a:solidFill>
                  <a:srgbClr val="1A1A1A"/>
                </a:solidFill>
              </a:rPr>
              <a:t>▸ Authenticity: Let them share genuine findings</a:t>
            </a:r>
            <a:endParaRPr lang="en-US" sz="1800" dirty="0"/>
          </a:p>
        </p:txBody>
      </p:sp>
      <p:sp>
        <p:nvSpPr>
          <p:cNvPr id="10" name="Shape 8"/>
          <p:cNvSpPr/>
          <p:nvPr/>
        </p:nvSpPr>
        <p:spPr>
          <a:xfrm>
            <a:off x="1828800" y="7132320"/>
            <a:ext cx="14630400" cy="1097280"/>
          </a:xfrm>
          <a:prstGeom prst="rect">
            <a:avLst/>
          </a:prstGeom>
          <a:solidFill>
            <a:srgbClr val="D4EDDA"/>
          </a:solidFill>
          <a:ln w="50800">
            <a:solidFill>
              <a:srgbClr val="28A745"/>
            </a:solidFill>
            <a:prstDash val="solid"/>
          </a:ln>
        </p:spPr>
      </p:sp>
      <p:sp>
        <p:nvSpPr>
          <p:cNvPr id="11" name="Text 9"/>
          <p:cNvSpPr/>
          <p:nvPr/>
        </p:nvSpPr>
        <p:spPr>
          <a:xfrm>
            <a:off x="2194560" y="7315200"/>
            <a:ext cx="13898880" cy="731520"/>
          </a:xfrm>
          <a:prstGeom prst="rect">
            <a:avLst/>
          </a:prstGeom>
          <a:noFill/>
          <a:ln/>
        </p:spPr>
        <p:txBody>
          <a:bodyPr wrap="square" rtlCol="0" anchor="ctr"/>
          <a:lstStyle/>
          <a:p>
            <a:pPr algn="ctr" indent="0" marL="0">
              <a:buNone/>
            </a:pPr>
            <a:r>
              <a:rPr lang="en-US" sz="2000" b="1" dirty="0">
                <a:solidFill>
                  <a:srgbClr val="155724"/>
                </a:solidFill>
              </a:rPr>
              <a:t>Success Metric: &gt;5% engagement on differentiation posts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Market Positioning Strategy</a:t>
            </a:r>
            <a:endParaRPr lang="en-US" sz="3800" dirty="0"/>
          </a:p>
        </p:txBody>
      </p:sp>
      <p:sp>
        <p:nvSpPr>
          <p:cNvPr id="4" name="Shape 2"/>
          <p:cNvSpPr/>
          <p:nvPr/>
        </p:nvSpPr>
        <p:spPr>
          <a:xfrm>
            <a:off x="914400" y="2194560"/>
            <a:ext cx="8046720" cy="3291840"/>
          </a:xfrm>
          <a:prstGeom prst="rect">
            <a:avLst/>
          </a:prstGeom>
          <a:solidFill>
            <a:srgbClr val="FFEBEE"/>
          </a:solidFill>
          <a:ln w="76200">
            <a:solidFill>
              <a:srgbClr val="DC3545"/>
            </a:solidFill>
            <a:prstDash val="solid"/>
          </a:ln>
        </p:spPr>
      </p:sp>
      <p:sp>
        <p:nvSpPr>
          <p:cNvPr id="5" name="Text 3"/>
          <p:cNvSpPr/>
          <p:nvPr/>
        </p:nvSpPr>
        <p:spPr>
          <a:xfrm>
            <a:off x="1280160" y="2468880"/>
            <a:ext cx="7315200" cy="640080"/>
          </a:xfrm>
          <a:prstGeom prst="rect">
            <a:avLst/>
          </a:prstGeom>
          <a:noFill/>
          <a:ln/>
        </p:spPr>
        <p:txBody>
          <a:bodyPr wrap="square" rtlCol="0" anchor="ctr"/>
          <a:lstStyle/>
          <a:p>
            <a:pPr algn="ctr" indent="0" marL="0">
              <a:buNone/>
            </a:pPr>
            <a:r>
              <a:rPr lang="en-US" sz="2800" b="1" dirty="0">
                <a:solidFill>
                  <a:srgbClr val="DC3545"/>
                </a:solidFill>
              </a:rPr>
              <a:t>STOP ✗</a:t>
            </a:r>
            <a:endParaRPr lang="en-US" sz="2800" dirty="0"/>
          </a:p>
        </p:txBody>
      </p:sp>
      <p:sp>
        <p:nvSpPr>
          <p:cNvPr id="6" name="Text 4"/>
          <p:cNvSpPr/>
          <p:nvPr/>
        </p:nvSpPr>
        <p:spPr>
          <a:xfrm>
            <a:off x="1645920" y="3383280"/>
            <a:ext cx="6583680" cy="1828800"/>
          </a:xfrm>
          <a:prstGeom prst="rect">
            <a:avLst/>
          </a:prstGeom>
          <a:noFill/>
          <a:ln/>
        </p:spPr>
        <p:txBody>
          <a:bodyPr wrap="square" rtlCol="0" anchor="ctr"/>
          <a:lstStyle/>
          <a:p>
            <a:pPr algn="ctr" indent="0" marL="0">
              <a:buNone/>
            </a:pPr>
            <a:r>
              <a:rPr lang="en-US" sz="1800" dirty="0">
                <a:solidFill>
                  <a:srgbClr val="DC3545"/>
                </a:solidFill>
              </a:rPr>
              <a:t>Fighting in seafood aisle</a:t>
            </a:r>
            <a:endParaRPr lang="en-US" sz="1800" dirty="0"/>
          </a:p>
          <a:p>
            <a:pPr algn="ctr" indent="0" marL="0">
              <a:buNone/>
            </a:pPr>
            <a:r>
              <a:rPr lang="en-US" sz="1800" dirty="0">
                <a:solidFill>
                  <a:srgbClr val="DC3545"/>
                </a:solidFill>
              </a:rPr>
              <a:t>for "premium abalone"</a:t>
            </a:r>
            <a:endParaRPr lang="en-US" sz="1800" dirty="0"/>
          </a:p>
          <a:p>
            <a:pPr algn="ctr" indent="0" marL="0">
              <a:buNone/>
            </a:pPr>
            <a:endParaRPr lang="en-US" sz="1800" dirty="0"/>
          </a:p>
          <a:p>
            <a:pPr algn="ctr" indent="0" marL="0">
              <a:buNone/>
            </a:pPr>
            <a:r>
              <a:rPr lang="en-US" sz="1800" dirty="0">
                <a:solidFill>
                  <a:srgbClr val="DC3545"/>
                </a:solidFill>
              </a:rPr>
              <a:t>Competing on price</a:t>
            </a:r>
            <a:endParaRPr lang="en-US" sz="1800" dirty="0"/>
          </a:p>
          <a:p>
            <a:pPr algn="ctr" indent="0" marL="0">
              <a:buNone/>
            </a:pPr>
            <a:r>
              <a:rPr lang="en-US" sz="1800" dirty="0">
                <a:solidFill>
                  <a:srgbClr val="DC3545"/>
                </a:solidFill>
              </a:rPr>
              <a:t>against farming scale</a:t>
            </a:r>
            <a:endParaRPr lang="en-US" sz="1800" dirty="0"/>
          </a:p>
        </p:txBody>
      </p:sp>
      <p:sp>
        <p:nvSpPr>
          <p:cNvPr id="7" name="Shape 5"/>
          <p:cNvSpPr/>
          <p:nvPr/>
        </p:nvSpPr>
        <p:spPr>
          <a:xfrm>
            <a:off x="9326880" y="2194560"/>
            <a:ext cx="8046720" cy="3291840"/>
          </a:xfrm>
          <a:prstGeom prst="rect">
            <a:avLst/>
          </a:prstGeom>
          <a:solidFill>
            <a:srgbClr val="E8F5E9"/>
          </a:solidFill>
          <a:ln w="76200">
            <a:solidFill>
              <a:srgbClr val="28A745"/>
            </a:solidFill>
            <a:prstDash val="solid"/>
          </a:ln>
        </p:spPr>
      </p:sp>
      <p:sp>
        <p:nvSpPr>
          <p:cNvPr id="8" name="Text 6"/>
          <p:cNvSpPr/>
          <p:nvPr/>
        </p:nvSpPr>
        <p:spPr>
          <a:xfrm>
            <a:off x="9692640" y="2468880"/>
            <a:ext cx="7315200" cy="640080"/>
          </a:xfrm>
          <a:prstGeom prst="rect">
            <a:avLst/>
          </a:prstGeom>
          <a:noFill/>
          <a:ln/>
        </p:spPr>
        <p:txBody>
          <a:bodyPr wrap="square" rtlCol="0" anchor="ctr"/>
          <a:lstStyle/>
          <a:p>
            <a:pPr algn="ctr" indent="0" marL="0">
              <a:buNone/>
            </a:pPr>
            <a:r>
              <a:rPr lang="en-US" sz="2800" b="1" dirty="0">
                <a:solidFill>
                  <a:srgbClr val="28A745"/>
                </a:solidFill>
              </a:rPr>
              <a:t>START ✓</a:t>
            </a:r>
            <a:endParaRPr lang="en-US" sz="2800" dirty="0"/>
          </a:p>
        </p:txBody>
      </p:sp>
      <p:sp>
        <p:nvSpPr>
          <p:cNvPr id="9" name="Text 7"/>
          <p:cNvSpPr/>
          <p:nvPr/>
        </p:nvSpPr>
        <p:spPr>
          <a:xfrm>
            <a:off x="10058400" y="3383280"/>
            <a:ext cx="6583680" cy="1828800"/>
          </a:xfrm>
          <a:prstGeom prst="rect">
            <a:avLst/>
          </a:prstGeom>
          <a:noFill/>
          <a:ln/>
        </p:spPr>
        <p:txBody>
          <a:bodyPr wrap="square" rtlCol="0" anchor="ctr"/>
          <a:lstStyle/>
          <a:p>
            <a:pPr algn="ctr" indent="0" marL="0">
              <a:buNone/>
            </a:pPr>
            <a:r>
              <a:rPr lang="en-US" sz="1800" dirty="0">
                <a:solidFill>
                  <a:srgbClr val="28A745"/>
                </a:solidFill>
              </a:rPr>
              <a:t>Creating "Beauty Foods"</a:t>
            </a:r>
            <a:endParaRPr lang="en-US" sz="1800" dirty="0"/>
          </a:p>
          <a:p>
            <a:pPr algn="ctr" indent="0" marL="0">
              <a:buNone/>
            </a:pPr>
            <a:r>
              <a:rPr lang="en-US" sz="1800" dirty="0">
                <a:solidFill>
                  <a:srgbClr val="28A745"/>
                </a:solidFill>
              </a:rPr>
              <a:t>category</a:t>
            </a:r>
            <a:endParaRPr lang="en-US" sz="1800" dirty="0"/>
          </a:p>
          <a:p>
            <a:pPr algn="ctr" indent="0" marL="0">
              <a:buNone/>
            </a:pPr>
            <a:endParaRPr lang="en-US" sz="1800" dirty="0"/>
          </a:p>
          <a:p>
            <a:pPr algn="ctr" indent="0" marL="0">
              <a:buNone/>
            </a:pPr>
            <a:r>
              <a:rPr lang="en-US" sz="1800" dirty="0">
                <a:solidFill>
                  <a:srgbClr val="28A745"/>
                </a:solidFill>
              </a:rPr>
              <a:t>Retail placement near</a:t>
            </a:r>
            <a:endParaRPr lang="en-US" sz="1800" dirty="0"/>
          </a:p>
          <a:p>
            <a:pPr algn="ctr" indent="0" marL="0">
              <a:buNone/>
            </a:pPr>
            <a:r>
              <a:rPr lang="en-US" sz="1800" dirty="0">
                <a:solidFill>
                  <a:srgbClr val="28A745"/>
                </a:solidFill>
              </a:rPr>
              <a:t>collagen/supplements</a:t>
            </a:r>
            <a:endParaRPr lang="en-US" sz="1800" dirty="0"/>
          </a:p>
        </p:txBody>
      </p:sp>
      <p:sp>
        <p:nvSpPr>
          <p:cNvPr id="10" name="Text 8"/>
          <p:cNvSpPr/>
          <p:nvPr/>
        </p:nvSpPr>
        <p:spPr>
          <a:xfrm>
            <a:off x="1280160" y="6035040"/>
            <a:ext cx="15727680" cy="548640"/>
          </a:xfrm>
          <a:prstGeom prst="rect">
            <a:avLst/>
          </a:prstGeom>
          <a:noFill/>
          <a:ln/>
        </p:spPr>
        <p:txBody>
          <a:bodyPr wrap="square" rtlCol="0" anchor="ctr"/>
          <a:lstStyle/>
          <a:p>
            <a:pPr indent="0" marL="0">
              <a:buNone/>
            </a:pPr>
            <a:r>
              <a:rPr lang="en-US" sz="2200" b="1" dirty="0">
                <a:solidFill>
                  <a:srgbClr val="003366"/>
                </a:solidFill>
              </a:rPr>
              <a:t>Price Comparison Shift:</a:t>
            </a:r>
            <a:endParaRPr lang="en-US" sz="2200" dirty="0"/>
          </a:p>
        </p:txBody>
      </p:sp>
      <p:sp>
        <p:nvSpPr>
          <p:cNvPr id="11" name="Text 9"/>
          <p:cNvSpPr/>
          <p:nvPr/>
        </p:nvSpPr>
        <p:spPr>
          <a:xfrm>
            <a:off x="1828800" y="6766560"/>
            <a:ext cx="14630400" cy="1463040"/>
          </a:xfrm>
          <a:prstGeom prst="rect">
            <a:avLst/>
          </a:prstGeom>
          <a:noFill/>
          <a:ln/>
        </p:spPr>
        <p:txBody>
          <a:bodyPr wrap="square" rtlCol="0" anchor="ctr"/>
          <a:lstStyle/>
          <a:p>
            <a:pPr algn="ctr" indent="0" marL="0">
              <a:buNone/>
            </a:pPr>
            <a:r>
              <a:rPr lang="en-US" sz="2000" dirty="0">
                <a:solidFill>
                  <a:srgbClr val="1A1A1A"/>
                </a:solidFill>
              </a:rPr>
              <a:t>Not: Wild abalone ($60) vs Farmed abalone ($12)</a:t>
            </a:r>
            <a:endParaRPr lang="en-US" sz="2000" dirty="0"/>
          </a:p>
          <a:p>
            <a:pPr algn="ctr" indent="0" marL="0">
              <a:buNone/>
            </a:pPr>
            <a:endParaRPr lang="en-US" sz="2000" dirty="0"/>
          </a:p>
          <a:p>
            <a:pPr algn="ctr" indent="0" marL="0">
              <a:buNone/>
            </a:pPr>
            <a:r>
              <a:rPr lang="en-US" sz="2000" dirty="0">
                <a:solidFill>
                  <a:srgbClr val="1A1A1A"/>
                </a:solidFill>
              </a:rPr>
              <a:t>But: Wild abalone ($60) vs Collagen drink ($30-50/month)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Defense Against Price Competition</a:t>
            </a:r>
            <a:endParaRPr lang="en-US" sz="3800" dirty="0"/>
          </a:p>
        </p:txBody>
      </p:sp>
      <p:sp>
        <p:nvSpPr>
          <p:cNvPr id="4" name="Text 2"/>
          <p:cNvSpPr/>
          <p:nvPr/>
        </p:nvSpPr>
        <p:spPr>
          <a:xfrm>
            <a:off x="1828800" y="2011680"/>
            <a:ext cx="14630400" cy="731520"/>
          </a:xfrm>
          <a:prstGeom prst="rect">
            <a:avLst/>
          </a:prstGeom>
          <a:noFill/>
          <a:ln/>
        </p:spPr>
        <p:txBody>
          <a:bodyPr wrap="square" rtlCol="0" anchor="ctr"/>
          <a:lstStyle/>
          <a:p>
            <a:pPr indent="0" marL="0">
              <a:buNone/>
            </a:pPr>
            <a:r>
              <a:rPr lang="en-US" sz="2600" b="1" i="1" dirty="0">
                <a:solidFill>
                  <a:srgbClr val="003366"/>
                </a:solidFill>
              </a:rPr>
              <a:t>When they say: "Why pay more?"</a:t>
            </a:r>
            <a:endParaRPr lang="en-US" sz="2600" dirty="0"/>
          </a:p>
        </p:txBody>
      </p:sp>
      <p:sp>
        <p:nvSpPr>
          <p:cNvPr id="5" name="Shape 3"/>
          <p:cNvSpPr/>
          <p:nvPr/>
        </p:nvSpPr>
        <p:spPr>
          <a:xfrm>
            <a:off x="2743200" y="3291840"/>
            <a:ext cx="12801600" cy="914400"/>
          </a:xfrm>
          <a:prstGeom prst="rect">
            <a:avLst/>
          </a:prstGeom>
          <a:solidFill>
            <a:srgbClr val="28A745"/>
          </a:solidFill>
          <a:ln/>
        </p:spPr>
      </p:sp>
      <p:sp>
        <p:nvSpPr>
          <p:cNvPr id="6" name="Text 4"/>
          <p:cNvSpPr/>
          <p:nvPr/>
        </p:nvSpPr>
        <p:spPr>
          <a:xfrm>
            <a:off x="3108960" y="3383280"/>
            <a:ext cx="12070080" cy="731520"/>
          </a:xfrm>
          <a:prstGeom prst="rect">
            <a:avLst/>
          </a:prstGeom>
          <a:noFill/>
          <a:ln/>
        </p:spPr>
        <p:txBody>
          <a:bodyPr wrap="square" rtlCol="0" anchor="ctr"/>
          <a:lstStyle/>
          <a:p>
            <a:pPr algn="ctr" indent="0" marL="0">
              <a:buNone/>
            </a:pPr>
            <a:r>
              <a:rPr lang="en-US" sz="2000" b="1" dirty="0">
                <a:solidFill>
                  <a:srgbClr val="FFFFFF"/>
                </a:solidFill>
              </a:rPr>
              <a:t>"Same price point, different benefits"</a:t>
            </a:r>
            <a:endParaRPr lang="en-US" sz="2000" dirty="0"/>
          </a:p>
        </p:txBody>
      </p:sp>
      <p:sp>
        <p:nvSpPr>
          <p:cNvPr id="7" name="Shape 5"/>
          <p:cNvSpPr/>
          <p:nvPr/>
        </p:nvSpPr>
        <p:spPr>
          <a:xfrm>
            <a:off x="2743200" y="4389120"/>
            <a:ext cx="12801600" cy="914400"/>
          </a:xfrm>
          <a:prstGeom prst="rect">
            <a:avLst/>
          </a:prstGeom>
          <a:solidFill>
            <a:srgbClr val="28A745"/>
          </a:solidFill>
          <a:ln/>
        </p:spPr>
      </p:sp>
      <p:sp>
        <p:nvSpPr>
          <p:cNvPr id="8" name="Text 6"/>
          <p:cNvSpPr/>
          <p:nvPr/>
        </p:nvSpPr>
        <p:spPr>
          <a:xfrm>
            <a:off x="3108960" y="4480560"/>
            <a:ext cx="12070080" cy="731520"/>
          </a:xfrm>
          <a:prstGeom prst="rect">
            <a:avLst/>
          </a:prstGeom>
          <a:noFill/>
          <a:ln/>
        </p:spPr>
        <p:txBody>
          <a:bodyPr wrap="square" rtlCol="0" anchor="ctr"/>
          <a:lstStyle/>
          <a:p>
            <a:pPr algn="ctr" indent="0" marL="0">
              <a:buNone/>
            </a:pPr>
            <a:r>
              <a:rPr lang="en-US" sz="2000" b="1" dirty="0">
                <a:solidFill>
                  <a:srgbClr val="FFFFFF"/>
                </a:solidFill>
              </a:rPr>
              <a:t>"Protein vs Beauty - your choice"</a:t>
            </a:r>
            <a:endParaRPr lang="en-US" sz="2000" dirty="0"/>
          </a:p>
        </p:txBody>
      </p:sp>
      <p:sp>
        <p:nvSpPr>
          <p:cNvPr id="9" name="Shape 7"/>
          <p:cNvSpPr/>
          <p:nvPr/>
        </p:nvSpPr>
        <p:spPr>
          <a:xfrm>
            <a:off x="2743200" y="5486400"/>
            <a:ext cx="12801600" cy="914400"/>
          </a:xfrm>
          <a:prstGeom prst="rect">
            <a:avLst/>
          </a:prstGeom>
          <a:solidFill>
            <a:srgbClr val="28A745"/>
          </a:solidFill>
          <a:ln/>
        </p:spPr>
      </p:sp>
      <p:sp>
        <p:nvSpPr>
          <p:cNvPr id="10" name="Text 8"/>
          <p:cNvSpPr/>
          <p:nvPr/>
        </p:nvSpPr>
        <p:spPr>
          <a:xfrm>
            <a:off x="3108960" y="5577840"/>
            <a:ext cx="12070080" cy="731520"/>
          </a:xfrm>
          <a:prstGeom prst="rect">
            <a:avLst/>
          </a:prstGeom>
          <a:noFill/>
          <a:ln/>
        </p:spPr>
        <p:txBody>
          <a:bodyPr wrap="square" rtlCol="0" anchor="ctr"/>
          <a:lstStyle/>
          <a:p>
            <a:pPr algn="ctr" indent="0" marL="0">
              <a:buNone/>
            </a:pPr>
            <a:r>
              <a:rPr lang="en-US" sz="2000" b="1" dirty="0">
                <a:solidFill>
                  <a:srgbClr val="FFFFFF"/>
                </a:solidFill>
              </a:rPr>
              <a:t>"Lab results don't lie - scan the QR code"</a:t>
            </a:r>
            <a:endParaRPr lang="en-US" sz="2000" dirty="0"/>
          </a:p>
        </p:txBody>
      </p:sp>
      <p:sp>
        <p:nvSpPr>
          <p:cNvPr id="11" name="Text 9"/>
          <p:cNvSpPr/>
          <p:nvPr/>
        </p:nvSpPr>
        <p:spPr>
          <a:xfrm>
            <a:off x="1828800" y="6583680"/>
            <a:ext cx="14630400" cy="548640"/>
          </a:xfrm>
          <a:prstGeom prst="rect">
            <a:avLst/>
          </a:prstGeom>
          <a:noFill/>
          <a:ln/>
        </p:spPr>
        <p:txBody>
          <a:bodyPr wrap="square" rtlCol="0" anchor="ctr"/>
          <a:lstStyle/>
          <a:p>
            <a:pPr indent="0" marL="0">
              <a:buNone/>
            </a:pPr>
            <a:r>
              <a:rPr lang="en-US" sz="2000" b="1" dirty="0">
                <a:solidFill>
                  <a:srgbClr val="003366"/>
                </a:solidFill>
              </a:rPr>
              <a:t>Simple Comparison:</a:t>
            </a:r>
            <a:endParaRPr lang="en-US" sz="2000" dirty="0"/>
          </a:p>
        </p:txBody>
      </p:sp>
      <p:sp>
        <p:nvSpPr>
          <p:cNvPr id="12" name="Shape 10"/>
          <p:cNvSpPr/>
          <p:nvPr/>
        </p:nvSpPr>
        <p:spPr>
          <a:xfrm>
            <a:off x="1828800" y="7315200"/>
            <a:ext cx="14630400" cy="731520"/>
          </a:xfrm>
          <a:prstGeom prst="rect">
            <a:avLst/>
          </a:prstGeom>
          <a:solidFill>
            <a:srgbClr val="003366"/>
          </a:solidFill>
          <a:ln/>
        </p:spPr>
      </p:sp>
      <p:sp>
        <p:nvSpPr>
          <p:cNvPr id="13" name="Text 11"/>
          <p:cNvSpPr/>
          <p:nvPr/>
        </p:nvSpPr>
        <p:spPr>
          <a:xfrm>
            <a:off x="1828800" y="7406640"/>
            <a:ext cx="4882896" cy="548640"/>
          </a:xfrm>
          <a:prstGeom prst="rect">
            <a:avLst/>
          </a:prstGeom>
          <a:noFill/>
          <a:ln/>
        </p:spPr>
        <p:txBody>
          <a:bodyPr wrap="square" rtlCol="0" anchor="ctr"/>
          <a:lstStyle/>
          <a:p>
            <a:pPr algn="ctr" indent="0" marL="0">
              <a:buNone/>
            </a:pPr>
            <a:endParaRPr lang="en-US" sz="1600" dirty="0"/>
          </a:p>
        </p:txBody>
      </p:sp>
      <p:sp>
        <p:nvSpPr>
          <p:cNvPr id="14" name="Text 12"/>
          <p:cNvSpPr/>
          <p:nvPr/>
        </p:nvSpPr>
        <p:spPr>
          <a:xfrm>
            <a:off x="6711696" y="7406640"/>
            <a:ext cx="4882896" cy="548640"/>
          </a:xfrm>
          <a:prstGeom prst="rect">
            <a:avLst/>
          </a:prstGeom>
          <a:noFill/>
          <a:ln/>
        </p:spPr>
        <p:txBody>
          <a:bodyPr wrap="square" rtlCol="0" anchor="ctr"/>
          <a:lstStyle/>
          <a:p>
            <a:pPr algn="ctr" indent="0" marL="0">
              <a:buNone/>
            </a:pPr>
            <a:r>
              <a:rPr lang="en-US" sz="1600" b="1" dirty="0">
                <a:solidFill>
                  <a:srgbClr val="FFFFFF"/>
                </a:solidFill>
              </a:rPr>
              <a:t>Chinese Farmed</a:t>
            </a:r>
            <a:endParaRPr lang="en-US" sz="1600" dirty="0"/>
          </a:p>
        </p:txBody>
      </p:sp>
      <p:sp>
        <p:nvSpPr>
          <p:cNvPr id="15" name="Text 13"/>
          <p:cNvSpPr/>
          <p:nvPr/>
        </p:nvSpPr>
        <p:spPr>
          <a:xfrm>
            <a:off x="11594592" y="7406640"/>
            <a:ext cx="4882896" cy="548640"/>
          </a:xfrm>
          <a:prstGeom prst="rect">
            <a:avLst/>
          </a:prstGeom>
          <a:noFill/>
          <a:ln/>
        </p:spPr>
        <p:txBody>
          <a:bodyPr wrap="square" rtlCol="0" anchor="ctr"/>
          <a:lstStyle/>
          <a:p>
            <a:pPr algn="ctr" indent="0" marL="0">
              <a:buNone/>
            </a:pPr>
            <a:r>
              <a:rPr lang="en-US" sz="1600" b="1" dirty="0">
                <a:solidFill>
                  <a:srgbClr val="FFFFFF"/>
                </a:solidFill>
              </a:rPr>
              <a:t>Wild EX1191</a:t>
            </a:r>
            <a:endParaRPr lang="en-US" sz="1600" dirty="0"/>
          </a:p>
        </p:txBody>
      </p:sp>
      <p:sp>
        <p:nvSpPr>
          <p:cNvPr id="16" name="Shape 14"/>
          <p:cNvSpPr/>
          <p:nvPr/>
        </p:nvSpPr>
        <p:spPr>
          <a:xfrm>
            <a:off x="1828800" y="8046720"/>
            <a:ext cx="14630400" cy="640080"/>
          </a:xfrm>
          <a:prstGeom prst="rect">
            <a:avLst/>
          </a:prstGeom>
          <a:solidFill>
            <a:srgbClr val="FFFFFF"/>
          </a:solidFill>
          <a:ln w="12700">
            <a:solidFill>
              <a:srgbClr val="CCCCCC"/>
            </a:solidFill>
            <a:prstDash val="solid"/>
          </a:ln>
        </p:spPr>
      </p:sp>
      <p:sp>
        <p:nvSpPr>
          <p:cNvPr id="17" name="Text 15"/>
          <p:cNvSpPr/>
          <p:nvPr/>
        </p:nvSpPr>
        <p:spPr>
          <a:xfrm>
            <a:off x="1828800" y="8138160"/>
            <a:ext cx="4882896" cy="457200"/>
          </a:xfrm>
          <a:prstGeom prst="rect">
            <a:avLst/>
          </a:prstGeom>
          <a:noFill/>
          <a:ln/>
        </p:spPr>
        <p:txBody>
          <a:bodyPr wrap="square" rtlCol="0" anchor="ctr"/>
          <a:lstStyle/>
          <a:p>
            <a:pPr algn="ctr" indent="0" marL="0">
              <a:buNone/>
            </a:pPr>
            <a:r>
              <a:rPr lang="en-US" sz="1400" dirty="0">
                <a:solidFill>
                  <a:srgbClr val="1A1A1A"/>
                </a:solidFill>
              </a:rPr>
              <a:t>Price</a:t>
            </a:r>
            <a:endParaRPr lang="en-US" sz="1400" dirty="0"/>
          </a:p>
        </p:txBody>
      </p:sp>
      <p:sp>
        <p:nvSpPr>
          <p:cNvPr id="18" name="Text 16"/>
          <p:cNvSpPr/>
          <p:nvPr/>
        </p:nvSpPr>
        <p:spPr>
          <a:xfrm>
            <a:off x="6711696" y="8138160"/>
            <a:ext cx="4882896" cy="457200"/>
          </a:xfrm>
          <a:prstGeom prst="rect">
            <a:avLst/>
          </a:prstGeom>
          <a:noFill/>
          <a:ln/>
        </p:spPr>
        <p:txBody>
          <a:bodyPr wrap="square" rtlCol="0" anchor="ctr"/>
          <a:lstStyle/>
          <a:p>
            <a:pPr algn="ctr" indent="0" marL="0">
              <a:buNone/>
            </a:pPr>
            <a:r>
              <a:rPr lang="en-US" sz="1400" b="1" dirty="0">
                <a:solidFill>
                  <a:srgbClr val="DC3545"/>
                </a:solidFill>
              </a:rPr>
              <a:t>$$</a:t>
            </a:r>
            <a:endParaRPr lang="en-US" sz="1400" dirty="0"/>
          </a:p>
        </p:txBody>
      </p:sp>
      <p:sp>
        <p:nvSpPr>
          <p:cNvPr id="19" name="Text 17"/>
          <p:cNvSpPr/>
          <p:nvPr/>
        </p:nvSpPr>
        <p:spPr>
          <a:xfrm>
            <a:off x="11594592" y="8138160"/>
            <a:ext cx="4882896" cy="457200"/>
          </a:xfrm>
          <a:prstGeom prst="rect">
            <a:avLst/>
          </a:prstGeom>
          <a:noFill/>
          <a:ln/>
        </p:spPr>
        <p:txBody>
          <a:bodyPr wrap="square" rtlCol="0" anchor="ctr"/>
          <a:lstStyle/>
          <a:p>
            <a:pPr algn="ctr" indent="0" marL="0">
              <a:buNone/>
            </a:pPr>
            <a:r>
              <a:rPr lang="en-US" sz="1400" b="1" dirty="0">
                <a:solidFill>
                  <a:srgbClr val="28A745"/>
                </a:solidFill>
              </a:rPr>
              <a:t>$$</a:t>
            </a:r>
            <a:endParaRPr lang="en-US" sz="1400" dirty="0"/>
          </a:p>
        </p:txBody>
      </p:sp>
      <p:sp>
        <p:nvSpPr>
          <p:cNvPr id="20" name="Shape 18"/>
          <p:cNvSpPr/>
          <p:nvPr/>
        </p:nvSpPr>
        <p:spPr>
          <a:xfrm>
            <a:off x="1828800" y="8686800"/>
            <a:ext cx="14630400" cy="640080"/>
          </a:xfrm>
          <a:prstGeom prst="rect">
            <a:avLst/>
          </a:prstGeom>
          <a:solidFill>
            <a:srgbClr val="E8E8E8"/>
          </a:solidFill>
          <a:ln w="12700">
            <a:solidFill>
              <a:srgbClr val="CCCCCC"/>
            </a:solidFill>
            <a:prstDash val="solid"/>
          </a:ln>
        </p:spPr>
      </p:sp>
      <p:sp>
        <p:nvSpPr>
          <p:cNvPr id="21" name="Text 19"/>
          <p:cNvSpPr/>
          <p:nvPr/>
        </p:nvSpPr>
        <p:spPr>
          <a:xfrm>
            <a:off x="1828800" y="8778240"/>
            <a:ext cx="4882896" cy="457200"/>
          </a:xfrm>
          <a:prstGeom prst="rect">
            <a:avLst/>
          </a:prstGeom>
          <a:noFill/>
          <a:ln/>
        </p:spPr>
        <p:txBody>
          <a:bodyPr wrap="square" rtlCol="0" anchor="ctr"/>
          <a:lstStyle/>
          <a:p>
            <a:pPr algn="ctr" indent="0" marL="0">
              <a:buNone/>
            </a:pPr>
            <a:r>
              <a:rPr lang="en-US" sz="1400" dirty="0">
                <a:solidFill>
                  <a:srgbClr val="1A1A1A"/>
                </a:solidFill>
              </a:rPr>
              <a:t>Protein</a:t>
            </a:r>
            <a:endParaRPr lang="en-US" sz="1400" dirty="0"/>
          </a:p>
        </p:txBody>
      </p:sp>
      <p:sp>
        <p:nvSpPr>
          <p:cNvPr id="22" name="Text 20"/>
          <p:cNvSpPr/>
          <p:nvPr/>
        </p:nvSpPr>
        <p:spPr>
          <a:xfrm>
            <a:off x="6711696" y="8778240"/>
            <a:ext cx="4882896" cy="457200"/>
          </a:xfrm>
          <a:prstGeom prst="rect">
            <a:avLst/>
          </a:prstGeom>
          <a:noFill/>
          <a:ln/>
        </p:spPr>
        <p:txBody>
          <a:bodyPr wrap="square" rtlCol="0" anchor="ctr"/>
          <a:lstStyle/>
          <a:p>
            <a:pPr algn="ctr" indent="0" marL="0">
              <a:buNone/>
            </a:pPr>
            <a:r>
              <a:rPr lang="en-US" sz="1400" b="1" dirty="0">
                <a:solidFill>
                  <a:srgbClr val="DC3545"/>
                </a:solidFill>
              </a:rPr>
              <a:t>✓</a:t>
            </a:r>
            <a:endParaRPr lang="en-US" sz="1400" dirty="0"/>
          </a:p>
        </p:txBody>
      </p:sp>
      <p:sp>
        <p:nvSpPr>
          <p:cNvPr id="23" name="Text 21"/>
          <p:cNvSpPr/>
          <p:nvPr/>
        </p:nvSpPr>
        <p:spPr>
          <a:xfrm>
            <a:off x="11594592" y="8778240"/>
            <a:ext cx="4882896" cy="457200"/>
          </a:xfrm>
          <a:prstGeom prst="rect">
            <a:avLst/>
          </a:prstGeom>
          <a:noFill/>
          <a:ln/>
        </p:spPr>
        <p:txBody>
          <a:bodyPr wrap="square" rtlCol="0" anchor="ctr"/>
          <a:lstStyle/>
          <a:p>
            <a:pPr algn="ctr" indent="0" marL="0">
              <a:buNone/>
            </a:pPr>
            <a:r>
              <a:rPr lang="en-US" sz="1400" b="1" dirty="0">
                <a:solidFill>
                  <a:srgbClr val="28A745"/>
                </a:solidFill>
              </a:rPr>
              <a:t>✓</a:t>
            </a:r>
            <a:endParaRPr lang="en-US" sz="1400" dirty="0"/>
          </a:p>
        </p:txBody>
      </p:sp>
      <p:sp>
        <p:nvSpPr>
          <p:cNvPr id="24" name="Shape 22"/>
          <p:cNvSpPr/>
          <p:nvPr/>
        </p:nvSpPr>
        <p:spPr>
          <a:xfrm>
            <a:off x="1828800" y="9326880"/>
            <a:ext cx="14630400" cy="640080"/>
          </a:xfrm>
          <a:prstGeom prst="rect">
            <a:avLst/>
          </a:prstGeom>
          <a:solidFill>
            <a:srgbClr val="FFFFFF"/>
          </a:solidFill>
          <a:ln w="12700">
            <a:solidFill>
              <a:srgbClr val="CCCCCC"/>
            </a:solidFill>
            <a:prstDash val="solid"/>
          </a:ln>
        </p:spPr>
      </p:sp>
      <p:sp>
        <p:nvSpPr>
          <p:cNvPr id="25" name="Text 23"/>
          <p:cNvSpPr/>
          <p:nvPr/>
        </p:nvSpPr>
        <p:spPr>
          <a:xfrm>
            <a:off x="1828800" y="9418320"/>
            <a:ext cx="4882896" cy="457200"/>
          </a:xfrm>
          <a:prstGeom prst="rect">
            <a:avLst/>
          </a:prstGeom>
          <a:noFill/>
          <a:ln/>
        </p:spPr>
        <p:txBody>
          <a:bodyPr wrap="square" rtlCol="0" anchor="ctr"/>
          <a:lstStyle/>
          <a:p>
            <a:pPr algn="ctr" indent="0" marL="0">
              <a:buNone/>
            </a:pPr>
            <a:r>
              <a:rPr lang="en-US" sz="1400" dirty="0">
                <a:solidFill>
                  <a:srgbClr val="1A1A1A"/>
                </a:solidFill>
              </a:rPr>
              <a:t>Hormones</a:t>
            </a:r>
            <a:endParaRPr lang="en-US" sz="1400" dirty="0"/>
          </a:p>
        </p:txBody>
      </p:sp>
      <p:sp>
        <p:nvSpPr>
          <p:cNvPr id="26" name="Text 24"/>
          <p:cNvSpPr/>
          <p:nvPr/>
        </p:nvSpPr>
        <p:spPr>
          <a:xfrm>
            <a:off x="6711696" y="9418320"/>
            <a:ext cx="4882896" cy="457200"/>
          </a:xfrm>
          <a:prstGeom prst="rect">
            <a:avLst/>
          </a:prstGeom>
          <a:noFill/>
          <a:ln/>
        </p:spPr>
        <p:txBody>
          <a:bodyPr wrap="square" rtlCol="0" anchor="ctr"/>
          <a:lstStyle/>
          <a:p>
            <a:pPr algn="ctr" indent="0" marL="0">
              <a:buNone/>
            </a:pPr>
            <a:r>
              <a:rPr lang="en-US" sz="1400" b="1" dirty="0">
                <a:solidFill>
                  <a:srgbClr val="DC3545"/>
                </a:solidFill>
              </a:rPr>
              <a:t>✗ YES</a:t>
            </a:r>
            <a:endParaRPr lang="en-US" sz="1400" dirty="0"/>
          </a:p>
        </p:txBody>
      </p:sp>
      <p:sp>
        <p:nvSpPr>
          <p:cNvPr id="27" name="Text 25"/>
          <p:cNvSpPr/>
          <p:nvPr/>
        </p:nvSpPr>
        <p:spPr>
          <a:xfrm>
            <a:off x="11594592" y="9418320"/>
            <a:ext cx="4882896" cy="457200"/>
          </a:xfrm>
          <a:prstGeom prst="rect">
            <a:avLst/>
          </a:prstGeom>
          <a:noFill/>
          <a:ln/>
        </p:spPr>
        <p:txBody>
          <a:bodyPr wrap="square" rtlCol="0" anchor="ctr"/>
          <a:lstStyle/>
          <a:p>
            <a:pPr algn="ctr" indent="0" marL="0">
              <a:buNone/>
            </a:pPr>
            <a:r>
              <a:rPr lang="en-US" sz="1400" b="1" dirty="0">
                <a:solidFill>
                  <a:srgbClr val="28A745"/>
                </a:solidFill>
              </a:rPr>
              <a:t>✓ NO</a:t>
            </a:r>
            <a:endParaRPr lang="en-US" sz="1400" dirty="0"/>
          </a:p>
        </p:txBody>
      </p:sp>
      <p:sp>
        <p:nvSpPr>
          <p:cNvPr id="28" name="Shape 26"/>
          <p:cNvSpPr/>
          <p:nvPr/>
        </p:nvSpPr>
        <p:spPr>
          <a:xfrm>
            <a:off x="1828800" y="9966960"/>
            <a:ext cx="14630400" cy="640080"/>
          </a:xfrm>
          <a:prstGeom prst="rect">
            <a:avLst/>
          </a:prstGeom>
          <a:solidFill>
            <a:srgbClr val="E8E8E8"/>
          </a:solidFill>
          <a:ln w="12700">
            <a:solidFill>
              <a:srgbClr val="CCCCCC"/>
            </a:solidFill>
            <a:prstDash val="solid"/>
          </a:ln>
        </p:spPr>
      </p:sp>
      <p:sp>
        <p:nvSpPr>
          <p:cNvPr id="29" name="Text 27"/>
          <p:cNvSpPr/>
          <p:nvPr/>
        </p:nvSpPr>
        <p:spPr>
          <a:xfrm>
            <a:off x="1828800" y="10058400"/>
            <a:ext cx="4882896" cy="457200"/>
          </a:xfrm>
          <a:prstGeom prst="rect">
            <a:avLst/>
          </a:prstGeom>
          <a:noFill/>
          <a:ln/>
        </p:spPr>
        <p:txBody>
          <a:bodyPr wrap="square" rtlCol="0" anchor="ctr"/>
          <a:lstStyle/>
          <a:p>
            <a:pPr algn="ctr" indent="0" marL="0">
              <a:buNone/>
            </a:pPr>
            <a:r>
              <a:rPr lang="en-US" sz="1400" dirty="0">
                <a:solidFill>
                  <a:srgbClr val="1A1A1A"/>
                </a:solidFill>
              </a:rPr>
              <a:t>Beauty Compounds</a:t>
            </a:r>
            <a:endParaRPr lang="en-US" sz="1400" dirty="0"/>
          </a:p>
        </p:txBody>
      </p:sp>
      <p:sp>
        <p:nvSpPr>
          <p:cNvPr id="30" name="Text 28"/>
          <p:cNvSpPr/>
          <p:nvPr/>
        </p:nvSpPr>
        <p:spPr>
          <a:xfrm>
            <a:off x="6711696" y="10058400"/>
            <a:ext cx="4882896" cy="457200"/>
          </a:xfrm>
          <a:prstGeom prst="rect">
            <a:avLst/>
          </a:prstGeom>
          <a:noFill/>
          <a:ln/>
        </p:spPr>
        <p:txBody>
          <a:bodyPr wrap="square" rtlCol="0" anchor="ctr"/>
          <a:lstStyle/>
          <a:p>
            <a:pPr algn="ctr" indent="0" marL="0">
              <a:buNone/>
            </a:pPr>
            <a:r>
              <a:rPr lang="en-US" sz="1400" b="1" dirty="0">
                <a:solidFill>
                  <a:srgbClr val="DC3545"/>
                </a:solidFill>
              </a:rPr>
              <a:t>✗</a:t>
            </a:r>
            <a:endParaRPr lang="en-US" sz="1400" dirty="0"/>
          </a:p>
        </p:txBody>
      </p:sp>
      <p:sp>
        <p:nvSpPr>
          <p:cNvPr id="31" name="Text 29"/>
          <p:cNvSpPr/>
          <p:nvPr/>
        </p:nvSpPr>
        <p:spPr>
          <a:xfrm>
            <a:off x="11594592" y="10058400"/>
            <a:ext cx="4882896" cy="457200"/>
          </a:xfrm>
          <a:prstGeom prst="rect">
            <a:avLst/>
          </a:prstGeom>
          <a:noFill/>
          <a:ln/>
        </p:spPr>
        <p:txBody>
          <a:bodyPr wrap="square" rtlCol="0" anchor="ctr"/>
          <a:lstStyle/>
          <a:p>
            <a:pPr algn="ctr" indent="0" marL="0">
              <a:buNone/>
            </a:pPr>
            <a:r>
              <a:rPr lang="en-US" sz="1400" b="1" dirty="0">
                <a:solidFill>
                  <a:srgbClr val="28A745"/>
                </a:solidFill>
              </a:rPr>
              <a:t>✓✓✓</a:t>
            </a:r>
            <a:endParaRPr lang="en-US" sz="1400" dirty="0"/>
          </a:p>
        </p:txBody>
      </p:sp>
      <p:sp>
        <p:nvSpPr>
          <p:cNvPr id="32" name="Shape 30"/>
          <p:cNvSpPr/>
          <p:nvPr/>
        </p:nvSpPr>
        <p:spPr>
          <a:xfrm>
            <a:off x="1828800" y="10607040"/>
            <a:ext cx="14630400" cy="640080"/>
          </a:xfrm>
          <a:prstGeom prst="rect">
            <a:avLst/>
          </a:prstGeom>
          <a:solidFill>
            <a:srgbClr val="FFFFFF"/>
          </a:solidFill>
          <a:ln w="12700">
            <a:solidFill>
              <a:srgbClr val="CCCCCC"/>
            </a:solidFill>
            <a:prstDash val="solid"/>
          </a:ln>
        </p:spPr>
      </p:sp>
      <p:sp>
        <p:nvSpPr>
          <p:cNvPr id="33" name="Text 31"/>
          <p:cNvSpPr/>
          <p:nvPr/>
        </p:nvSpPr>
        <p:spPr>
          <a:xfrm>
            <a:off x="1828800" y="10698480"/>
            <a:ext cx="4882896" cy="457200"/>
          </a:xfrm>
          <a:prstGeom prst="rect">
            <a:avLst/>
          </a:prstGeom>
          <a:noFill/>
          <a:ln/>
        </p:spPr>
        <p:txBody>
          <a:bodyPr wrap="square" rtlCol="0" anchor="ctr"/>
          <a:lstStyle/>
          <a:p>
            <a:pPr algn="ctr" indent="0" marL="0">
              <a:buNone/>
            </a:pPr>
            <a:r>
              <a:rPr lang="en-US" sz="1400" dirty="0">
                <a:solidFill>
                  <a:srgbClr val="1A1A1A"/>
                </a:solidFill>
              </a:rPr>
              <a:t>Traceability</a:t>
            </a:r>
            <a:endParaRPr lang="en-US" sz="1400" dirty="0"/>
          </a:p>
        </p:txBody>
      </p:sp>
      <p:sp>
        <p:nvSpPr>
          <p:cNvPr id="34" name="Text 32"/>
          <p:cNvSpPr/>
          <p:nvPr/>
        </p:nvSpPr>
        <p:spPr>
          <a:xfrm>
            <a:off x="6711696" y="10698480"/>
            <a:ext cx="4882896" cy="457200"/>
          </a:xfrm>
          <a:prstGeom prst="rect">
            <a:avLst/>
          </a:prstGeom>
          <a:noFill/>
          <a:ln/>
        </p:spPr>
        <p:txBody>
          <a:bodyPr wrap="square" rtlCol="0" anchor="ctr"/>
          <a:lstStyle/>
          <a:p>
            <a:pPr algn="ctr" indent="0" marL="0">
              <a:buNone/>
            </a:pPr>
            <a:r>
              <a:rPr lang="en-US" sz="1400" b="1" dirty="0">
                <a:solidFill>
                  <a:srgbClr val="DC3545"/>
                </a:solidFill>
              </a:rPr>
              <a:t>✗</a:t>
            </a:r>
            <a:endParaRPr lang="en-US" sz="1400" dirty="0"/>
          </a:p>
        </p:txBody>
      </p:sp>
      <p:sp>
        <p:nvSpPr>
          <p:cNvPr id="35" name="Text 33"/>
          <p:cNvSpPr/>
          <p:nvPr/>
        </p:nvSpPr>
        <p:spPr>
          <a:xfrm>
            <a:off x="11594592" y="10698480"/>
            <a:ext cx="4882896" cy="457200"/>
          </a:xfrm>
          <a:prstGeom prst="rect">
            <a:avLst/>
          </a:prstGeom>
          <a:noFill/>
          <a:ln/>
        </p:spPr>
        <p:txBody>
          <a:bodyPr wrap="square" rtlCol="0" anchor="ctr"/>
          <a:lstStyle/>
          <a:p>
            <a:pPr algn="ctr" indent="0" marL="0">
              <a:buNone/>
            </a:pPr>
            <a:r>
              <a:rPr lang="en-US" sz="1400" b="1" dirty="0">
                <a:solidFill>
                  <a:srgbClr val="28A745"/>
                </a:solidFill>
              </a:rPr>
              <a:t>✓ EX1191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Financial Projections (Volume Recovery)</a:t>
            </a:r>
            <a:endParaRPr lang="en-US" sz="3800" dirty="0"/>
          </a:p>
        </p:txBody>
      </p:sp>
      <p:sp>
        <p:nvSpPr>
          <p:cNvPr id="4" name="Text 2"/>
          <p:cNvSpPr/>
          <p:nvPr/>
        </p:nvSpPr>
        <p:spPr>
          <a:xfrm>
            <a:off x="1828800" y="1828800"/>
            <a:ext cx="14630400" cy="548640"/>
          </a:xfrm>
          <a:prstGeom prst="rect">
            <a:avLst/>
          </a:prstGeom>
          <a:noFill/>
          <a:ln/>
        </p:spPr>
        <p:txBody>
          <a:bodyPr wrap="square" rtlCol="0" anchor="ctr"/>
          <a:lstStyle/>
          <a:p>
            <a:pPr algn="ctr" indent="0" marL="0">
              <a:buNone/>
            </a:pPr>
            <a:r>
              <a:rPr lang="en-US" sz="1800" i="1" dirty="0">
                <a:solidFill>
                  <a:srgbClr val="003366"/>
                </a:solidFill>
              </a:rPr>
              <a:t>Based on market share defense, NOT price increases</a:t>
            </a:r>
            <a:endParaRPr lang="en-US" sz="1800" dirty="0"/>
          </a:p>
        </p:txBody>
      </p:sp>
      <p:sp>
        <p:nvSpPr>
          <p:cNvPr id="5" name="Shape 3"/>
          <p:cNvSpPr/>
          <p:nvPr/>
        </p:nvSpPr>
        <p:spPr>
          <a:xfrm>
            <a:off x="1280160" y="2926080"/>
            <a:ext cx="15727680" cy="1554480"/>
          </a:xfrm>
          <a:prstGeom prst="rect">
            <a:avLst/>
          </a:prstGeom>
          <a:solidFill>
            <a:srgbClr val="FFFFFF"/>
          </a:solidFill>
          <a:ln w="50800">
            <a:solidFill>
              <a:srgbClr val="003366"/>
            </a:solidFill>
            <a:prstDash val="solid"/>
          </a:ln>
        </p:spPr>
      </p:sp>
      <p:sp>
        <p:nvSpPr>
          <p:cNvPr id="6" name="Text 4"/>
          <p:cNvSpPr/>
          <p:nvPr/>
        </p:nvSpPr>
        <p:spPr>
          <a:xfrm>
            <a:off x="1645920" y="3108960"/>
            <a:ext cx="2743200" cy="548640"/>
          </a:xfrm>
          <a:prstGeom prst="rect">
            <a:avLst/>
          </a:prstGeom>
          <a:noFill/>
          <a:ln/>
        </p:spPr>
        <p:txBody>
          <a:bodyPr wrap="square" rtlCol="0" anchor="ctr"/>
          <a:lstStyle/>
          <a:p>
            <a:pPr indent="0" marL="0">
              <a:buNone/>
            </a:pPr>
            <a:r>
              <a:rPr lang="en-US" sz="2400" b="1" dirty="0">
                <a:solidFill>
                  <a:srgbClr val="D4AF37"/>
                </a:solidFill>
              </a:rPr>
              <a:t>Year 1</a:t>
            </a:r>
            <a:endParaRPr lang="en-US" sz="2400" dirty="0"/>
          </a:p>
        </p:txBody>
      </p:sp>
      <p:sp>
        <p:nvSpPr>
          <p:cNvPr id="7" name="Text 5"/>
          <p:cNvSpPr/>
          <p:nvPr/>
        </p:nvSpPr>
        <p:spPr>
          <a:xfrm>
            <a:off x="4754880" y="3108960"/>
            <a:ext cx="7315200" cy="548640"/>
          </a:xfrm>
          <a:prstGeom prst="rect">
            <a:avLst/>
          </a:prstGeom>
          <a:noFill/>
          <a:ln/>
        </p:spPr>
        <p:txBody>
          <a:bodyPr wrap="square" rtlCol="0" anchor="ctr"/>
          <a:lstStyle/>
          <a:p>
            <a:pPr indent="0" marL="0">
              <a:buNone/>
            </a:pPr>
            <a:r>
              <a:rPr lang="en-US" sz="1800" dirty="0">
                <a:solidFill>
                  <a:srgbClr val="1A1A1A"/>
                </a:solidFill>
              </a:rPr>
              <a:t>Defend 50% of lost volume</a:t>
            </a:r>
            <a:endParaRPr lang="en-US" sz="1800" dirty="0"/>
          </a:p>
        </p:txBody>
      </p:sp>
      <p:sp>
        <p:nvSpPr>
          <p:cNvPr id="8" name="Text 6"/>
          <p:cNvSpPr/>
          <p:nvPr/>
        </p:nvSpPr>
        <p:spPr>
          <a:xfrm>
            <a:off x="12435840" y="3200400"/>
            <a:ext cx="2194560" cy="365760"/>
          </a:xfrm>
          <a:prstGeom prst="rect">
            <a:avLst/>
          </a:prstGeom>
          <a:noFill/>
          <a:ln/>
        </p:spPr>
        <p:txBody>
          <a:bodyPr wrap="square" rtlCol="0" anchor="ctr"/>
          <a:lstStyle/>
          <a:p>
            <a:pPr indent="0" marL="0">
              <a:buNone/>
            </a:pPr>
            <a:r>
              <a:rPr lang="en-US" sz="1600" b="1" dirty="0">
                <a:solidFill>
                  <a:srgbClr val="003366"/>
                </a:solidFill>
              </a:rPr>
              <a:t>6 containers</a:t>
            </a:r>
            <a:endParaRPr lang="en-US" sz="1600" dirty="0"/>
          </a:p>
        </p:txBody>
      </p:sp>
      <p:sp>
        <p:nvSpPr>
          <p:cNvPr id="9" name="Text 7"/>
          <p:cNvSpPr/>
          <p:nvPr/>
        </p:nvSpPr>
        <p:spPr>
          <a:xfrm>
            <a:off x="14996160" y="3108960"/>
            <a:ext cx="1828800" cy="548640"/>
          </a:xfrm>
          <a:prstGeom prst="rect">
            <a:avLst/>
          </a:prstGeom>
          <a:noFill/>
          <a:ln/>
        </p:spPr>
        <p:txBody>
          <a:bodyPr wrap="square" rtlCol="0" anchor="ctr"/>
          <a:lstStyle/>
          <a:p>
            <a:pPr indent="0" marL="0">
              <a:buNone/>
            </a:pPr>
            <a:r>
              <a:rPr lang="en-US" sz="2000" b="1" dirty="0">
                <a:solidFill>
                  <a:srgbClr val="28A745"/>
                </a:solidFill>
              </a:rPr>
              <a:t>$2.5M</a:t>
            </a:r>
            <a:endParaRPr lang="en-US" sz="2000" dirty="0"/>
          </a:p>
        </p:txBody>
      </p:sp>
      <p:sp>
        <p:nvSpPr>
          <p:cNvPr id="10" name="Shape 8"/>
          <p:cNvSpPr/>
          <p:nvPr/>
        </p:nvSpPr>
        <p:spPr>
          <a:xfrm>
            <a:off x="1280160" y="4754880"/>
            <a:ext cx="15727680" cy="1554480"/>
          </a:xfrm>
          <a:prstGeom prst="rect">
            <a:avLst/>
          </a:prstGeom>
          <a:solidFill>
            <a:srgbClr val="FFFFFF"/>
          </a:solidFill>
          <a:ln w="50800">
            <a:solidFill>
              <a:srgbClr val="003366"/>
            </a:solidFill>
            <a:prstDash val="solid"/>
          </a:ln>
        </p:spPr>
      </p:sp>
      <p:sp>
        <p:nvSpPr>
          <p:cNvPr id="11" name="Text 9"/>
          <p:cNvSpPr/>
          <p:nvPr/>
        </p:nvSpPr>
        <p:spPr>
          <a:xfrm>
            <a:off x="1645920" y="4937760"/>
            <a:ext cx="2743200" cy="548640"/>
          </a:xfrm>
          <a:prstGeom prst="rect">
            <a:avLst/>
          </a:prstGeom>
          <a:noFill/>
          <a:ln/>
        </p:spPr>
        <p:txBody>
          <a:bodyPr wrap="square" rtlCol="0" anchor="ctr"/>
          <a:lstStyle/>
          <a:p>
            <a:pPr indent="0" marL="0">
              <a:buNone/>
            </a:pPr>
            <a:r>
              <a:rPr lang="en-US" sz="2400" b="1" dirty="0">
                <a:solidFill>
                  <a:srgbClr val="D4AF37"/>
                </a:solidFill>
              </a:rPr>
              <a:t>Year 2</a:t>
            </a:r>
            <a:endParaRPr lang="en-US" sz="2400" dirty="0"/>
          </a:p>
        </p:txBody>
      </p:sp>
      <p:sp>
        <p:nvSpPr>
          <p:cNvPr id="12" name="Text 10"/>
          <p:cNvSpPr/>
          <p:nvPr/>
        </p:nvSpPr>
        <p:spPr>
          <a:xfrm>
            <a:off x="4754880" y="4937760"/>
            <a:ext cx="7315200" cy="548640"/>
          </a:xfrm>
          <a:prstGeom prst="rect">
            <a:avLst/>
          </a:prstGeom>
          <a:noFill/>
          <a:ln/>
        </p:spPr>
        <p:txBody>
          <a:bodyPr wrap="square" rtlCol="0" anchor="ctr"/>
          <a:lstStyle/>
          <a:p>
            <a:pPr indent="0" marL="0">
              <a:buNone/>
            </a:pPr>
            <a:r>
              <a:rPr lang="en-US" sz="1800" dirty="0">
                <a:solidFill>
                  <a:srgbClr val="1A1A1A"/>
                </a:solidFill>
              </a:rPr>
              <a:t>Recover 75% through differentiation</a:t>
            </a:r>
            <a:endParaRPr lang="en-US" sz="1800" dirty="0"/>
          </a:p>
        </p:txBody>
      </p:sp>
      <p:sp>
        <p:nvSpPr>
          <p:cNvPr id="13" name="Text 11"/>
          <p:cNvSpPr/>
          <p:nvPr/>
        </p:nvSpPr>
        <p:spPr>
          <a:xfrm>
            <a:off x="12435840" y="5029200"/>
            <a:ext cx="2194560" cy="365760"/>
          </a:xfrm>
          <a:prstGeom prst="rect">
            <a:avLst/>
          </a:prstGeom>
          <a:noFill/>
          <a:ln/>
        </p:spPr>
        <p:txBody>
          <a:bodyPr wrap="square" rtlCol="0" anchor="ctr"/>
          <a:lstStyle/>
          <a:p>
            <a:pPr indent="0" marL="0">
              <a:buNone/>
            </a:pPr>
            <a:r>
              <a:rPr lang="en-US" sz="1600" b="1" dirty="0">
                <a:solidFill>
                  <a:srgbClr val="003366"/>
                </a:solidFill>
              </a:rPr>
              <a:t>9 containers</a:t>
            </a:r>
            <a:endParaRPr lang="en-US" sz="1600" dirty="0"/>
          </a:p>
        </p:txBody>
      </p:sp>
      <p:sp>
        <p:nvSpPr>
          <p:cNvPr id="14" name="Text 12"/>
          <p:cNvSpPr/>
          <p:nvPr/>
        </p:nvSpPr>
        <p:spPr>
          <a:xfrm>
            <a:off x="14996160" y="4937760"/>
            <a:ext cx="1828800" cy="548640"/>
          </a:xfrm>
          <a:prstGeom prst="rect">
            <a:avLst/>
          </a:prstGeom>
          <a:noFill/>
          <a:ln/>
        </p:spPr>
        <p:txBody>
          <a:bodyPr wrap="square" rtlCol="0" anchor="ctr"/>
          <a:lstStyle/>
          <a:p>
            <a:pPr indent="0" marL="0">
              <a:buNone/>
            </a:pPr>
            <a:r>
              <a:rPr lang="en-US" sz="2000" b="1" dirty="0">
                <a:solidFill>
                  <a:srgbClr val="28A745"/>
                </a:solidFill>
              </a:rPr>
              <a:t>$3.8M</a:t>
            </a:r>
            <a:endParaRPr lang="en-US" sz="2000" dirty="0"/>
          </a:p>
        </p:txBody>
      </p:sp>
      <p:sp>
        <p:nvSpPr>
          <p:cNvPr id="15" name="Shape 13"/>
          <p:cNvSpPr/>
          <p:nvPr/>
        </p:nvSpPr>
        <p:spPr>
          <a:xfrm>
            <a:off x="1280160" y="6583680"/>
            <a:ext cx="15727680" cy="1554480"/>
          </a:xfrm>
          <a:prstGeom prst="rect">
            <a:avLst/>
          </a:prstGeom>
          <a:solidFill>
            <a:srgbClr val="FFFFFF"/>
          </a:solidFill>
          <a:ln w="50800">
            <a:solidFill>
              <a:srgbClr val="003366"/>
            </a:solidFill>
            <a:prstDash val="solid"/>
          </a:ln>
        </p:spPr>
      </p:sp>
      <p:sp>
        <p:nvSpPr>
          <p:cNvPr id="16" name="Text 14"/>
          <p:cNvSpPr/>
          <p:nvPr/>
        </p:nvSpPr>
        <p:spPr>
          <a:xfrm>
            <a:off x="1645920" y="6766560"/>
            <a:ext cx="2743200" cy="548640"/>
          </a:xfrm>
          <a:prstGeom prst="rect">
            <a:avLst/>
          </a:prstGeom>
          <a:noFill/>
          <a:ln/>
        </p:spPr>
        <p:txBody>
          <a:bodyPr wrap="square" rtlCol="0" anchor="ctr"/>
          <a:lstStyle/>
          <a:p>
            <a:pPr indent="0" marL="0">
              <a:buNone/>
            </a:pPr>
            <a:r>
              <a:rPr lang="en-US" sz="2400" b="1" dirty="0">
                <a:solidFill>
                  <a:srgbClr val="D4AF37"/>
                </a:solidFill>
              </a:rPr>
              <a:t>Year 3</a:t>
            </a:r>
            <a:endParaRPr lang="en-US" sz="2400" dirty="0"/>
          </a:p>
        </p:txBody>
      </p:sp>
      <p:sp>
        <p:nvSpPr>
          <p:cNvPr id="17" name="Text 15"/>
          <p:cNvSpPr/>
          <p:nvPr/>
        </p:nvSpPr>
        <p:spPr>
          <a:xfrm>
            <a:off x="4754880" y="6766560"/>
            <a:ext cx="7315200" cy="548640"/>
          </a:xfrm>
          <a:prstGeom prst="rect">
            <a:avLst/>
          </a:prstGeom>
          <a:noFill/>
          <a:ln/>
        </p:spPr>
        <p:txBody>
          <a:bodyPr wrap="square" rtlCol="0" anchor="ctr"/>
          <a:lstStyle/>
          <a:p>
            <a:pPr indent="0" marL="0">
              <a:buNone/>
            </a:pPr>
            <a:r>
              <a:rPr lang="en-US" sz="1800" dirty="0">
                <a:solidFill>
                  <a:srgbClr val="1A1A1A"/>
                </a:solidFill>
              </a:rPr>
              <a:t>Full recovery + beauty category</a:t>
            </a:r>
            <a:endParaRPr lang="en-US" sz="1800" dirty="0"/>
          </a:p>
        </p:txBody>
      </p:sp>
      <p:sp>
        <p:nvSpPr>
          <p:cNvPr id="18" name="Text 16"/>
          <p:cNvSpPr/>
          <p:nvPr/>
        </p:nvSpPr>
        <p:spPr>
          <a:xfrm>
            <a:off x="12435840" y="6858000"/>
            <a:ext cx="2194560" cy="365760"/>
          </a:xfrm>
          <a:prstGeom prst="rect">
            <a:avLst/>
          </a:prstGeom>
          <a:noFill/>
          <a:ln/>
        </p:spPr>
        <p:txBody>
          <a:bodyPr wrap="square" rtlCol="0" anchor="ctr"/>
          <a:lstStyle/>
          <a:p>
            <a:pPr indent="0" marL="0">
              <a:buNone/>
            </a:pPr>
            <a:r>
              <a:rPr lang="en-US" sz="1600" b="1" dirty="0">
                <a:solidFill>
                  <a:srgbClr val="003366"/>
                </a:solidFill>
              </a:rPr>
              <a:t>12+ containers</a:t>
            </a:r>
            <a:endParaRPr lang="en-US" sz="1600" dirty="0"/>
          </a:p>
        </p:txBody>
      </p:sp>
      <p:sp>
        <p:nvSpPr>
          <p:cNvPr id="19" name="Text 17"/>
          <p:cNvSpPr/>
          <p:nvPr/>
        </p:nvSpPr>
        <p:spPr>
          <a:xfrm>
            <a:off x="14996160" y="6766560"/>
            <a:ext cx="1828800" cy="548640"/>
          </a:xfrm>
          <a:prstGeom prst="rect">
            <a:avLst/>
          </a:prstGeom>
          <a:noFill/>
          <a:ln/>
        </p:spPr>
        <p:txBody>
          <a:bodyPr wrap="square" rtlCol="0" anchor="ctr"/>
          <a:lstStyle/>
          <a:p>
            <a:pPr indent="0" marL="0">
              <a:buNone/>
            </a:pPr>
            <a:r>
              <a:rPr lang="en-US" sz="2000" b="1" dirty="0">
                <a:solidFill>
                  <a:srgbClr val="28A745"/>
                </a:solidFill>
              </a:rPr>
              <a:t>$5M+</a:t>
            </a:r>
            <a:endParaRPr lang="en-US" sz="2000" dirty="0"/>
          </a:p>
        </p:txBody>
      </p:sp>
      <p:sp>
        <p:nvSpPr>
          <p:cNvPr id="20" name="Shape 18"/>
          <p:cNvSpPr/>
          <p:nvPr/>
        </p:nvSpPr>
        <p:spPr>
          <a:xfrm>
            <a:off x="2743200" y="8595360"/>
            <a:ext cx="12801600" cy="1097280"/>
          </a:xfrm>
          <a:prstGeom prst="rect">
            <a:avLst/>
          </a:prstGeom>
          <a:solidFill>
            <a:srgbClr val="D4AF37"/>
          </a:solidFill>
          <a:ln/>
        </p:spPr>
      </p:sp>
      <p:sp>
        <p:nvSpPr>
          <p:cNvPr id="21" name="Text 19"/>
          <p:cNvSpPr/>
          <p:nvPr/>
        </p:nvSpPr>
        <p:spPr>
          <a:xfrm>
            <a:off x="2743200" y="8686800"/>
            <a:ext cx="12801600" cy="914400"/>
          </a:xfrm>
          <a:prstGeom prst="rect">
            <a:avLst/>
          </a:prstGeom>
          <a:noFill/>
          <a:ln/>
        </p:spPr>
        <p:txBody>
          <a:bodyPr wrap="square" rtlCol="0" anchor="ctr"/>
          <a:lstStyle/>
          <a:p>
            <a:pPr algn="ctr" indent="0" marL="0">
              <a:buNone/>
            </a:pPr>
            <a:r>
              <a:rPr lang="en-US" sz="2200" b="1" dirty="0">
                <a:solidFill>
                  <a:srgbClr val="FFFFFF"/>
                </a:solidFill>
              </a:rPr>
              <a:t>NO PRICE INCREASE NEEDED - Growth through volume recovery</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Implementation Timeline</a:t>
            </a:r>
            <a:endParaRPr lang="en-US" sz="3800" dirty="0"/>
          </a:p>
        </p:txBody>
      </p:sp>
      <p:sp>
        <p:nvSpPr>
          <p:cNvPr id="4" name="Shape 2"/>
          <p:cNvSpPr/>
          <p:nvPr/>
        </p:nvSpPr>
        <p:spPr>
          <a:xfrm>
            <a:off x="1463040" y="2286000"/>
            <a:ext cx="548640" cy="548640"/>
          </a:xfrm>
          <a:prstGeom prst="ellipse">
            <a:avLst/>
          </a:prstGeom>
          <a:solidFill>
            <a:srgbClr val="D4AF37"/>
          </a:solidFill>
          <a:ln w="50800">
            <a:solidFill>
              <a:srgbClr val="FFFFFF"/>
            </a:solidFill>
            <a:prstDash val="solid"/>
          </a:ln>
        </p:spPr>
      </p:sp>
      <p:sp>
        <p:nvSpPr>
          <p:cNvPr id="5" name="Shape 3"/>
          <p:cNvSpPr/>
          <p:nvPr/>
        </p:nvSpPr>
        <p:spPr>
          <a:xfrm>
            <a:off x="2377440" y="2194560"/>
            <a:ext cx="14996160" cy="1188720"/>
          </a:xfrm>
          <a:prstGeom prst="rect">
            <a:avLst/>
          </a:prstGeom>
          <a:solidFill>
            <a:srgbClr val="FFFFFF"/>
          </a:solidFill>
          <a:ln w="50800">
            <a:solidFill>
              <a:srgbClr val="003366"/>
            </a:solidFill>
            <a:prstDash val="solid"/>
          </a:ln>
        </p:spPr>
      </p:sp>
      <p:sp>
        <p:nvSpPr>
          <p:cNvPr id="6" name="Text 4"/>
          <p:cNvSpPr/>
          <p:nvPr/>
        </p:nvSpPr>
        <p:spPr>
          <a:xfrm>
            <a:off x="2743200" y="2340864"/>
            <a:ext cx="3291840" cy="457200"/>
          </a:xfrm>
          <a:prstGeom prst="rect">
            <a:avLst/>
          </a:prstGeom>
          <a:noFill/>
          <a:ln/>
        </p:spPr>
        <p:txBody>
          <a:bodyPr wrap="square" rtlCol="0" anchor="ctr"/>
          <a:lstStyle/>
          <a:p>
            <a:pPr indent="0" marL="0">
              <a:buNone/>
            </a:pPr>
            <a:r>
              <a:rPr lang="en-US" sz="1600" b="1" dirty="0">
                <a:solidFill>
                  <a:srgbClr val="D4AF37"/>
                </a:solidFill>
              </a:rPr>
              <a:t>Weeks 1-2</a:t>
            </a:r>
            <a:endParaRPr lang="en-US" sz="1600" dirty="0"/>
          </a:p>
        </p:txBody>
      </p:sp>
      <p:sp>
        <p:nvSpPr>
          <p:cNvPr id="7" name="Text 5"/>
          <p:cNvSpPr/>
          <p:nvPr/>
        </p:nvSpPr>
        <p:spPr>
          <a:xfrm>
            <a:off x="6400800" y="2340864"/>
            <a:ext cx="5486400" cy="457200"/>
          </a:xfrm>
          <a:prstGeom prst="rect">
            <a:avLst/>
          </a:prstGeom>
          <a:noFill/>
          <a:ln/>
        </p:spPr>
        <p:txBody>
          <a:bodyPr wrap="square" rtlCol="0" anchor="ctr"/>
          <a:lstStyle/>
          <a:p>
            <a:pPr indent="0" marL="0">
              <a:buNone/>
            </a:pPr>
            <a:r>
              <a:rPr lang="en-US" sz="1800" b="1" dirty="0">
                <a:solidFill>
                  <a:srgbClr val="003366"/>
                </a:solidFill>
              </a:rPr>
              <a:t>Lab testing commissioned</a:t>
            </a:r>
            <a:endParaRPr lang="en-US" sz="1800" dirty="0"/>
          </a:p>
        </p:txBody>
      </p:sp>
      <p:sp>
        <p:nvSpPr>
          <p:cNvPr id="8" name="Text 6"/>
          <p:cNvSpPr/>
          <p:nvPr/>
        </p:nvSpPr>
        <p:spPr>
          <a:xfrm>
            <a:off x="6400800" y="2834640"/>
            <a:ext cx="10607040" cy="365760"/>
          </a:xfrm>
          <a:prstGeom prst="rect">
            <a:avLst/>
          </a:prstGeom>
          <a:noFill/>
          <a:ln/>
        </p:spPr>
        <p:txBody>
          <a:bodyPr wrap="square" rtlCol="0" anchor="ctr"/>
          <a:lstStyle/>
          <a:p>
            <a:pPr indent="0" marL="0">
              <a:buNone/>
            </a:pPr>
            <a:r>
              <a:rPr lang="en-US" sz="1400" dirty="0">
                <a:solidFill>
                  <a:srgbClr val="1A1A1A"/>
                </a:solidFill>
              </a:rPr>
              <a:t>Select independent lab, submit samples</a:t>
            </a:r>
            <a:endParaRPr lang="en-US" sz="1400" dirty="0"/>
          </a:p>
        </p:txBody>
      </p:sp>
      <p:sp>
        <p:nvSpPr>
          <p:cNvPr id="9" name="Shape 7"/>
          <p:cNvSpPr/>
          <p:nvPr/>
        </p:nvSpPr>
        <p:spPr>
          <a:xfrm>
            <a:off x="1463040" y="3657600"/>
            <a:ext cx="548640" cy="548640"/>
          </a:xfrm>
          <a:prstGeom prst="ellipse">
            <a:avLst/>
          </a:prstGeom>
          <a:solidFill>
            <a:srgbClr val="D4AF37"/>
          </a:solidFill>
          <a:ln w="50800">
            <a:solidFill>
              <a:srgbClr val="FFFFFF"/>
            </a:solidFill>
            <a:prstDash val="solid"/>
          </a:ln>
        </p:spPr>
      </p:sp>
      <p:sp>
        <p:nvSpPr>
          <p:cNvPr id="10" name="Shape 8"/>
          <p:cNvSpPr/>
          <p:nvPr/>
        </p:nvSpPr>
        <p:spPr>
          <a:xfrm>
            <a:off x="2377440" y="3566160"/>
            <a:ext cx="14996160" cy="1188720"/>
          </a:xfrm>
          <a:prstGeom prst="rect">
            <a:avLst/>
          </a:prstGeom>
          <a:solidFill>
            <a:srgbClr val="FFFFFF"/>
          </a:solidFill>
          <a:ln w="50800">
            <a:solidFill>
              <a:srgbClr val="003366"/>
            </a:solidFill>
            <a:prstDash val="solid"/>
          </a:ln>
        </p:spPr>
      </p:sp>
      <p:sp>
        <p:nvSpPr>
          <p:cNvPr id="11" name="Text 9"/>
          <p:cNvSpPr/>
          <p:nvPr/>
        </p:nvSpPr>
        <p:spPr>
          <a:xfrm>
            <a:off x="2743200" y="3712464"/>
            <a:ext cx="3291840" cy="457200"/>
          </a:xfrm>
          <a:prstGeom prst="rect">
            <a:avLst/>
          </a:prstGeom>
          <a:noFill/>
          <a:ln/>
        </p:spPr>
        <p:txBody>
          <a:bodyPr wrap="square" rtlCol="0" anchor="ctr"/>
          <a:lstStyle/>
          <a:p>
            <a:pPr indent="0" marL="0">
              <a:buNone/>
            </a:pPr>
            <a:r>
              <a:rPr lang="en-US" sz="1600" b="1" dirty="0">
                <a:solidFill>
                  <a:srgbClr val="D4AF37"/>
                </a:solidFill>
              </a:rPr>
              <a:t>Weeks 3-8</a:t>
            </a:r>
            <a:endParaRPr lang="en-US" sz="1600" dirty="0"/>
          </a:p>
        </p:txBody>
      </p:sp>
      <p:sp>
        <p:nvSpPr>
          <p:cNvPr id="12" name="Text 10"/>
          <p:cNvSpPr/>
          <p:nvPr/>
        </p:nvSpPr>
        <p:spPr>
          <a:xfrm>
            <a:off x="6400800" y="3712464"/>
            <a:ext cx="5486400" cy="457200"/>
          </a:xfrm>
          <a:prstGeom prst="rect">
            <a:avLst/>
          </a:prstGeom>
          <a:noFill/>
          <a:ln/>
        </p:spPr>
        <p:txBody>
          <a:bodyPr wrap="square" rtlCol="0" anchor="ctr"/>
          <a:lstStyle/>
          <a:p>
            <a:pPr indent="0" marL="0">
              <a:buNone/>
            </a:pPr>
            <a:r>
              <a:rPr lang="en-US" sz="1800" b="1" dirty="0">
                <a:solidFill>
                  <a:srgbClr val="003366"/>
                </a:solidFill>
              </a:rPr>
              <a:t>Results analysis &amp; verification</a:t>
            </a:r>
            <a:endParaRPr lang="en-US" sz="1800" dirty="0"/>
          </a:p>
        </p:txBody>
      </p:sp>
      <p:sp>
        <p:nvSpPr>
          <p:cNvPr id="13" name="Text 11"/>
          <p:cNvSpPr/>
          <p:nvPr/>
        </p:nvSpPr>
        <p:spPr>
          <a:xfrm>
            <a:off x="6400800" y="4206240"/>
            <a:ext cx="10607040" cy="365760"/>
          </a:xfrm>
          <a:prstGeom prst="rect">
            <a:avLst/>
          </a:prstGeom>
          <a:noFill/>
          <a:ln/>
        </p:spPr>
        <p:txBody>
          <a:bodyPr wrap="square" rtlCol="0" anchor="ctr"/>
          <a:lstStyle/>
          <a:p>
            <a:pPr indent="0" marL="0">
              <a:buNone/>
            </a:pPr>
            <a:r>
              <a:rPr lang="en-US" sz="1400" dirty="0">
                <a:solidFill>
                  <a:srgbClr val="1A1A1A"/>
                </a:solidFill>
              </a:rPr>
              <a:t>Review data, create comparison infographics</a:t>
            </a:r>
            <a:endParaRPr lang="en-US" sz="1400" dirty="0"/>
          </a:p>
        </p:txBody>
      </p:sp>
      <p:sp>
        <p:nvSpPr>
          <p:cNvPr id="14" name="Shape 12"/>
          <p:cNvSpPr/>
          <p:nvPr/>
        </p:nvSpPr>
        <p:spPr>
          <a:xfrm>
            <a:off x="1463040" y="5029200"/>
            <a:ext cx="548640" cy="548640"/>
          </a:xfrm>
          <a:prstGeom prst="ellipse">
            <a:avLst/>
          </a:prstGeom>
          <a:solidFill>
            <a:srgbClr val="D4AF37"/>
          </a:solidFill>
          <a:ln w="50800">
            <a:solidFill>
              <a:srgbClr val="FFFFFF"/>
            </a:solidFill>
            <a:prstDash val="solid"/>
          </a:ln>
        </p:spPr>
      </p:sp>
      <p:sp>
        <p:nvSpPr>
          <p:cNvPr id="15" name="Shape 13"/>
          <p:cNvSpPr/>
          <p:nvPr/>
        </p:nvSpPr>
        <p:spPr>
          <a:xfrm>
            <a:off x="2377440" y="4937760"/>
            <a:ext cx="14996160" cy="1188720"/>
          </a:xfrm>
          <a:prstGeom prst="rect">
            <a:avLst/>
          </a:prstGeom>
          <a:solidFill>
            <a:srgbClr val="FFFFFF"/>
          </a:solidFill>
          <a:ln w="50800">
            <a:solidFill>
              <a:srgbClr val="003366"/>
            </a:solidFill>
            <a:prstDash val="solid"/>
          </a:ln>
        </p:spPr>
      </p:sp>
      <p:sp>
        <p:nvSpPr>
          <p:cNvPr id="16" name="Text 14"/>
          <p:cNvSpPr/>
          <p:nvPr/>
        </p:nvSpPr>
        <p:spPr>
          <a:xfrm>
            <a:off x="2743200" y="5084064"/>
            <a:ext cx="3291840" cy="457200"/>
          </a:xfrm>
          <a:prstGeom prst="rect">
            <a:avLst/>
          </a:prstGeom>
          <a:noFill/>
          <a:ln/>
        </p:spPr>
        <p:txBody>
          <a:bodyPr wrap="square" rtlCol="0" anchor="ctr"/>
          <a:lstStyle/>
          <a:p>
            <a:pPr indent="0" marL="0">
              <a:buNone/>
            </a:pPr>
            <a:r>
              <a:rPr lang="en-US" sz="1600" b="1" dirty="0">
                <a:solidFill>
                  <a:srgbClr val="D4AF37"/>
                </a:solidFill>
              </a:rPr>
              <a:t>Weeks 9-12</a:t>
            </a:r>
            <a:endParaRPr lang="en-US" sz="1600" dirty="0"/>
          </a:p>
        </p:txBody>
      </p:sp>
      <p:sp>
        <p:nvSpPr>
          <p:cNvPr id="17" name="Text 15"/>
          <p:cNvSpPr/>
          <p:nvPr/>
        </p:nvSpPr>
        <p:spPr>
          <a:xfrm>
            <a:off x="6400800" y="5084064"/>
            <a:ext cx="5486400" cy="457200"/>
          </a:xfrm>
          <a:prstGeom prst="rect">
            <a:avLst/>
          </a:prstGeom>
          <a:noFill/>
          <a:ln/>
        </p:spPr>
        <p:txBody>
          <a:bodyPr wrap="square" rtlCol="0" anchor="ctr"/>
          <a:lstStyle/>
          <a:p>
            <a:pPr indent="0" marL="0">
              <a:buNone/>
            </a:pPr>
            <a:r>
              <a:rPr lang="en-US" sz="1800" b="1" dirty="0">
                <a:solidFill>
                  <a:srgbClr val="003366"/>
                </a:solidFill>
              </a:rPr>
              <a:t>Influencer seeding</a:t>
            </a:r>
            <a:endParaRPr lang="en-US" sz="1800" dirty="0"/>
          </a:p>
        </p:txBody>
      </p:sp>
      <p:sp>
        <p:nvSpPr>
          <p:cNvPr id="18" name="Text 16"/>
          <p:cNvSpPr/>
          <p:nvPr/>
        </p:nvSpPr>
        <p:spPr>
          <a:xfrm>
            <a:off x="6400800" y="5577840"/>
            <a:ext cx="10607040" cy="365760"/>
          </a:xfrm>
          <a:prstGeom prst="rect">
            <a:avLst/>
          </a:prstGeom>
          <a:noFill/>
          <a:ln/>
        </p:spPr>
        <p:txBody>
          <a:bodyPr wrap="square" rtlCol="0" anchor="ctr"/>
          <a:lstStyle/>
          <a:p>
            <a:pPr indent="0" marL="0">
              <a:buNone/>
            </a:pPr>
            <a:r>
              <a:rPr lang="en-US" sz="1400" dirty="0">
                <a:solidFill>
                  <a:srgbClr val="1A1A1A"/>
                </a:solidFill>
              </a:rPr>
              <a:t>5-8 micro-influencers test both products</a:t>
            </a:r>
            <a:endParaRPr lang="en-US" sz="1400" dirty="0"/>
          </a:p>
        </p:txBody>
      </p:sp>
      <p:sp>
        <p:nvSpPr>
          <p:cNvPr id="19" name="Shape 17"/>
          <p:cNvSpPr/>
          <p:nvPr/>
        </p:nvSpPr>
        <p:spPr>
          <a:xfrm>
            <a:off x="1463040" y="6400800"/>
            <a:ext cx="548640" cy="548640"/>
          </a:xfrm>
          <a:prstGeom prst="ellipse">
            <a:avLst/>
          </a:prstGeom>
          <a:solidFill>
            <a:srgbClr val="D4AF37"/>
          </a:solidFill>
          <a:ln w="50800">
            <a:solidFill>
              <a:srgbClr val="FFFFFF"/>
            </a:solidFill>
            <a:prstDash val="solid"/>
          </a:ln>
        </p:spPr>
      </p:sp>
      <p:sp>
        <p:nvSpPr>
          <p:cNvPr id="20" name="Shape 18"/>
          <p:cNvSpPr/>
          <p:nvPr/>
        </p:nvSpPr>
        <p:spPr>
          <a:xfrm>
            <a:off x="2377440" y="6309360"/>
            <a:ext cx="14996160" cy="1188720"/>
          </a:xfrm>
          <a:prstGeom prst="rect">
            <a:avLst/>
          </a:prstGeom>
          <a:solidFill>
            <a:srgbClr val="FFFFFF"/>
          </a:solidFill>
          <a:ln w="50800">
            <a:solidFill>
              <a:srgbClr val="003366"/>
            </a:solidFill>
            <a:prstDash val="solid"/>
          </a:ln>
        </p:spPr>
      </p:sp>
      <p:sp>
        <p:nvSpPr>
          <p:cNvPr id="21" name="Text 19"/>
          <p:cNvSpPr/>
          <p:nvPr/>
        </p:nvSpPr>
        <p:spPr>
          <a:xfrm>
            <a:off x="2743200" y="6455664"/>
            <a:ext cx="3291840" cy="457200"/>
          </a:xfrm>
          <a:prstGeom prst="rect">
            <a:avLst/>
          </a:prstGeom>
          <a:noFill/>
          <a:ln/>
        </p:spPr>
        <p:txBody>
          <a:bodyPr wrap="square" rtlCol="0" anchor="ctr"/>
          <a:lstStyle/>
          <a:p>
            <a:pPr indent="0" marL="0">
              <a:buNone/>
            </a:pPr>
            <a:r>
              <a:rPr lang="en-US" sz="1600" b="1" dirty="0">
                <a:solidFill>
                  <a:srgbClr val="D4AF37"/>
                </a:solidFill>
              </a:rPr>
              <a:t>Weeks 13-16</a:t>
            </a:r>
            <a:endParaRPr lang="en-US" sz="1600" dirty="0"/>
          </a:p>
        </p:txBody>
      </p:sp>
      <p:sp>
        <p:nvSpPr>
          <p:cNvPr id="22" name="Text 20"/>
          <p:cNvSpPr/>
          <p:nvPr/>
        </p:nvSpPr>
        <p:spPr>
          <a:xfrm>
            <a:off x="6400800" y="6455664"/>
            <a:ext cx="5486400" cy="457200"/>
          </a:xfrm>
          <a:prstGeom prst="rect">
            <a:avLst/>
          </a:prstGeom>
          <a:noFill/>
          <a:ln/>
        </p:spPr>
        <p:txBody>
          <a:bodyPr wrap="square" rtlCol="0" anchor="ctr"/>
          <a:lstStyle/>
          <a:p>
            <a:pPr indent="0" marL="0">
              <a:buNone/>
            </a:pPr>
            <a:r>
              <a:rPr lang="en-US" sz="1800" b="1" dirty="0">
                <a:solidFill>
                  <a:srgbClr val="003366"/>
                </a:solidFill>
              </a:rPr>
              <a:t>Retail category discussions</a:t>
            </a:r>
            <a:endParaRPr lang="en-US" sz="1800" dirty="0"/>
          </a:p>
        </p:txBody>
      </p:sp>
      <p:sp>
        <p:nvSpPr>
          <p:cNvPr id="23" name="Text 21"/>
          <p:cNvSpPr/>
          <p:nvPr/>
        </p:nvSpPr>
        <p:spPr>
          <a:xfrm>
            <a:off x="6400800" y="6949440"/>
            <a:ext cx="10607040" cy="365760"/>
          </a:xfrm>
          <a:prstGeom prst="rect">
            <a:avLst/>
          </a:prstGeom>
          <a:noFill/>
          <a:ln/>
        </p:spPr>
        <p:txBody>
          <a:bodyPr wrap="square" rtlCol="0" anchor="ctr"/>
          <a:lstStyle/>
          <a:p>
            <a:pPr indent="0" marL="0">
              <a:buNone/>
            </a:pPr>
            <a:r>
              <a:rPr lang="en-US" sz="1400" dirty="0">
                <a:solidFill>
                  <a:srgbClr val="1A1A1A"/>
                </a:solidFill>
              </a:rPr>
              <a:t>Position in beauty foods section</a:t>
            </a:r>
            <a:endParaRPr lang="en-US" sz="1400" dirty="0"/>
          </a:p>
        </p:txBody>
      </p:sp>
      <p:sp>
        <p:nvSpPr>
          <p:cNvPr id="24" name="Shape 22"/>
          <p:cNvSpPr/>
          <p:nvPr/>
        </p:nvSpPr>
        <p:spPr>
          <a:xfrm>
            <a:off x="1463040" y="7772400"/>
            <a:ext cx="548640" cy="548640"/>
          </a:xfrm>
          <a:prstGeom prst="ellipse">
            <a:avLst/>
          </a:prstGeom>
          <a:solidFill>
            <a:srgbClr val="D4AF37"/>
          </a:solidFill>
          <a:ln w="50800">
            <a:solidFill>
              <a:srgbClr val="FFFFFF"/>
            </a:solidFill>
            <a:prstDash val="solid"/>
          </a:ln>
        </p:spPr>
      </p:sp>
      <p:sp>
        <p:nvSpPr>
          <p:cNvPr id="25" name="Shape 23"/>
          <p:cNvSpPr/>
          <p:nvPr/>
        </p:nvSpPr>
        <p:spPr>
          <a:xfrm>
            <a:off x="2377440" y="7680960"/>
            <a:ext cx="14996160" cy="1188720"/>
          </a:xfrm>
          <a:prstGeom prst="rect">
            <a:avLst/>
          </a:prstGeom>
          <a:solidFill>
            <a:srgbClr val="FFFFFF"/>
          </a:solidFill>
          <a:ln w="50800">
            <a:solidFill>
              <a:srgbClr val="003366"/>
            </a:solidFill>
            <a:prstDash val="solid"/>
          </a:ln>
        </p:spPr>
      </p:sp>
      <p:sp>
        <p:nvSpPr>
          <p:cNvPr id="26" name="Text 24"/>
          <p:cNvSpPr/>
          <p:nvPr/>
        </p:nvSpPr>
        <p:spPr>
          <a:xfrm>
            <a:off x="2743200" y="7827264"/>
            <a:ext cx="3291840" cy="457200"/>
          </a:xfrm>
          <a:prstGeom prst="rect">
            <a:avLst/>
          </a:prstGeom>
          <a:noFill/>
          <a:ln/>
        </p:spPr>
        <p:txBody>
          <a:bodyPr wrap="square" rtlCol="0" anchor="ctr"/>
          <a:lstStyle/>
          <a:p>
            <a:pPr indent="0" marL="0">
              <a:buNone/>
            </a:pPr>
            <a:r>
              <a:rPr lang="en-US" sz="1600" b="1" dirty="0">
                <a:solidFill>
                  <a:srgbClr val="D4AF37"/>
                </a:solidFill>
              </a:rPr>
              <a:t>Month 5+</a:t>
            </a:r>
            <a:endParaRPr lang="en-US" sz="1600" dirty="0"/>
          </a:p>
        </p:txBody>
      </p:sp>
      <p:sp>
        <p:nvSpPr>
          <p:cNvPr id="27" name="Text 25"/>
          <p:cNvSpPr/>
          <p:nvPr/>
        </p:nvSpPr>
        <p:spPr>
          <a:xfrm>
            <a:off x="6400800" y="7827264"/>
            <a:ext cx="5486400" cy="457200"/>
          </a:xfrm>
          <a:prstGeom prst="rect">
            <a:avLst/>
          </a:prstGeom>
          <a:noFill/>
          <a:ln/>
        </p:spPr>
        <p:txBody>
          <a:bodyPr wrap="square" rtlCol="0" anchor="ctr"/>
          <a:lstStyle/>
          <a:p>
            <a:pPr indent="0" marL="0">
              <a:buNone/>
            </a:pPr>
            <a:r>
              <a:rPr lang="en-US" sz="1800" b="1" dirty="0">
                <a:solidFill>
                  <a:srgbClr val="003366"/>
                </a:solidFill>
              </a:rPr>
              <a:t>Full market rollout</a:t>
            </a:r>
            <a:endParaRPr lang="en-US" sz="1800" dirty="0"/>
          </a:p>
        </p:txBody>
      </p:sp>
      <p:sp>
        <p:nvSpPr>
          <p:cNvPr id="28" name="Text 26"/>
          <p:cNvSpPr/>
          <p:nvPr/>
        </p:nvSpPr>
        <p:spPr>
          <a:xfrm>
            <a:off x="6400800" y="8321040"/>
            <a:ext cx="10607040" cy="365760"/>
          </a:xfrm>
          <a:prstGeom prst="rect">
            <a:avLst/>
          </a:prstGeom>
          <a:noFill/>
          <a:ln/>
        </p:spPr>
        <p:txBody>
          <a:bodyPr wrap="square" rtlCol="0" anchor="ctr"/>
          <a:lstStyle/>
          <a:p>
            <a:pPr indent="0" marL="0">
              <a:buNone/>
            </a:pPr>
            <a:r>
              <a:rPr lang="en-US" sz="1400" dirty="0">
                <a:solidFill>
                  <a:srgbClr val="1A1A1A"/>
                </a:solidFill>
              </a:rPr>
              <a:t>QR codes, packaging, education campaign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Risk Mitigation</a:t>
            </a:r>
            <a:endParaRPr lang="en-US" sz="3800" dirty="0"/>
          </a:p>
        </p:txBody>
      </p:sp>
      <p:sp>
        <p:nvSpPr>
          <p:cNvPr id="4" name="Shape 2"/>
          <p:cNvSpPr/>
          <p:nvPr/>
        </p:nvSpPr>
        <p:spPr>
          <a:xfrm>
            <a:off x="1280160" y="2377440"/>
            <a:ext cx="15727680" cy="1828800"/>
          </a:xfrm>
          <a:prstGeom prst="rect">
            <a:avLst/>
          </a:prstGeom>
          <a:solidFill>
            <a:srgbClr val="FFFFFF"/>
          </a:solidFill>
          <a:ln w="50800">
            <a:solidFill>
              <a:srgbClr val="003366"/>
            </a:solidFill>
            <a:prstDash val="solid"/>
          </a:ln>
        </p:spPr>
      </p:sp>
      <p:sp>
        <p:nvSpPr>
          <p:cNvPr id="5" name="Text 3"/>
          <p:cNvSpPr/>
          <p:nvPr/>
        </p:nvSpPr>
        <p:spPr>
          <a:xfrm>
            <a:off x="1645920" y="2560320"/>
            <a:ext cx="1828800" cy="457200"/>
          </a:xfrm>
          <a:prstGeom prst="rect">
            <a:avLst/>
          </a:prstGeom>
          <a:noFill/>
          <a:ln/>
        </p:spPr>
        <p:txBody>
          <a:bodyPr wrap="square" rtlCol="0" anchor="ctr"/>
          <a:lstStyle/>
          <a:p>
            <a:pPr indent="0" marL="0">
              <a:buNone/>
            </a:pPr>
            <a:r>
              <a:rPr lang="en-US" sz="1600" b="1" dirty="0">
                <a:solidFill>
                  <a:srgbClr val="DC3545"/>
                </a:solidFill>
              </a:rPr>
              <a:t>Risk:</a:t>
            </a:r>
            <a:endParaRPr lang="en-US" sz="1600" dirty="0"/>
          </a:p>
        </p:txBody>
      </p:sp>
      <p:sp>
        <p:nvSpPr>
          <p:cNvPr id="6" name="Text 4"/>
          <p:cNvSpPr/>
          <p:nvPr/>
        </p:nvSpPr>
        <p:spPr>
          <a:xfrm>
            <a:off x="3657600" y="2560320"/>
            <a:ext cx="12435840" cy="457200"/>
          </a:xfrm>
          <a:prstGeom prst="rect">
            <a:avLst/>
          </a:prstGeom>
          <a:noFill/>
          <a:ln/>
        </p:spPr>
        <p:txBody>
          <a:bodyPr wrap="square" rtlCol="0" anchor="ctr"/>
          <a:lstStyle/>
          <a:p>
            <a:pPr indent="0" marL="0">
              <a:buNone/>
            </a:pPr>
            <a:r>
              <a:rPr lang="en-US" sz="1800" dirty="0">
                <a:solidFill>
                  <a:srgbClr val="1A1A1A"/>
                </a:solidFill>
              </a:rPr>
              <a:t>Lab results don't show difference</a:t>
            </a:r>
            <a:endParaRPr lang="en-US" sz="1800" dirty="0"/>
          </a:p>
        </p:txBody>
      </p:sp>
      <p:sp>
        <p:nvSpPr>
          <p:cNvPr id="7" name="Text 5"/>
          <p:cNvSpPr/>
          <p:nvPr/>
        </p:nvSpPr>
        <p:spPr>
          <a:xfrm>
            <a:off x="1645920" y="3200400"/>
            <a:ext cx="2194560" cy="365760"/>
          </a:xfrm>
          <a:prstGeom prst="rect">
            <a:avLst/>
          </a:prstGeom>
          <a:noFill/>
          <a:ln/>
        </p:spPr>
        <p:txBody>
          <a:bodyPr wrap="square" rtlCol="0" anchor="ctr"/>
          <a:lstStyle/>
          <a:p>
            <a:pPr indent="0" marL="0">
              <a:buNone/>
            </a:pPr>
            <a:r>
              <a:rPr lang="en-US" sz="1400" b="1" dirty="0">
                <a:solidFill>
                  <a:srgbClr val="28A745"/>
                </a:solidFill>
              </a:rPr>
              <a:t>Mitigation:</a:t>
            </a:r>
            <a:endParaRPr lang="en-US" sz="1400" dirty="0"/>
          </a:p>
        </p:txBody>
      </p:sp>
      <p:sp>
        <p:nvSpPr>
          <p:cNvPr id="8" name="Text 6"/>
          <p:cNvSpPr/>
          <p:nvPr/>
        </p:nvSpPr>
        <p:spPr>
          <a:xfrm>
            <a:off x="3657600" y="3200400"/>
            <a:ext cx="11338560" cy="365760"/>
          </a:xfrm>
          <a:prstGeom prst="rect">
            <a:avLst/>
          </a:prstGeom>
          <a:noFill/>
          <a:ln/>
        </p:spPr>
        <p:txBody>
          <a:bodyPr wrap="square" rtlCol="0" anchor="ctr"/>
          <a:lstStyle/>
          <a:p>
            <a:pPr indent="0" marL="0">
              <a:buNone/>
            </a:pPr>
            <a:r>
              <a:rPr lang="en-US" sz="1600" dirty="0">
                <a:solidFill>
                  <a:srgbClr val="1A1A1A"/>
                </a:solidFill>
              </a:rPr>
              <a:t>Only $15K invested, pivot to sustainability story</a:t>
            </a:r>
            <a:endParaRPr lang="en-US" sz="1600" dirty="0"/>
          </a:p>
        </p:txBody>
      </p:sp>
      <p:sp>
        <p:nvSpPr>
          <p:cNvPr id="9" name="Shape 7"/>
          <p:cNvSpPr/>
          <p:nvPr/>
        </p:nvSpPr>
        <p:spPr>
          <a:xfrm>
            <a:off x="15361920" y="3017520"/>
            <a:ext cx="1463040" cy="548640"/>
          </a:xfrm>
          <a:prstGeom prst="rect">
            <a:avLst/>
          </a:prstGeom>
          <a:solidFill>
            <a:srgbClr val="28A745"/>
          </a:solidFill>
          <a:ln/>
        </p:spPr>
      </p:sp>
      <p:sp>
        <p:nvSpPr>
          <p:cNvPr id="10" name="Text 8"/>
          <p:cNvSpPr/>
          <p:nvPr/>
        </p:nvSpPr>
        <p:spPr>
          <a:xfrm>
            <a:off x="15361920" y="3054096"/>
            <a:ext cx="1463040" cy="475488"/>
          </a:xfrm>
          <a:prstGeom prst="rect">
            <a:avLst/>
          </a:prstGeom>
          <a:noFill/>
          <a:ln/>
        </p:spPr>
        <p:txBody>
          <a:bodyPr wrap="square" rtlCol="0" anchor="ctr"/>
          <a:lstStyle/>
          <a:p>
            <a:pPr algn="ctr" indent="0" marL="0">
              <a:buNone/>
            </a:pPr>
            <a:r>
              <a:rPr lang="en-US" sz="1200" b="1" dirty="0">
                <a:solidFill>
                  <a:srgbClr val="FFFFFF"/>
                </a:solidFill>
              </a:rPr>
              <a:t>LOW</a:t>
            </a:r>
            <a:endParaRPr lang="en-US" sz="1200" dirty="0"/>
          </a:p>
        </p:txBody>
      </p:sp>
      <p:sp>
        <p:nvSpPr>
          <p:cNvPr id="11" name="Shape 9"/>
          <p:cNvSpPr/>
          <p:nvPr/>
        </p:nvSpPr>
        <p:spPr>
          <a:xfrm>
            <a:off x="1280160" y="4572000"/>
            <a:ext cx="15727680" cy="1828800"/>
          </a:xfrm>
          <a:prstGeom prst="rect">
            <a:avLst/>
          </a:prstGeom>
          <a:solidFill>
            <a:srgbClr val="FFFFFF"/>
          </a:solidFill>
          <a:ln w="50800">
            <a:solidFill>
              <a:srgbClr val="003366"/>
            </a:solidFill>
            <a:prstDash val="solid"/>
          </a:ln>
        </p:spPr>
      </p:sp>
      <p:sp>
        <p:nvSpPr>
          <p:cNvPr id="12" name="Text 10"/>
          <p:cNvSpPr/>
          <p:nvPr/>
        </p:nvSpPr>
        <p:spPr>
          <a:xfrm>
            <a:off x="1645920" y="4754880"/>
            <a:ext cx="1828800" cy="457200"/>
          </a:xfrm>
          <a:prstGeom prst="rect">
            <a:avLst/>
          </a:prstGeom>
          <a:noFill/>
          <a:ln/>
        </p:spPr>
        <p:txBody>
          <a:bodyPr wrap="square" rtlCol="0" anchor="ctr"/>
          <a:lstStyle/>
          <a:p>
            <a:pPr indent="0" marL="0">
              <a:buNone/>
            </a:pPr>
            <a:r>
              <a:rPr lang="en-US" sz="1600" b="1" dirty="0">
                <a:solidFill>
                  <a:srgbClr val="DC3545"/>
                </a:solidFill>
              </a:rPr>
              <a:t>Risk:</a:t>
            </a:r>
            <a:endParaRPr lang="en-US" sz="1600" dirty="0"/>
          </a:p>
        </p:txBody>
      </p:sp>
      <p:sp>
        <p:nvSpPr>
          <p:cNvPr id="13" name="Text 11"/>
          <p:cNvSpPr/>
          <p:nvPr/>
        </p:nvSpPr>
        <p:spPr>
          <a:xfrm>
            <a:off x="3657600" y="4754880"/>
            <a:ext cx="12435840" cy="457200"/>
          </a:xfrm>
          <a:prstGeom prst="rect">
            <a:avLst/>
          </a:prstGeom>
          <a:noFill/>
          <a:ln/>
        </p:spPr>
        <p:txBody>
          <a:bodyPr wrap="square" rtlCol="0" anchor="ctr"/>
          <a:lstStyle/>
          <a:p>
            <a:pPr indent="0" marL="0">
              <a:buNone/>
            </a:pPr>
            <a:r>
              <a:rPr lang="en-US" sz="1800" dirty="0">
                <a:solidFill>
                  <a:srgbClr val="1A1A1A"/>
                </a:solidFill>
              </a:rPr>
              <a:t>Consumers don't care about hormones</a:t>
            </a:r>
            <a:endParaRPr lang="en-US" sz="1800" dirty="0"/>
          </a:p>
        </p:txBody>
      </p:sp>
      <p:sp>
        <p:nvSpPr>
          <p:cNvPr id="14" name="Text 12"/>
          <p:cNvSpPr/>
          <p:nvPr/>
        </p:nvSpPr>
        <p:spPr>
          <a:xfrm>
            <a:off x="1645920" y="5394960"/>
            <a:ext cx="2194560" cy="365760"/>
          </a:xfrm>
          <a:prstGeom prst="rect">
            <a:avLst/>
          </a:prstGeom>
          <a:noFill/>
          <a:ln/>
        </p:spPr>
        <p:txBody>
          <a:bodyPr wrap="square" rtlCol="0" anchor="ctr"/>
          <a:lstStyle/>
          <a:p>
            <a:pPr indent="0" marL="0">
              <a:buNone/>
            </a:pPr>
            <a:r>
              <a:rPr lang="en-US" sz="1400" b="1" dirty="0">
                <a:solidFill>
                  <a:srgbClr val="28A745"/>
                </a:solidFill>
              </a:rPr>
              <a:t>Mitigation:</a:t>
            </a:r>
            <a:endParaRPr lang="en-US" sz="1400" dirty="0"/>
          </a:p>
        </p:txBody>
      </p:sp>
      <p:sp>
        <p:nvSpPr>
          <p:cNvPr id="15" name="Text 13"/>
          <p:cNvSpPr/>
          <p:nvPr/>
        </p:nvSpPr>
        <p:spPr>
          <a:xfrm>
            <a:off x="3657600" y="5394960"/>
            <a:ext cx="11338560" cy="365760"/>
          </a:xfrm>
          <a:prstGeom prst="rect">
            <a:avLst/>
          </a:prstGeom>
          <a:noFill/>
          <a:ln/>
        </p:spPr>
        <p:txBody>
          <a:bodyPr wrap="square" rtlCol="0" anchor="ctr"/>
          <a:lstStyle/>
          <a:p>
            <a:pPr indent="0" marL="0">
              <a:buNone/>
            </a:pPr>
            <a:r>
              <a:rPr lang="en-US" sz="1600" dirty="0">
                <a:solidFill>
                  <a:srgbClr val="1A1A1A"/>
                </a:solidFill>
              </a:rPr>
              <a:t>Focus on beauty benefits &amp; peptides instead</a:t>
            </a:r>
            <a:endParaRPr lang="en-US" sz="1600" dirty="0"/>
          </a:p>
        </p:txBody>
      </p:sp>
      <p:sp>
        <p:nvSpPr>
          <p:cNvPr id="16" name="Shape 14"/>
          <p:cNvSpPr/>
          <p:nvPr/>
        </p:nvSpPr>
        <p:spPr>
          <a:xfrm>
            <a:off x="15361920" y="5212080"/>
            <a:ext cx="1463040" cy="548640"/>
          </a:xfrm>
          <a:prstGeom prst="rect">
            <a:avLst/>
          </a:prstGeom>
          <a:solidFill>
            <a:srgbClr val="28A745"/>
          </a:solidFill>
          <a:ln/>
        </p:spPr>
      </p:sp>
      <p:sp>
        <p:nvSpPr>
          <p:cNvPr id="17" name="Text 15"/>
          <p:cNvSpPr/>
          <p:nvPr/>
        </p:nvSpPr>
        <p:spPr>
          <a:xfrm>
            <a:off x="15361920" y="5248656"/>
            <a:ext cx="1463040" cy="475488"/>
          </a:xfrm>
          <a:prstGeom prst="rect">
            <a:avLst/>
          </a:prstGeom>
          <a:noFill/>
          <a:ln/>
        </p:spPr>
        <p:txBody>
          <a:bodyPr wrap="square" rtlCol="0" anchor="ctr"/>
          <a:lstStyle/>
          <a:p>
            <a:pPr algn="ctr" indent="0" marL="0">
              <a:buNone/>
            </a:pPr>
            <a:r>
              <a:rPr lang="en-US" sz="1200" b="1" dirty="0">
                <a:solidFill>
                  <a:srgbClr val="FFFFFF"/>
                </a:solidFill>
              </a:rPr>
              <a:t>LOW</a:t>
            </a:r>
            <a:endParaRPr lang="en-US" sz="1200" dirty="0"/>
          </a:p>
        </p:txBody>
      </p:sp>
      <p:sp>
        <p:nvSpPr>
          <p:cNvPr id="18" name="Shape 16"/>
          <p:cNvSpPr/>
          <p:nvPr/>
        </p:nvSpPr>
        <p:spPr>
          <a:xfrm>
            <a:off x="1280160" y="6766560"/>
            <a:ext cx="15727680" cy="1828800"/>
          </a:xfrm>
          <a:prstGeom prst="rect">
            <a:avLst/>
          </a:prstGeom>
          <a:solidFill>
            <a:srgbClr val="FFFFFF"/>
          </a:solidFill>
          <a:ln w="50800">
            <a:solidFill>
              <a:srgbClr val="003366"/>
            </a:solidFill>
            <a:prstDash val="solid"/>
          </a:ln>
        </p:spPr>
      </p:sp>
      <p:sp>
        <p:nvSpPr>
          <p:cNvPr id="19" name="Text 17"/>
          <p:cNvSpPr/>
          <p:nvPr/>
        </p:nvSpPr>
        <p:spPr>
          <a:xfrm>
            <a:off x="1645920" y="6949440"/>
            <a:ext cx="1828800" cy="457200"/>
          </a:xfrm>
          <a:prstGeom prst="rect">
            <a:avLst/>
          </a:prstGeom>
          <a:noFill/>
          <a:ln/>
        </p:spPr>
        <p:txBody>
          <a:bodyPr wrap="square" rtlCol="0" anchor="ctr"/>
          <a:lstStyle/>
          <a:p>
            <a:pPr indent="0" marL="0">
              <a:buNone/>
            </a:pPr>
            <a:r>
              <a:rPr lang="en-US" sz="1600" b="1" dirty="0">
                <a:solidFill>
                  <a:srgbClr val="DC3545"/>
                </a:solidFill>
              </a:rPr>
              <a:t>Risk:</a:t>
            </a:r>
            <a:endParaRPr lang="en-US" sz="1600" dirty="0"/>
          </a:p>
        </p:txBody>
      </p:sp>
      <p:sp>
        <p:nvSpPr>
          <p:cNvPr id="20" name="Text 18"/>
          <p:cNvSpPr/>
          <p:nvPr/>
        </p:nvSpPr>
        <p:spPr>
          <a:xfrm>
            <a:off x="3657600" y="6949440"/>
            <a:ext cx="12435840" cy="457200"/>
          </a:xfrm>
          <a:prstGeom prst="rect">
            <a:avLst/>
          </a:prstGeom>
          <a:noFill/>
          <a:ln/>
        </p:spPr>
        <p:txBody>
          <a:bodyPr wrap="square" rtlCol="0" anchor="ctr"/>
          <a:lstStyle/>
          <a:p>
            <a:pPr indent="0" marL="0">
              <a:buNone/>
            </a:pPr>
            <a:r>
              <a:rPr lang="en-US" sz="1800" dirty="0">
                <a:solidFill>
                  <a:srgbClr val="1A1A1A"/>
                </a:solidFill>
              </a:rPr>
              <a:t>Chinese competitors copy claims</a:t>
            </a:r>
            <a:endParaRPr lang="en-US" sz="1800" dirty="0"/>
          </a:p>
        </p:txBody>
      </p:sp>
      <p:sp>
        <p:nvSpPr>
          <p:cNvPr id="21" name="Text 19"/>
          <p:cNvSpPr/>
          <p:nvPr/>
        </p:nvSpPr>
        <p:spPr>
          <a:xfrm>
            <a:off x="1645920" y="7589520"/>
            <a:ext cx="2194560" cy="365760"/>
          </a:xfrm>
          <a:prstGeom prst="rect">
            <a:avLst/>
          </a:prstGeom>
          <a:noFill/>
          <a:ln/>
        </p:spPr>
        <p:txBody>
          <a:bodyPr wrap="square" rtlCol="0" anchor="ctr"/>
          <a:lstStyle/>
          <a:p>
            <a:pPr indent="0" marL="0">
              <a:buNone/>
            </a:pPr>
            <a:r>
              <a:rPr lang="en-US" sz="1400" b="1" dirty="0">
                <a:solidFill>
                  <a:srgbClr val="28A745"/>
                </a:solidFill>
              </a:rPr>
              <a:t>Mitigation:</a:t>
            </a:r>
            <a:endParaRPr lang="en-US" sz="1400" dirty="0"/>
          </a:p>
        </p:txBody>
      </p:sp>
      <p:sp>
        <p:nvSpPr>
          <p:cNvPr id="22" name="Text 20"/>
          <p:cNvSpPr/>
          <p:nvPr/>
        </p:nvSpPr>
        <p:spPr>
          <a:xfrm>
            <a:off x="3657600" y="7589520"/>
            <a:ext cx="11338560" cy="365760"/>
          </a:xfrm>
          <a:prstGeom prst="rect">
            <a:avLst/>
          </a:prstGeom>
          <a:noFill/>
          <a:ln/>
        </p:spPr>
        <p:txBody>
          <a:bodyPr wrap="square" rtlCol="0" anchor="ctr"/>
          <a:lstStyle/>
          <a:p>
            <a:pPr indent="0" marL="0">
              <a:buNone/>
            </a:pPr>
            <a:r>
              <a:rPr lang="en-US" sz="1600" dirty="0">
                <a:solidFill>
                  <a:srgbClr val="1A1A1A"/>
                </a:solidFill>
              </a:rPr>
              <a:t>EX1191 traceability + continuous testing</a:t>
            </a:r>
            <a:endParaRPr lang="en-US" sz="1600" dirty="0"/>
          </a:p>
        </p:txBody>
      </p:sp>
      <p:sp>
        <p:nvSpPr>
          <p:cNvPr id="23" name="Shape 21"/>
          <p:cNvSpPr/>
          <p:nvPr/>
        </p:nvSpPr>
        <p:spPr>
          <a:xfrm>
            <a:off x="15361920" y="7406640"/>
            <a:ext cx="1463040" cy="548640"/>
          </a:xfrm>
          <a:prstGeom prst="rect">
            <a:avLst/>
          </a:prstGeom>
          <a:solidFill>
            <a:srgbClr val="FFC107"/>
          </a:solidFill>
          <a:ln/>
        </p:spPr>
      </p:sp>
      <p:sp>
        <p:nvSpPr>
          <p:cNvPr id="24" name="Text 22"/>
          <p:cNvSpPr/>
          <p:nvPr/>
        </p:nvSpPr>
        <p:spPr>
          <a:xfrm>
            <a:off x="15361920" y="7443216"/>
            <a:ext cx="1463040" cy="475488"/>
          </a:xfrm>
          <a:prstGeom prst="rect">
            <a:avLst/>
          </a:prstGeom>
          <a:noFill/>
          <a:ln/>
        </p:spPr>
        <p:txBody>
          <a:bodyPr wrap="square" rtlCol="0" anchor="ctr"/>
          <a:lstStyle/>
          <a:p>
            <a:pPr algn="ctr" indent="0" marL="0">
              <a:buNone/>
            </a:pPr>
            <a:r>
              <a:rPr lang="en-US" sz="1200" b="1" dirty="0">
                <a:solidFill>
                  <a:srgbClr val="FFFFFF"/>
                </a:solidFill>
              </a:rPr>
              <a:t>MEDIUM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003366"/>
          </a:solidFill>
          <a:ln/>
        </p:spPr>
      </p:sp>
      <p:sp>
        <p:nvSpPr>
          <p:cNvPr id="3" name="Text 1"/>
          <p:cNvSpPr/>
          <p:nvPr/>
        </p:nvSpPr>
        <p:spPr>
          <a:xfrm>
            <a:off x="914400" y="365760"/>
            <a:ext cx="16459200" cy="731520"/>
          </a:xfrm>
          <a:prstGeom prst="rect">
            <a:avLst/>
          </a:prstGeom>
          <a:noFill/>
          <a:ln/>
        </p:spPr>
        <p:txBody>
          <a:bodyPr wrap="square" rtlCol="0" anchor="ctr"/>
          <a:lstStyle/>
          <a:p>
            <a:pPr indent="0" marL="0">
              <a:buNone/>
            </a:pPr>
            <a:r>
              <a:rPr lang="en-US" sz="3800" b="1" dirty="0">
                <a:solidFill>
                  <a:srgbClr val="FFFFFF"/>
                </a:solidFill>
              </a:rPr>
              <a:t>Immediate Next Steps</a:t>
            </a:r>
            <a:endParaRPr lang="en-US" sz="3800" dirty="0"/>
          </a:p>
        </p:txBody>
      </p:sp>
      <p:sp>
        <p:nvSpPr>
          <p:cNvPr id="4" name="Shape 2"/>
          <p:cNvSpPr/>
          <p:nvPr/>
        </p:nvSpPr>
        <p:spPr>
          <a:xfrm>
            <a:off x="1463040" y="2560320"/>
            <a:ext cx="914400" cy="914400"/>
          </a:xfrm>
          <a:prstGeom prst="ellipse">
            <a:avLst/>
          </a:prstGeom>
          <a:solidFill>
            <a:srgbClr val="D4AF37"/>
          </a:solidFill>
          <a:ln/>
        </p:spPr>
      </p:sp>
      <p:sp>
        <p:nvSpPr>
          <p:cNvPr id="5" name="Text 3"/>
          <p:cNvSpPr/>
          <p:nvPr/>
        </p:nvSpPr>
        <p:spPr>
          <a:xfrm>
            <a:off x="1463040" y="2560320"/>
            <a:ext cx="914400" cy="914400"/>
          </a:xfrm>
          <a:prstGeom prst="rect">
            <a:avLst/>
          </a:prstGeom>
          <a:noFill/>
          <a:ln/>
        </p:spPr>
        <p:txBody>
          <a:bodyPr wrap="square" rtlCol="0" anchor="ctr"/>
          <a:lstStyle/>
          <a:p>
            <a:pPr algn="ctr" indent="0" marL="0">
              <a:buNone/>
            </a:pPr>
            <a:r>
              <a:rPr lang="en-US" sz="2800" b="1" dirty="0">
                <a:solidFill>
                  <a:srgbClr val="FFFFFF"/>
                </a:solidFill>
              </a:rPr>
              <a:t>1</a:t>
            </a:r>
            <a:endParaRPr lang="en-US" sz="2800" dirty="0"/>
          </a:p>
        </p:txBody>
      </p:sp>
      <p:sp>
        <p:nvSpPr>
          <p:cNvPr id="6" name="Text 4"/>
          <p:cNvSpPr/>
          <p:nvPr/>
        </p:nvSpPr>
        <p:spPr>
          <a:xfrm>
            <a:off x="2743200" y="2743200"/>
            <a:ext cx="14264640" cy="640080"/>
          </a:xfrm>
          <a:prstGeom prst="rect">
            <a:avLst/>
          </a:prstGeom>
          <a:noFill/>
          <a:ln/>
        </p:spPr>
        <p:txBody>
          <a:bodyPr wrap="square" rtlCol="0" anchor="ctr"/>
          <a:lstStyle/>
          <a:p>
            <a:pPr indent="0" marL="0">
              <a:buNone/>
            </a:pPr>
            <a:r>
              <a:rPr lang="en-US" sz="2000" dirty="0">
                <a:solidFill>
                  <a:srgbClr val="1A1A1A"/>
                </a:solidFill>
              </a:rPr>
              <a:t>Approve $15-25K for comprehensive lab testing</a:t>
            </a:r>
            <a:endParaRPr lang="en-US" sz="2000" dirty="0"/>
          </a:p>
        </p:txBody>
      </p:sp>
      <p:sp>
        <p:nvSpPr>
          <p:cNvPr id="7" name="Shape 5"/>
          <p:cNvSpPr/>
          <p:nvPr/>
        </p:nvSpPr>
        <p:spPr>
          <a:xfrm>
            <a:off x="1463040" y="3931920"/>
            <a:ext cx="914400" cy="914400"/>
          </a:xfrm>
          <a:prstGeom prst="ellipse">
            <a:avLst/>
          </a:prstGeom>
          <a:solidFill>
            <a:srgbClr val="D4AF37"/>
          </a:solidFill>
          <a:ln/>
        </p:spPr>
      </p:sp>
      <p:sp>
        <p:nvSpPr>
          <p:cNvPr id="8" name="Text 6"/>
          <p:cNvSpPr/>
          <p:nvPr/>
        </p:nvSpPr>
        <p:spPr>
          <a:xfrm>
            <a:off x="1463040" y="3931920"/>
            <a:ext cx="914400" cy="914400"/>
          </a:xfrm>
          <a:prstGeom prst="rect">
            <a:avLst/>
          </a:prstGeom>
          <a:noFill/>
          <a:ln/>
        </p:spPr>
        <p:txBody>
          <a:bodyPr wrap="square" rtlCol="0" anchor="ctr"/>
          <a:lstStyle/>
          <a:p>
            <a:pPr algn="ctr" indent="0" marL="0">
              <a:buNone/>
            </a:pPr>
            <a:r>
              <a:rPr lang="en-US" sz="2800" b="1" dirty="0">
                <a:solidFill>
                  <a:srgbClr val="FFFFFF"/>
                </a:solidFill>
              </a:rPr>
              <a:t>2</a:t>
            </a:r>
            <a:endParaRPr lang="en-US" sz="2800" dirty="0"/>
          </a:p>
        </p:txBody>
      </p:sp>
      <p:sp>
        <p:nvSpPr>
          <p:cNvPr id="9" name="Text 7"/>
          <p:cNvSpPr/>
          <p:nvPr/>
        </p:nvSpPr>
        <p:spPr>
          <a:xfrm>
            <a:off x="2743200" y="4114800"/>
            <a:ext cx="14264640" cy="640080"/>
          </a:xfrm>
          <a:prstGeom prst="rect">
            <a:avLst/>
          </a:prstGeom>
          <a:noFill/>
          <a:ln/>
        </p:spPr>
        <p:txBody>
          <a:bodyPr wrap="square" rtlCol="0" anchor="ctr"/>
          <a:lstStyle/>
          <a:p>
            <a:pPr indent="0" marL="0">
              <a:buNone/>
            </a:pPr>
            <a:r>
              <a:rPr lang="en-US" sz="2000" dirty="0">
                <a:solidFill>
                  <a:srgbClr val="1A1A1A"/>
                </a:solidFill>
              </a:rPr>
              <a:t>Send BOTH wild and farmed samples to independent lab</a:t>
            </a:r>
            <a:endParaRPr lang="en-US" sz="2000" dirty="0"/>
          </a:p>
        </p:txBody>
      </p:sp>
      <p:sp>
        <p:nvSpPr>
          <p:cNvPr id="10" name="Shape 8"/>
          <p:cNvSpPr/>
          <p:nvPr/>
        </p:nvSpPr>
        <p:spPr>
          <a:xfrm>
            <a:off x="1463040" y="5303520"/>
            <a:ext cx="914400" cy="914400"/>
          </a:xfrm>
          <a:prstGeom prst="ellipse">
            <a:avLst/>
          </a:prstGeom>
          <a:solidFill>
            <a:srgbClr val="D4AF37"/>
          </a:solidFill>
          <a:ln/>
        </p:spPr>
      </p:sp>
      <p:sp>
        <p:nvSpPr>
          <p:cNvPr id="11" name="Text 9"/>
          <p:cNvSpPr/>
          <p:nvPr/>
        </p:nvSpPr>
        <p:spPr>
          <a:xfrm>
            <a:off x="1463040" y="5303520"/>
            <a:ext cx="914400" cy="914400"/>
          </a:xfrm>
          <a:prstGeom prst="rect">
            <a:avLst/>
          </a:prstGeom>
          <a:noFill/>
          <a:ln/>
        </p:spPr>
        <p:txBody>
          <a:bodyPr wrap="square" rtlCol="0" anchor="ctr"/>
          <a:lstStyle/>
          <a:p>
            <a:pPr algn="ctr" indent="0" marL="0">
              <a:buNone/>
            </a:pPr>
            <a:r>
              <a:rPr lang="en-US" sz="2800" b="1" dirty="0">
                <a:solidFill>
                  <a:srgbClr val="FFFFFF"/>
                </a:solidFill>
              </a:rPr>
              <a:t>3</a:t>
            </a:r>
            <a:endParaRPr lang="en-US" sz="2800" dirty="0"/>
          </a:p>
        </p:txBody>
      </p:sp>
      <p:sp>
        <p:nvSpPr>
          <p:cNvPr id="12" name="Text 10"/>
          <p:cNvSpPr/>
          <p:nvPr/>
        </p:nvSpPr>
        <p:spPr>
          <a:xfrm>
            <a:off x="2743200" y="5486400"/>
            <a:ext cx="14264640" cy="640080"/>
          </a:xfrm>
          <a:prstGeom prst="rect">
            <a:avLst/>
          </a:prstGeom>
          <a:noFill/>
          <a:ln/>
        </p:spPr>
        <p:txBody>
          <a:bodyPr wrap="square" rtlCol="0" anchor="ctr"/>
          <a:lstStyle/>
          <a:p>
            <a:pPr indent="0" marL="0">
              <a:buNone/>
            </a:pPr>
            <a:r>
              <a:rPr lang="en-US" sz="2000" dirty="0">
                <a:solidFill>
                  <a:srgbClr val="1A1A1A"/>
                </a:solidFill>
              </a:rPr>
              <a:t>Focus on hormone + beauty compound analysis</a:t>
            </a:r>
            <a:endParaRPr lang="en-US" sz="2000" dirty="0"/>
          </a:p>
        </p:txBody>
      </p:sp>
      <p:sp>
        <p:nvSpPr>
          <p:cNvPr id="13" name="Shape 11"/>
          <p:cNvSpPr/>
          <p:nvPr/>
        </p:nvSpPr>
        <p:spPr>
          <a:xfrm>
            <a:off x="1463040" y="6675120"/>
            <a:ext cx="914400" cy="914400"/>
          </a:xfrm>
          <a:prstGeom prst="ellipse">
            <a:avLst/>
          </a:prstGeom>
          <a:solidFill>
            <a:srgbClr val="D4AF37"/>
          </a:solidFill>
          <a:ln/>
        </p:spPr>
      </p:sp>
      <p:sp>
        <p:nvSpPr>
          <p:cNvPr id="14" name="Text 12"/>
          <p:cNvSpPr/>
          <p:nvPr/>
        </p:nvSpPr>
        <p:spPr>
          <a:xfrm>
            <a:off x="1463040" y="6675120"/>
            <a:ext cx="914400" cy="914400"/>
          </a:xfrm>
          <a:prstGeom prst="rect">
            <a:avLst/>
          </a:prstGeom>
          <a:noFill/>
          <a:ln/>
        </p:spPr>
        <p:txBody>
          <a:bodyPr wrap="square" rtlCol="0" anchor="ctr"/>
          <a:lstStyle/>
          <a:p>
            <a:pPr algn="ctr" indent="0" marL="0">
              <a:buNone/>
            </a:pPr>
            <a:r>
              <a:rPr lang="en-US" sz="2800" b="1" dirty="0">
                <a:solidFill>
                  <a:srgbClr val="FFFFFF"/>
                </a:solidFill>
              </a:rPr>
              <a:t>4</a:t>
            </a:r>
            <a:endParaRPr lang="en-US" sz="2800" dirty="0"/>
          </a:p>
        </p:txBody>
      </p:sp>
      <p:sp>
        <p:nvSpPr>
          <p:cNvPr id="15" name="Text 13"/>
          <p:cNvSpPr/>
          <p:nvPr/>
        </p:nvSpPr>
        <p:spPr>
          <a:xfrm>
            <a:off x="2743200" y="6858000"/>
            <a:ext cx="14264640" cy="640080"/>
          </a:xfrm>
          <a:prstGeom prst="rect">
            <a:avLst/>
          </a:prstGeom>
          <a:noFill/>
          <a:ln/>
        </p:spPr>
        <p:txBody>
          <a:bodyPr wrap="square" rtlCol="0" anchor="ctr"/>
          <a:lstStyle/>
          <a:p>
            <a:pPr indent="0" marL="0">
              <a:buNone/>
            </a:pPr>
            <a:r>
              <a:rPr lang="en-US" sz="2000" dirty="0">
                <a:solidFill>
                  <a:srgbClr val="1A1A1A"/>
                </a:solidFill>
              </a:rPr>
              <a:t>Create comparison infographic from results</a:t>
            </a:r>
            <a:endParaRPr lang="en-US" sz="2000" dirty="0"/>
          </a:p>
        </p:txBody>
      </p:sp>
      <p:sp>
        <p:nvSpPr>
          <p:cNvPr id="16" name="Shape 14"/>
          <p:cNvSpPr/>
          <p:nvPr/>
        </p:nvSpPr>
        <p:spPr>
          <a:xfrm>
            <a:off x="1463040" y="8046720"/>
            <a:ext cx="914400" cy="914400"/>
          </a:xfrm>
          <a:prstGeom prst="ellipse">
            <a:avLst/>
          </a:prstGeom>
          <a:solidFill>
            <a:srgbClr val="D4AF37"/>
          </a:solidFill>
          <a:ln/>
        </p:spPr>
      </p:sp>
      <p:sp>
        <p:nvSpPr>
          <p:cNvPr id="17" name="Text 15"/>
          <p:cNvSpPr/>
          <p:nvPr/>
        </p:nvSpPr>
        <p:spPr>
          <a:xfrm>
            <a:off x="1463040" y="8046720"/>
            <a:ext cx="914400" cy="914400"/>
          </a:xfrm>
          <a:prstGeom prst="rect">
            <a:avLst/>
          </a:prstGeom>
          <a:noFill/>
          <a:ln/>
        </p:spPr>
        <p:txBody>
          <a:bodyPr wrap="square" rtlCol="0" anchor="ctr"/>
          <a:lstStyle/>
          <a:p>
            <a:pPr algn="ctr" indent="0" marL="0">
              <a:buNone/>
            </a:pPr>
            <a:r>
              <a:rPr lang="en-US" sz="2800" b="1" dirty="0">
                <a:solidFill>
                  <a:srgbClr val="FFFFFF"/>
                </a:solidFill>
              </a:rPr>
              <a:t>5</a:t>
            </a:r>
            <a:endParaRPr lang="en-US" sz="2800" dirty="0"/>
          </a:p>
        </p:txBody>
      </p:sp>
      <p:sp>
        <p:nvSpPr>
          <p:cNvPr id="18" name="Text 16"/>
          <p:cNvSpPr/>
          <p:nvPr/>
        </p:nvSpPr>
        <p:spPr>
          <a:xfrm>
            <a:off x="2743200" y="8229600"/>
            <a:ext cx="14264640" cy="640080"/>
          </a:xfrm>
          <a:prstGeom prst="rect">
            <a:avLst/>
          </a:prstGeom>
          <a:noFill/>
          <a:ln/>
        </p:spPr>
        <p:txBody>
          <a:bodyPr wrap="square" rtlCol="0" anchor="ctr"/>
          <a:lstStyle/>
          <a:p>
            <a:pPr indent="0" marL="0">
              <a:buNone/>
            </a:pPr>
            <a:r>
              <a:rPr lang="en-US" sz="2000" dirty="0">
                <a:solidFill>
                  <a:srgbClr val="1A1A1A"/>
                </a:solidFill>
              </a:rPr>
              <a:t>Test messaging with 5 Singapore beauty influencers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1280160" y="2194560"/>
            <a:ext cx="15727680" cy="1828800"/>
          </a:xfrm>
          <a:prstGeom prst="rect">
            <a:avLst/>
          </a:prstGeom>
          <a:noFill/>
          <a:ln/>
        </p:spPr>
        <p:txBody>
          <a:bodyPr wrap="square" rtlCol="0" anchor="ctr"/>
          <a:lstStyle/>
          <a:p>
            <a:pPr algn="ctr" indent="0" marL="0">
              <a:buNone/>
            </a:pPr>
            <a:r>
              <a:rPr lang="en-US" sz="4200" b="1" dirty="0">
                <a:solidFill>
                  <a:srgbClr val="D4AF37"/>
                </a:solidFill>
              </a:rPr>
              <a:t>We Don't Need Higher Prices.</a:t>
            </a:r>
            <a:endParaRPr lang="en-US" sz="4200" dirty="0"/>
          </a:p>
          <a:p>
            <a:pPr algn="ctr" indent="0" marL="0">
              <a:buNone/>
            </a:pPr>
            <a:r>
              <a:rPr lang="en-US" sz="4200" b="1" dirty="0">
                <a:solidFill>
                  <a:srgbClr val="D4AF37"/>
                </a:solidFill>
              </a:rPr>
              <a:t>We Need Different Positioning.</a:t>
            </a:r>
            <a:endParaRPr lang="en-US" sz="4200" dirty="0"/>
          </a:p>
        </p:txBody>
      </p:sp>
      <p:sp>
        <p:nvSpPr>
          <p:cNvPr id="3" name="Shape 1"/>
          <p:cNvSpPr/>
          <p:nvPr/>
        </p:nvSpPr>
        <p:spPr>
          <a:xfrm>
            <a:off x="2743200" y="4572000"/>
            <a:ext cx="12801600" cy="1097280"/>
          </a:xfrm>
          <a:prstGeom prst="rect">
            <a:avLst/>
          </a:prstGeom>
          <a:solidFill>
            <a:srgbClr val="FFFFFF">
              <a:alpha val="90000"/>
            </a:srgbClr>
          </a:solidFill>
          <a:ln/>
        </p:spPr>
      </p:sp>
      <p:sp>
        <p:nvSpPr>
          <p:cNvPr id="4" name="Text 2"/>
          <p:cNvSpPr/>
          <p:nvPr/>
        </p:nvSpPr>
        <p:spPr>
          <a:xfrm>
            <a:off x="3108960" y="4663440"/>
            <a:ext cx="12070080" cy="914400"/>
          </a:xfrm>
          <a:prstGeom prst="rect">
            <a:avLst/>
          </a:prstGeom>
          <a:noFill/>
          <a:ln/>
        </p:spPr>
        <p:txBody>
          <a:bodyPr wrap="square" rtlCol="0" anchor="ctr"/>
          <a:lstStyle/>
          <a:p>
            <a:pPr algn="ctr" indent="0" marL="0">
              <a:buNone/>
            </a:pPr>
            <a:r>
              <a:rPr lang="en-US" sz="2000" b="1" dirty="0">
                <a:solidFill>
                  <a:srgbClr val="FFFFFF"/>
                </a:solidFill>
              </a:rPr>
              <a:t>Wild EX1191 = Beauty Supplement</a:t>
            </a:r>
            <a:endParaRPr lang="en-US" sz="2000" dirty="0"/>
          </a:p>
          <a:p>
            <a:pPr algn="ctr" indent="0" marL="0">
              <a:buNone/>
            </a:pPr>
            <a:r>
              <a:rPr lang="en-US" sz="2000" b="1" dirty="0">
                <a:solidFill>
                  <a:srgbClr val="FFFFFF"/>
                </a:solidFill>
              </a:rPr>
              <a:t>(happens to be abalone)</a:t>
            </a:r>
            <a:endParaRPr lang="en-US" sz="2000" dirty="0"/>
          </a:p>
        </p:txBody>
      </p:sp>
      <p:sp>
        <p:nvSpPr>
          <p:cNvPr id="5" name="Shape 3"/>
          <p:cNvSpPr/>
          <p:nvPr/>
        </p:nvSpPr>
        <p:spPr>
          <a:xfrm>
            <a:off x="2743200" y="5943600"/>
            <a:ext cx="12801600" cy="1097280"/>
          </a:xfrm>
          <a:prstGeom prst="rect">
            <a:avLst/>
          </a:prstGeom>
          <a:solidFill>
            <a:srgbClr val="FFFFFF">
              <a:alpha val="90000"/>
            </a:srgbClr>
          </a:solidFill>
          <a:ln/>
        </p:spPr>
      </p:sp>
      <p:sp>
        <p:nvSpPr>
          <p:cNvPr id="6" name="Text 4"/>
          <p:cNvSpPr/>
          <p:nvPr/>
        </p:nvSpPr>
        <p:spPr>
          <a:xfrm>
            <a:off x="3108960" y="6035040"/>
            <a:ext cx="12070080" cy="914400"/>
          </a:xfrm>
          <a:prstGeom prst="rect">
            <a:avLst/>
          </a:prstGeom>
          <a:noFill/>
          <a:ln/>
        </p:spPr>
        <p:txBody>
          <a:bodyPr wrap="square" rtlCol="0" anchor="ctr"/>
          <a:lstStyle/>
          <a:p>
            <a:pPr algn="ctr" indent="0" marL="0">
              <a:buNone/>
            </a:pPr>
            <a:r>
              <a:rPr lang="en-US" sz="2000" b="1" dirty="0">
                <a:solidFill>
                  <a:srgbClr val="FFFFFF"/>
                </a:solidFill>
              </a:rPr>
              <a:t>Chinese Farmed = Protein Food</a:t>
            </a:r>
            <a:endParaRPr lang="en-US" sz="2000" dirty="0"/>
          </a:p>
          <a:p>
            <a:pPr algn="ctr" indent="0" marL="0">
              <a:buNone/>
            </a:pPr>
            <a:r>
              <a:rPr lang="en-US" sz="2000" b="1" dirty="0">
                <a:solidFill>
                  <a:srgbClr val="FFFFFF"/>
                </a:solidFill>
              </a:rPr>
              <a:t>(just abalone)</a:t>
            </a:r>
            <a:endParaRPr lang="en-US" sz="2000" dirty="0"/>
          </a:p>
        </p:txBody>
      </p:sp>
      <p:sp>
        <p:nvSpPr>
          <p:cNvPr id="7" name="Shape 5"/>
          <p:cNvSpPr/>
          <p:nvPr/>
        </p:nvSpPr>
        <p:spPr>
          <a:xfrm>
            <a:off x="2743200" y="7315200"/>
            <a:ext cx="12801600" cy="1097280"/>
          </a:xfrm>
          <a:prstGeom prst="rect">
            <a:avLst/>
          </a:prstGeom>
          <a:solidFill>
            <a:srgbClr val="FFFFFF">
              <a:alpha val="90000"/>
            </a:srgbClr>
          </a:solidFill>
          <a:ln/>
        </p:spPr>
      </p:sp>
      <p:sp>
        <p:nvSpPr>
          <p:cNvPr id="8" name="Text 6"/>
          <p:cNvSpPr/>
          <p:nvPr/>
        </p:nvSpPr>
        <p:spPr>
          <a:xfrm>
            <a:off x="3108960" y="7406640"/>
            <a:ext cx="12070080" cy="914400"/>
          </a:xfrm>
          <a:prstGeom prst="rect">
            <a:avLst/>
          </a:prstGeom>
          <a:noFill/>
          <a:ln/>
        </p:spPr>
        <p:txBody>
          <a:bodyPr wrap="square" rtlCol="0" anchor="ctr"/>
          <a:lstStyle/>
          <a:p>
            <a:pPr algn="ctr" indent="0" marL="0">
              <a:buNone/>
            </a:pPr>
            <a:r>
              <a:rPr lang="en-US" sz="2000" b="1" dirty="0">
                <a:solidFill>
                  <a:srgbClr val="FFFFFF"/>
                </a:solidFill>
              </a:rPr>
              <a:t>Let the science speak.</a:t>
            </a:r>
            <a:endParaRPr lang="en-US" sz="2000" dirty="0"/>
          </a:p>
          <a:p>
            <a:pPr algn="ctr" indent="0" marL="0">
              <a:buNone/>
            </a:pPr>
            <a:r>
              <a:rPr lang="en-US" sz="2000" b="1" dirty="0">
                <a:solidFill>
                  <a:srgbClr val="FFFFFF"/>
                </a:solidFill>
              </a:rPr>
              <a:t>Let consumers choose.</a:t>
            </a:r>
            <a:endParaRPr lang="en-US" sz="2000" dirty="0"/>
          </a:p>
        </p:txBody>
      </p:sp>
      <p:sp>
        <p:nvSpPr>
          <p:cNvPr id="9" name="Shape 7"/>
          <p:cNvSpPr/>
          <p:nvPr/>
        </p:nvSpPr>
        <p:spPr>
          <a:xfrm>
            <a:off x="3657600" y="8778240"/>
            <a:ext cx="10972800" cy="914400"/>
          </a:xfrm>
          <a:prstGeom prst="rect">
            <a:avLst/>
          </a:prstGeom>
          <a:solidFill>
            <a:srgbClr val="D4AF37"/>
          </a:solidFill>
          <a:ln/>
        </p:spPr>
      </p:sp>
      <p:sp>
        <p:nvSpPr>
          <p:cNvPr id="10" name="Text 8"/>
          <p:cNvSpPr/>
          <p:nvPr/>
        </p:nvSpPr>
        <p:spPr>
          <a:xfrm>
            <a:off x="3657600" y="8869680"/>
            <a:ext cx="10972800" cy="731520"/>
          </a:xfrm>
          <a:prstGeom prst="rect">
            <a:avLst/>
          </a:prstGeom>
          <a:noFill/>
          <a:ln/>
        </p:spPr>
        <p:txBody>
          <a:bodyPr wrap="square" rtlCol="0" anchor="ctr"/>
          <a:lstStyle/>
          <a:p>
            <a:pPr algn="ctr" indent="0" marL="0">
              <a:buNone/>
            </a:pPr>
            <a:r>
              <a:rPr lang="en-US" sz="2800" b="1" dirty="0">
                <a:solidFill>
                  <a:srgbClr val="FFFFFF"/>
                </a:solidFill>
              </a:rPr>
              <a:t>Ready to prove we're different?</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Mallacoota Co-Op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Science of Differentiation</dc:title>
  <dc:subject>Scientific Differentiation Strategy</dc:subject>
  <dc:creator>Mallacoota Black Lip Abalone Co-Operative</dc:creator>
  <cp:lastModifiedBy>Mallacoota Black Lip Abalone Co-Operative</cp:lastModifiedBy>
  <cp:revision>1</cp:revision>
  <dcterms:created xsi:type="dcterms:W3CDTF">2025-11-15T06:18:49Z</dcterms:created>
  <dcterms:modified xsi:type="dcterms:W3CDTF">2025-11-15T06:18:49Z</dcterms:modified>
</cp:coreProperties>
</file>