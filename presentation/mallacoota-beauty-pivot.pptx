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strategic presentation on transforming our crisis into opportunity. Today we'll explore how repositioning our wild abalone from commodity food to premium beauty ingredient can secure the future of our 16 diving families. This is about survival and growth through smart, risk-managed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facing an existential crisis. In just two years, our revenue has collapsed by 75%, with shipments dropping from 12 containers to just 3. Chinese farmed abalone at $8-12 per kilogram is undercutting our wild product priced at $40-60, making us uncompetitive in traditional food markets. The livelihoods of 16 diving families hang in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market strategies simply won't work for us. Chef programs demand resources we don't have. Consumers won't pay 5X for food regardless of quality. Premium branding requires major upfront investment with uncertain returns. We need a fundamentally different approach that leverages our strengths without resource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breakthrough insight: we don't need to create new beliefs—they already exist in Asian culture. We just need to prove them scientifically and shift the category from food to beauty/wellness. Our wild advantage isn't taste, it's purity and potency. Lab testing can validate our 30%+ compound superiority and zero-hormone story, positioning us in a premium category where consumers happily pay multiples for proven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Asian beauty and wellness market is massive—$82 billion and growing 12% annually. We're targeting Gen Z and Millennial consumers who are growing, digitally native, and willing to pay premiums for proven benefits, unlike the declining banquet market. The 'eating your way to beauty' trend is already mainstream, clean beauty is booming, and influencer marketing provides cost-effective access to our target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stage-gate approach breaks the strategy into five manageable phases with clear GO/NO-GO decision points. Total investment ranges from $110K to $200K, but we only commit to each stage after the previous one succeeds. This minimizes risk and ensures we can exit at any point with controlled losses rather than committing everything upfront.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1 is our foundation. We invest $15-25K to scientifically prove our wild abalone has at least 30% more beneficial compounds than farmed, with zero hormones. Testing covers collagen, peptides, omega-3s, and minerals—all key beauty ingredients. Timeline is 6-8 weeks. If results don't meet our criteria, we stop here with minimal financial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2 and 3 validate our legal positioning and market messaging. Legal review ensures compliance across target markets for $5-10K. Micro-influencer testing with 5-8 partners proves audience resonance before major investment, requiring greater than 5% engagement and 80% positive sentiment for a GO decision. Combined investment of $15-25K with 10-16 week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4 launches our premium 'Mallacoota Beauty Reserve' line with 5,000-10,000 units at $60-80 per can. We partner with 15-20 mid-tier influencers and sell direct-to-consumer via e-commerce. Success means 70% sell-through in 3 months, validating both demand and premium pricing. Investment is $30-50K for packaging, influencer partnerships, and initial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5 focuses on scaling what works. We expand to macro-influencers with 1M+ followers, enter new markets across Asia, and secure premium retail partnerships. The target is generating 20-30% of total co-op revenue from the beauty line. Annual investment of $50-100K sustains marketing and expansion, but at this stage we have proven demand and are growing profitably.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messaging framework builds on existing cultural beliefs while adding scientific credibility. The core message positions us as premium wild product from pristine Australian waters. Four pillars—Purity, Potency, Provenance, Proven—create a compelling brand story. The tagline 'Pure. Wild. Proven.' encapsulates our competitive advantage in three powerful words that resonate across Asian beauty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projections show strong growth potential: Year 1 revenue of $1.2-1.8M, scaling to $6-10M by Year 3. The beauty line delivers 60% gross margins versus 30-40% on commodity sales. Three-year ROI ranges from 1,800% to 3,173% on total investment of $110-200K. These are conservative estimates based on proven beauty market dynamics and influencer marketing performance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stage-gate approach is designed to minimize financial risk. Maximum exposure at any single gate ranges from $15-25K initially to $50-100K at scale—but only after proving success at earlier stages. You can exit anytime with controlled losses. Even with probability-adjusted returns accounting for failure risk at each gate, ROI is still 378%—dramatically better than the status quo of declining revenue with no recovery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timeline spans 12 months with clear milestones and decision points. Months 1-2 focus on research and legal validation. Months 3-4 test messaging with micro-influencers. Months 5-7 launch limited product run. Months 8-12 scale what works. Most importantly, we reach our first critical GO/NO-GO decision in just 8 weeks with lab results, allowing for quick validation or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strategy succeeds because it's designed around our reality. We leverage existing assets—wild quality, heritage, pristine environment. It works within our constraints using bulk processing and influencer marketing instead of resource-intensive programs. We target growing Gen Z beauty consumers, not declining banquets. Stage-gates manage risk. And we capture 60% margins instead of 30-40%. This is smart repositioning, not wishful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forward is clear and concrete. Step one is board approval for the $15-25K Gate 1 investment. Within two weeks we select a certified lab. By week three we collect samples. Testing runs for 6-8 weeks. By week 10—just 10 weeks from today—we'll have our first GO/NO-GO decision based on hard scientific data, not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of decision. We're asking for just $15-25K to test our hypothesis with lab results. The potential upside is $6-10M in annual revenue. Risk is controlled at every stage through our gate system. The real question isn't whether we can afford to try this—it's whether we can afford not to. Let's approve Gate 1 and take the first step toward securing our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Text 0"/>
          <p:cNvSpPr/>
          <p:nvPr/>
        </p:nvSpPr>
        <p:spPr>
          <a:xfrm>
            <a:off x="457200" y="1371600"/>
            <a:ext cx="8229600" cy="1371600"/>
          </a:xfrm>
          <a:prstGeom prst="rect">
            <a:avLst/>
          </a:prstGeom>
          <a:noFill/>
          <a:ln/>
        </p:spPr>
        <p:txBody>
          <a:bodyPr wrap="square" rtlCol="0" anchor="ctr"/>
          <a:lstStyle/>
          <a:p>
            <a:pPr algn="ctr" indent="0" marL="0">
              <a:buNone/>
            </a:pPr>
            <a:r>
              <a:rPr lang="en-US" sz="4800" b="1" dirty="0">
                <a:solidFill>
                  <a:srgbClr val="FFFFFF"/>
                </a:solidFill>
              </a:rPr>
              <a:t>From Crisis to Opportunity:</a:t>
            </a:r>
            <a:endParaRPr lang="en-US" sz="4800" dirty="0"/>
          </a:p>
          <a:p>
            <a:pPr algn="ctr" indent="0" marL="0">
              <a:buNone/>
            </a:pPr>
            <a:r>
              <a:rPr lang="en-US" sz="4800" b="1" dirty="0">
                <a:solidFill>
                  <a:srgbClr val="FFFFFF"/>
                </a:solidFill>
              </a:rPr>
              <a:t>The Beauty Pivot</a:t>
            </a:r>
            <a:endParaRPr lang="en-US" sz="4800" dirty="0"/>
          </a:p>
        </p:txBody>
      </p:sp>
      <p:sp>
        <p:nvSpPr>
          <p:cNvPr id="3" name="Shape 1"/>
          <p:cNvSpPr/>
          <p:nvPr/>
        </p:nvSpPr>
        <p:spPr>
          <a:xfrm>
            <a:off x="3657600" y="2834640"/>
            <a:ext cx="1828800" cy="45720"/>
          </a:xfrm>
          <a:prstGeom prst="rect">
            <a:avLst/>
          </a:prstGeom>
          <a:solidFill>
            <a:srgbClr val="D4AF37"/>
          </a:solidFill>
          <a:ln/>
        </p:spPr>
      </p:sp>
      <p:sp>
        <p:nvSpPr>
          <p:cNvPr id="4" name="Text 2"/>
          <p:cNvSpPr/>
          <p:nvPr/>
        </p:nvSpPr>
        <p:spPr>
          <a:xfrm>
            <a:off x="457200" y="3108960"/>
            <a:ext cx="8229600" cy="731520"/>
          </a:xfrm>
          <a:prstGeom prst="rect">
            <a:avLst/>
          </a:prstGeom>
          <a:noFill/>
          <a:ln/>
        </p:spPr>
        <p:txBody>
          <a:bodyPr wrap="square" rtlCol="0" anchor="ctr"/>
          <a:lstStyle/>
          <a:p>
            <a:pPr algn="ctr" indent="0" marL="0">
              <a:buNone/>
            </a:pPr>
            <a:r>
              <a:rPr lang="en-US" sz="2400" dirty="0">
                <a:solidFill>
                  <a:srgbClr val="7FCDCD"/>
                </a:solidFill>
              </a:rPr>
              <a:t>Repositioning Mallacoota Wild Abalone</a:t>
            </a:r>
            <a:endParaRPr lang="en-US" sz="2400" dirty="0"/>
          </a:p>
          <a:p>
            <a:pPr algn="ctr" indent="0" marL="0">
              <a:buNone/>
            </a:pPr>
            <a:r>
              <a:rPr lang="en-US" sz="2400" dirty="0">
                <a:solidFill>
                  <a:srgbClr val="7FCDCD"/>
                </a:solidFill>
              </a:rPr>
              <a:t>for Premium Markets</a:t>
            </a:r>
            <a:endParaRPr lang="en-US" sz="2400" dirty="0"/>
          </a:p>
        </p:txBody>
      </p:sp>
      <p:sp>
        <p:nvSpPr>
          <p:cNvPr id="5" name="Text 3"/>
          <p:cNvSpPr/>
          <p:nvPr/>
        </p:nvSpPr>
        <p:spPr>
          <a:xfrm>
            <a:off x="457200" y="4114800"/>
            <a:ext cx="8229600" cy="274320"/>
          </a:xfrm>
          <a:prstGeom prst="rect">
            <a:avLst/>
          </a:prstGeom>
          <a:noFill/>
          <a:ln/>
        </p:spPr>
        <p:txBody>
          <a:bodyPr wrap="square" rtlCol="0" anchor="ctr"/>
          <a:lstStyle/>
          <a:p>
            <a:pPr algn="ctr" indent="0" marL="0">
              <a:buNone/>
            </a:pPr>
            <a:r>
              <a:rPr lang="en-US" sz="1800" dirty="0">
                <a:solidFill>
                  <a:srgbClr val="FFFFFF"/>
                </a:solidFill>
              </a:rPr>
              <a:t>November 2025</a:t>
            </a:r>
            <a:endParaRPr lang="en-US" sz="1800" dirty="0"/>
          </a:p>
        </p:txBody>
      </p:sp>
      <p:sp>
        <p:nvSpPr>
          <p:cNvPr id="6" name="Text 4"/>
          <p:cNvSpPr/>
          <p:nvPr/>
        </p:nvSpPr>
        <p:spPr>
          <a:xfrm>
            <a:off x="457200" y="4480560"/>
            <a:ext cx="8229600" cy="365760"/>
          </a:xfrm>
          <a:prstGeom prst="rect">
            <a:avLst/>
          </a:prstGeom>
          <a:noFill/>
          <a:ln/>
        </p:spPr>
        <p:txBody>
          <a:bodyPr wrap="square" rtlCol="0" anchor="ctr"/>
          <a:lstStyle/>
          <a:p>
            <a:pPr algn="ctr" indent="0" marL="0">
              <a:buNone/>
            </a:pPr>
            <a:r>
              <a:rPr lang="en-US" sz="2000" b="1" dirty="0">
                <a:solidFill>
                  <a:srgbClr val="D4AF37"/>
                </a:solidFill>
              </a:rPr>
              <a:t>MALLACOOTA BLACK LIP ABALONE CO-OPERATIVE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The Crisis</a:t>
            </a:r>
            <a:endParaRPr lang="en-US" sz="3600" dirty="0"/>
          </a:p>
        </p:txBody>
      </p:sp>
      <p:sp>
        <p:nvSpPr>
          <p:cNvPr id="4" name="Shape 2"/>
          <p:cNvSpPr/>
          <p:nvPr/>
        </p:nvSpPr>
        <p:spPr>
          <a:xfrm>
            <a:off x="457200" y="1097280"/>
            <a:ext cx="3657600" cy="914400"/>
          </a:xfrm>
          <a:prstGeom prst="rect">
            <a:avLst/>
          </a:prstGeom>
          <a:solidFill>
            <a:srgbClr val="FFFFFF"/>
          </a:solidFill>
          <a:ln w="50800">
            <a:solidFill>
              <a:srgbClr val="DC3545"/>
            </a:solidFill>
            <a:prstDash val="solid"/>
          </a:ln>
        </p:spPr>
      </p:sp>
      <p:sp>
        <p:nvSpPr>
          <p:cNvPr id="5" name="Text 3"/>
          <p:cNvSpPr/>
          <p:nvPr/>
        </p:nvSpPr>
        <p:spPr>
          <a:xfrm>
            <a:off x="640080" y="1188720"/>
            <a:ext cx="3291840" cy="457200"/>
          </a:xfrm>
          <a:prstGeom prst="rect">
            <a:avLst/>
          </a:prstGeom>
          <a:noFill/>
          <a:ln/>
        </p:spPr>
        <p:txBody>
          <a:bodyPr wrap="square" rtlCol="0" anchor="ctr"/>
          <a:lstStyle/>
          <a:p>
            <a:pPr indent="0" marL="0">
              <a:buNone/>
            </a:pPr>
            <a:r>
              <a:rPr lang="en-US" sz="4400" b="1" dirty="0">
                <a:solidFill>
                  <a:srgbClr val="DC3545"/>
                </a:solidFill>
              </a:rPr>
              <a:t>75%</a:t>
            </a:r>
            <a:endParaRPr lang="en-US" sz="4400" dirty="0"/>
          </a:p>
        </p:txBody>
      </p:sp>
      <p:sp>
        <p:nvSpPr>
          <p:cNvPr id="6" name="Text 4"/>
          <p:cNvSpPr/>
          <p:nvPr/>
        </p:nvSpPr>
        <p:spPr>
          <a:xfrm>
            <a:off x="640080" y="1645920"/>
            <a:ext cx="3291840" cy="274320"/>
          </a:xfrm>
          <a:prstGeom prst="rect">
            <a:avLst/>
          </a:prstGeom>
          <a:noFill/>
          <a:ln/>
        </p:spPr>
        <p:txBody>
          <a:bodyPr wrap="square" rtlCol="0" anchor="ctr"/>
          <a:lstStyle/>
          <a:p>
            <a:pPr indent="0" marL="0">
              <a:buNone/>
            </a:pPr>
            <a:r>
              <a:rPr lang="en-US" sz="1600" dirty="0">
                <a:solidFill>
                  <a:srgbClr val="1A1A1A"/>
                </a:solidFill>
              </a:rPr>
              <a:t>Revenue Collapse in 2 Years</a:t>
            </a:r>
            <a:endParaRPr lang="en-US" sz="1600" dirty="0"/>
          </a:p>
        </p:txBody>
      </p:sp>
      <p:sp>
        <p:nvSpPr>
          <p:cNvPr id="7" name="Shape 5"/>
          <p:cNvSpPr/>
          <p:nvPr/>
        </p:nvSpPr>
        <p:spPr>
          <a:xfrm>
            <a:off x="457200" y="2194560"/>
            <a:ext cx="3657600" cy="914400"/>
          </a:xfrm>
          <a:prstGeom prst="rect">
            <a:avLst/>
          </a:prstGeom>
          <a:solidFill>
            <a:srgbClr val="FFFFFF"/>
          </a:solidFill>
          <a:ln w="50800">
            <a:solidFill>
              <a:srgbClr val="DC3545"/>
            </a:solidFill>
            <a:prstDash val="solid"/>
          </a:ln>
        </p:spPr>
      </p:sp>
      <p:sp>
        <p:nvSpPr>
          <p:cNvPr id="8" name="Text 6"/>
          <p:cNvSpPr/>
          <p:nvPr/>
        </p:nvSpPr>
        <p:spPr>
          <a:xfrm>
            <a:off x="640080" y="2286000"/>
            <a:ext cx="3291840" cy="457200"/>
          </a:xfrm>
          <a:prstGeom prst="rect">
            <a:avLst/>
          </a:prstGeom>
          <a:noFill/>
          <a:ln/>
        </p:spPr>
        <p:txBody>
          <a:bodyPr wrap="square" rtlCol="0" anchor="ctr"/>
          <a:lstStyle/>
          <a:p>
            <a:pPr indent="0" marL="0">
              <a:buNone/>
            </a:pPr>
            <a:r>
              <a:rPr lang="en-US" sz="4400" b="1" dirty="0">
                <a:solidFill>
                  <a:srgbClr val="DC3545"/>
                </a:solidFill>
              </a:rPr>
              <a:t>12 → 3</a:t>
            </a:r>
            <a:endParaRPr lang="en-US" sz="4400" dirty="0"/>
          </a:p>
        </p:txBody>
      </p:sp>
      <p:sp>
        <p:nvSpPr>
          <p:cNvPr id="9" name="Text 7"/>
          <p:cNvSpPr/>
          <p:nvPr/>
        </p:nvSpPr>
        <p:spPr>
          <a:xfrm>
            <a:off x="640080" y="2743200"/>
            <a:ext cx="3291840" cy="274320"/>
          </a:xfrm>
          <a:prstGeom prst="rect">
            <a:avLst/>
          </a:prstGeom>
          <a:noFill/>
          <a:ln/>
        </p:spPr>
        <p:txBody>
          <a:bodyPr wrap="square" rtlCol="0" anchor="ctr"/>
          <a:lstStyle/>
          <a:p>
            <a:pPr indent="0" marL="0">
              <a:buNone/>
            </a:pPr>
            <a:r>
              <a:rPr lang="en-US" sz="1500" dirty="0">
                <a:solidFill>
                  <a:srgbClr val="1A1A1A"/>
                </a:solidFill>
              </a:rPr>
              <a:t>Container Shipments to Singapore</a:t>
            </a:r>
            <a:endParaRPr lang="en-US" sz="1500" dirty="0"/>
          </a:p>
          <a:p>
            <a:pPr indent="0" marL="0">
              <a:buNone/>
            </a:pPr>
            <a:r>
              <a:rPr lang="en-US" sz="1500" dirty="0">
                <a:solidFill>
                  <a:srgbClr val="1A1A1A"/>
                </a:solidFill>
              </a:rPr>
              <a:t>(Annual Volume)</a:t>
            </a:r>
            <a:endParaRPr lang="en-US" sz="1500" dirty="0"/>
          </a:p>
        </p:txBody>
      </p:sp>
      <p:sp>
        <p:nvSpPr>
          <p:cNvPr id="10" name="Shape 8"/>
          <p:cNvSpPr/>
          <p:nvPr/>
        </p:nvSpPr>
        <p:spPr>
          <a:xfrm>
            <a:off x="4572000" y="1097280"/>
            <a:ext cx="4114800" cy="731520"/>
          </a:xfrm>
          <a:prstGeom prst="rect">
            <a:avLst/>
          </a:prstGeom>
          <a:solidFill>
            <a:srgbClr val="FFFFFF"/>
          </a:solidFill>
          <a:ln w="12700">
            <a:solidFill>
              <a:srgbClr val="E0E0E0"/>
            </a:solidFill>
            <a:prstDash val="solid"/>
          </a:ln>
        </p:spPr>
      </p:sp>
      <p:sp>
        <p:nvSpPr>
          <p:cNvPr id="11" name="Text 9"/>
          <p:cNvSpPr/>
          <p:nvPr/>
        </p:nvSpPr>
        <p:spPr>
          <a:xfrm>
            <a:off x="4754880" y="1188720"/>
            <a:ext cx="3749040" cy="274320"/>
          </a:xfrm>
          <a:prstGeom prst="rect">
            <a:avLst/>
          </a:prstGeom>
          <a:noFill/>
          <a:ln/>
        </p:spPr>
        <p:txBody>
          <a:bodyPr wrap="square" rtlCol="0" anchor="ctr"/>
          <a:lstStyle/>
          <a:p>
            <a:pPr indent="0" marL="0">
              <a:buNone/>
            </a:pPr>
            <a:r>
              <a:rPr lang="en-US" sz="1400" b="1" dirty="0">
                <a:solidFill>
                  <a:srgbClr val="003366"/>
                </a:solidFill>
              </a:rPr>
              <a:t>Chinese Farmed Abalone</a:t>
            </a:r>
            <a:endParaRPr lang="en-US" sz="1400" dirty="0"/>
          </a:p>
        </p:txBody>
      </p:sp>
      <p:sp>
        <p:nvSpPr>
          <p:cNvPr id="12" name="Text 10"/>
          <p:cNvSpPr/>
          <p:nvPr/>
        </p:nvSpPr>
        <p:spPr>
          <a:xfrm>
            <a:off x="4754880" y="1463040"/>
            <a:ext cx="3749040" cy="274320"/>
          </a:xfrm>
          <a:prstGeom prst="rect">
            <a:avLst/>
          </a:prstGeom>
          <a:noFill/>
          <a:ln/>
        </p:spPr>
        <p:txBody>
          <a:bodyPr wrap="square" rtlCol="0" anchor="ctr"/>
          <a:lstStyle/>
          <a:p>
            <a:pPr indent="0" marL="0">
              <a:buNone/>
            </a:pPr>
            <a:r>
              <a:rPr lang="en-US" sz="2800" b="1" dirty="0">
                <a:solidFill>
                  <a:srgbClr val="DC3545"/>
                </a:solidFill>
              </a:rPr>
              <a:t>$8-12/kg</a:t>
            </a:r>
            <a:endParaRPr lang="en-US" sz="2800" dirty="0"/>
          </a:p>
        </p:txBody>
      </p:sp>
      <p:sp>
        <p:nvSpPr>
          <p:cNvPr id="13" name="Shape 11"/>
          <p:cNvSpPr/>
          <p:nvPr/>
        </p:nvSpPr>
        <p:spPr>
          <a:xfrm>
            <a:off x="4572000" y="2011680"/>
            <a:ext cx="4114800" cy="731520"/>
          </a:xfrm>
          <a:prstGeom prst="rect">
            <a:avLst/>
          </a:prstGeom>
          <a:solidFill>
            <a:srgbClr val="FFFFFF"/>
          </a:solidFill>
          <a:ln w="12700">
            <a:solidFill>
              <a:srgbClr val="E0E0E0"/>
            </a:solidFill>
            <a:prstDash val="solid"/>
          </a:ln>
        </p:spPr>
      </p:sp>
      <p:sp>
        <p:nvSpPr>
          <p:cNvPr id="14" name="Text 12"/>
          <p:cNvSpPr/>
          <p:nvPr/>
        </p:nvSpPr>
        <p:spPr>
          <a:xfrm>
            <a:off x="4754880" y="2103120"/>
            <a:ext cx="3749040" cy="274320"/>
          </a:xfrm>
          <a:prstGeom prst="rect">
            <a:avLst/>
          </a:prstGeom>
          <a:noFill/>
          <a:ln/>
        </p:spPr>
        <p:txBody>
          <a:bodyPr wrap="square" rtlCol="0" anchor="ctr"/>
          <a:lstStyle/>
          <a:p>
            <a:pPr indent="0" marL="0">
              <a:buNone/>
            </a:pPr>
            <a:r>
              <a:rPr lang="en-US" sz="1400" b="1" dirty="0">
                <a:solidFill>
                  <a:srgbClr val="003366"/>
                </a:solidFill>
              </a:rPr>
              <a:t>Our Wild Abalone</a:t>
            </a:r>
            <a:endParaRPr lang="en-US" sz="1400" dirty="0"/>
          </a:p>
        </p:txBody>
      </p:sp>
      <p:sp>
        <p:nvSpPr>
          <p:cNvPr id="15" name="Text 13"/>
          <p:cNvSpPr/>
          <p:nvPr/>
        </p:nvSpPr>
        <p:spPr>
          <a:xfrm>
            <a:off x="4754880" y="2377440"/>
            <a:ext cx="3749040" cy="274320"/>
          </a:xfrm>
          <a:prstGeom prst="rect">
            <a:avLst/>
          </a:prstGeom>
          <a:noFill/>
          <a:ln/>
        </p:spPr>
        <p:txBody>
          <a:bodyPr wrap="square" rtlCol="0" anchor="ctr"/>
          <a:lstStyle/>
          <a:p>
            <a:pPr indent="0" marL="0">
              <a:buNone/>
            </a:pPr>
            <a:r>
              <a:rPr lang="en-US" sz="2800" b="1" dirty="0">
                <a:solidFill>
                  <a:srgbClr val="28A745"/>
                </a:solidFill>
              </a:rPr>
              <a:t>$40-60/kg</a:t>
            </a:r>
            <a:endParaRPr lang="en-US" sz="2800" dirty="0"/>
          </a:p>
        </p:txBody>
      </p:sp>
      <p:sp>
        <p:nvSpPr>
          <p:cNvPr id="16" name="Shape 14"/>
          <p:cNvSpPr/>
          <p:nvPr/>
        </p:nvSpPr>
        <p:spPr>
          <a:xfrm>
            <a:off x="457200" y="3474720"/>
            <a:ext cx="8229600" cy="731520"/>
          </a:xfrm>
          <a:prstGeom prst="rect">
            <a:avLst/>
          </a:prstGeom>
          <a:solidFill>
            <a:srgbClr val="003366"/>
          </a:solidFill>
          <a:ln/>
        </p:spPr>
      </p:sp>
      <p:sp>
        <p:nvSpPr>
          <p:cNvPr id="17" name="Text 15"/>
          <p:cNvSpPr/>
          <p:nvPr/>
        </p:nvSpPr>
        <p:spPr>
          <a:xfrm>
            <a:off x="457200" y="3566160"/>
            <a:ext cx="8229600" cy="548640"/>
          </a:xfrm>
          <a:prstGeom prst="rect">
            <a:avLst/>
          </a:prstGeom>
          <a:noFill/>
          <a:ln/>
        </p:spPr>
        <p:txBody>
          <a:bodyPr wrap="square" rtlCol="0" anchor="ctr"/>
          <a:lstStyle/>
          <a:p>
            <a:pPr algn="ctr" indent="0" marL="0">
              <a:buNone/>
            </a:pPr>
            <a:r>
              <a:rPr lang="en-US" sz="2400" b="1" dirty="0">
                <a:solidFill>
                  <a:srgbClr val="FFFFFF"/>
                </a:solidFill>
              </a:rPr>
              <a:t>16 Diving Families at Risk</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Why Traditional Strategies Won't Work</a:t>
            </a:r>
            <a:endParaRPr lang="en-US" sz="3600" dirty="0"/>
          </a:p>
        </p:txBody>
      </p:sp>
      <p:sp>
        <p:nvSpPr>
          <p:cNvPr id="4" name="Shape 2"/>
          <p:cNvSpPr/>
          <p:nvPr/>
        </p:nvSpPr>
        <p:spPr>
          <a:xfrm>
            <a:off x="457200" y="1005840"/>
            <a:ext cx="8229600" cy="640080"/>
          </a:xfrm>
          <a:prstGeom prst="rect">
            <a:avLst/>
          </a:prstGeom>
          <a:solidFill>
            <a:srgbClr val="FFFFFF"/>
          </a:solidFill>
          <a:ln w="38100">
            <a:solidFill>
              <a:srgbClr val="DC3545"/>
            </a:solidFill>
            <a:prstDash val="solid"/>
          </a:ln>
        </p:spPr>
      </p:sp>
      <p:sp>
        <p:nvSpPr>
          <p:cNvPr id="5" name="Text 3"/>
          <p:cNvSpPr/>
          <p:nvPr/>
        </p:nvSpPr>
        <p:spPr>
          <a:xfrm>
            <a:off x="640080" y="1051560"/>
            <a:ext cx="7863840" cy="228600"/>
          </a:xfrm>
          <a:prstGeom prst="rect">
            <a:avLst/>
          </a:prstGeom>
          <a:noFill/>
          <a:ln/>
        </p:spPr>
        <p:txBody>
          <a:bodyPr wrap="square" rtlCol="0" anchor="ctr"/>
          <a:lstStyle/>
          <a:p>
            <a:pPr indent="0" marL="0">
              <a:buNone/>
            </a:pPr>
            <a:r>
              <a:rPr lang="en-US" sz="1800" b="1" dirty="0">
                <a:solidFill>
                  <a:srgbClr val="003366"/>
                </a:solidFill>
              </a:rPr>
              <a:t>✗ Chef Education Programs</a:t>
            </a:r>
            <a:endParaRPr lang="en-US" sz="1800" dirty="0"/>
          </a:p>
        </p:txBody>
      </p:sp>
      <p:sp>
        <p:nvSpPr>
          <p:cNvPr id="6" name="Text 4"/>
          <p:cNvSpPr/>
          <p:nvPr/>
        </p:nvSpPr>
        <p:spPr>
          <a:xfrm>
            <a:off x="640080" y="1298448"/>
            <a:ext cx="7863840" cy="320040"/>
          </a:xfrm>
          <a:prstGeom prst="rect">
            <a:avLst/>
          </a:prstGeom>
          <a:noFill/>
          <a:ln/>
        </p:spPr>
        <p:txBody>
          <a:bodyPr wrap="square" rtlCol="0" anchor="ctr"/>
          <a:lstStyle/>
          <a:p>
            <a:pPr indent="0" marL="0">
              <a:buNone/>
            </a:pPr>
            <a:r>
              <a:rPr lang="en-US" sz="1500" dirty="0">
                <a:solidFill>
                  <a:srgbClr val="1A1A1A"/>
                </a:solidFill>
              </a:rPr>
              <a:t>Too resource-intensive for small co-op; requires dedicated staff, travel, and years to build relationships</a:t>
            </a:r>
            <a:endParaRPr lang="en-US" sz="1500" dirty="0"/>
          </a:p>
        </p:txBody>
      </p:sp>
      <p:sp>
        <p:nvSpPr>
          <p:cNvPr id="7" name="Shape 5"/>
          <p:cNvSpPr/>
          <p:nvPr/>
        </p:nvSpPr>
        <p:spPr>
          <a:xfrm>
            <a:off x="457200" y="1737360"/>
            <a:ext cx="8229600" cy="640080"/>
          </a:xfrm>
          <a:prstGeom prst="rect">
            <a:avLst/>
          </a:prstGeom>
          <a:solidFill>
            <a:srgbClr val="FFFFFF"/>
          </a:solidFill>
          <a:ln w="38100">
            <a:solidFill>
              <a:srgbClr val="DC3545"/>
            </a:solidFill>
            <a:prstDash val="solid"/>
          </a:ln>
        </p:spPr>
      </p:sp>
      <p:sp>
        <p:nvSpPr>
          <p:cNvPr id="8" name="Text 6"/>
          <p:cNvSpPr/>
          <p:nvPr/>
        </p:nvSpPr>
        <p:spPr>
          <a:xfrm>
            <a:off x="640080" y="1783080"/>
            <a:ext cx="7863840" cy="228600"/>
          </a:xfrm>
          <a:prstGeom prst="rect">
            <a:avLst/>
          </a:prstGeom>
          <a:noFill/>
          <a:ln/>
        </p:spPr>
        <p:txBody>
          <a:bodyPr wrap="square" rtlCol="0" anchor="ctr"/>
          <a:lstStyle/>
          <a:p>
            <a:pPr indent="0" marL="0">
              <a:buNone/>
            </a:pPr>
            <a:r>
              <a:rPr lang="en-US" sz="1800" b="1" dirty="0">
                <a:solidFill>
                  <a:srgbClr val="003366"/>
                </a:solidFill>
              </a:rPr>
              <a:t>✗ Retail Consumer Marketing</a:t>
            </a:r>
            <a:endParaRPr lang="en-US" sz="1800" dirty="0"/>
          </a:p>
        </p:txBody>
      </p:sp>
      <p:sp>
        <p:nvSpPr>
          <p:cNvPr id="9" name="Text 7"/>
          <p:cNvSpPr/>
          <p:nvPr/>
        </p:nvSpPr>
        <p:spPr>
          <a:xfrm>
            <a:off x="640080" y="2029968"/>
            <a:ext cx="7863840" cy="320040"/>
          </a:xfrm>
          <a:prstGeom prst="rect">
            <a:avLst/>
          </a:prstGeom>
          <a:noFill/>
          <a:ln/>
        </p:spPr>
        <p:txBody>
          <a:bodyPr wrap="square" rtlCol="0" anchor="ctr"/>
          <a:lstStyle/>
          <a:p>
            <a:pPr indent="0" marL="0">
              <a:buNone/>
            </a:pPr>
            <a:r>
              <a:rPr lang="en-US" sz="1500" dirty="0">
                <a:solidFill>
                  <a:srgbClr val="1A1A1A"/>
                </a:solidFill>
              </a:rPr>
              <a:t>Consumers won't pay 5X premium for food; price sensitivity too high in commodity market</a:t>
            </a:r>
            <a:endParaRPr lang="en-US" sz="1500" dirty="0"/>
          </a:p>
        </p:txBody>
      </p:sp>
      <p:sp>
        <p:nvSpPr>
          <p:cNvPr id="10" name="Shape 8"/>
          <p:cNvSpPr/>
          <p:nvPr/>
        </p:nvSpPr>
        <p:spPr>
          <a:xfrm>
            <a:off x="457200" y="2468880"/>
            <a:ext cx="8229600" cy="640080"/>
          </a:xfrm>
          <a:prstGeom prst="rect">
            <a:avLst/>
          </a:prstGeom>
          <a:solidFill>
            <a:srgbClr val="FFFFFF"/>
          </a:solidFill>
          <a:ln w="38100">
            <a:solidFill>
              <a:srgbClr val="DC3545"/>
            </a:solidFill>
            <a:prstDash val="solid"/>
          </a:ln>
        </p:spPr>
      </p:sp>
      <p:sp>
        <p:nvSpPr>
          <p:cNvPr id="11" name="Text 9"/>
          <p:cNvSpPr/>
          <p:nvPr/>
        </p:nvSpPr>
        <p:spPr>
          <a:xfrm>
            <a:off x="640080" y="2514600"/>
            <a:ext cx="7863840" cy="228600"/>
          </a:xfrm>
          <a:prstGeom prst="rect">
            <a:avLst/>
          </a:prstGeom>
          <a:noFill/>
          <a:ln/>
        </p:spPr>
        <p:txBody>
          <a:bodyPr wrap="square" rtlCol="0" anchor="ctr"/>
          <a:lstStyle/>
          <a:p>
            <a:pPr indent="0" marL="0">
              <a:buNone/>
            </a:pPr>
            <a:r>
              <a:rPr lang="en-US" sz="1800" b="1" dirty="0">
                <a:solidFill>
                  <a:srgbClr val="003366"/>
                </a:solidFill>
              </a:rPr>
              <a:t>✗ Premium Food Branding</a:t>
            </a:r>
            <a:endParaRPr lang="en-US" sz="1800" dirty="0"/>
          </a:p>
        </p:txBody>
      </p:sp>
      <p:sp>
        <p:nvSpPr>
          <p:cNvPr id="12" name="Text 10"/>
          <p:cNvSpPr/>
          <p:nvPr/>
        </p:nvSpPr>
        <p:spPr>
          <a:xfrm>
            <a:off x="640080" y="2761488"/>
            <a:ext cx="7863840" cy="320040"/>
          </a:xfrm>
          <a:prstGeom prst="rect">
            <a:avLst/>
          </a:prstGeom>
          <a:noFill/>
          <a:ln/>
        </p:spPr>
        <p:txBody>
          <a:bodyPr wrap="square" rtlCol="0" anchor="ctr"/>
          <a:lstStyle/>
          <a:p>
            <a:pPr indent="0" marL="0">
              <a:buNone/>
            </a:pPr>
            <a:r>
              <a:rPr lang="en-US" sz="1500" dirty="0">
                <a:solidFill>
                  <a:srgbClr val="1A1A1A"/>
                </a:solidFill>
              </a:rPr>
              <a:t>No existing brand equity; would require $60K+ investment in packaging, marketing, distribution without guaranteed ROI</a:t>
            </a:r>
            <a:endParaRPr lang="en-US" sz="1500" dirty="0"/>
          </a:p>
        </p:txBody>
      </p:sp>
      <p:sp>
        <p:nvSpPr>
          <p:cNvPr id="13" name="Shape 11"/>
          <p:cNvSpPr/>
          <p:nvPr/>
        </p:nvSpPr>
        <p:spPr>
          <a:xfrm>
            <a:off x="457200" y="3383280"/>
            <a:ext cx="8229600" cy="822960"/>
          </a:xfrm>
          <a:prstGeom prst="rect">
            <a:avLst/>
          </a:prstGeom>
          <a:solidFill>
            <a:srgbClr val="F8F9FA"/>
          </a:solidFill>
          <a:ln w="38100">
            <a:solidFill>
              <a:srgbClr val="7FCDCD"/>
            </a:solidFill>
            <a:prstDash val="solid"/>
          </a:ln>
        </p:spPr>
      </p:sp>
      <p:sp>
        <p:nvSpPr>
          <p:cNvPr id="14" name="Text 12"/>
          <p:cNvSpPr/>
          <p:nvPr/>
        </p:nvSpPr>
        <p:spPr>
          <a:xfrm>
            <a:off x="640080" y="3474720"/>
            <a:ext cx="7863840" cy="457200"/>
          </a:xfrm>
          <a:prstGeom prst="rect">
            <a:avLst/>
          </a:prstGeom>
          <a:noFill/>
          <a:ln/>
        </p:spPr>
        <p:txBody>
          <a:bodyPr wrap="square" rtlCol="0" anchor="ctr"/>
          <a:lstStyle/>
          <a:p>
            <a:pPr indent="0" marL="0">
              <a:buNone/>
            </a:pPr>
            <a:r>
              <a:rPr lang="en-US" sz="1600" i="1" dirty="0">
                <a:solidFill>
                  <a:srgbClr val="1A1A1A"/>
                </a:solidFill>
              </a:rPr>
              <a:t>"We're a small operation. We can't compete with marketing budgets or farming scale. We need a strategy that works with what we have—exceptional wild product and minimal resources."</a:t>
            </a:r>
            <a:endParaRPr lang="en-US" sz="1600" dirty="0"/>
          </a:p>
        </p:txBody>
      </p:sp>
      <p:sp>
        <p:nvSpPr>
          <p:cNvPr id="15" name="Text 13"/>
          <p:cNvSpPr/>
          <p:nvPr/>
        </p:nvSpPr>
        <p:spPr>
          <a:xfrm>
            <a:off x="640080" y="3977640"/>
            <a:ext cx="7863840" cy="182880"/>
          </a:xfrm>
          <a:prstGeom prst="rect">
            <a:avLst/>
          </a:prstGeom>
          <a:noFill/>
          <a:ln/>
        </p:spPr>
        <p:txBody>
          <a:bodyPr wrap="square" rtlCol="0" anchor="ctr"/>
          <a:lstStyle/>
          <a:p>
            <a:pPr indent="0" marL="0">
              <a:buNone/>
            </a:pPr>
            <a:r>
              <a:rPr lang="en-US" sz="1400" b="1" dirty="0">
                <a:solidFill>
                  <a:srgbClr val="003366"/>
                </a:solidFill>
              </a:rPr>
              <a:t>— Charles, CEO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The Strategic Insight</a:t>
            </a:r>
            <a:endParaRPr lang="en-US" sz="3600" dirty="0"/>
          </a:p>
        </p:txBody>
      </p:sp>
      <p:sp>
        <p:nvSpPr>
          <p:cNvPr id="4" name="Shape 2"/>
          <p:cNvSpPr/>
          <p:nvPr/>
        </p:nvSpPr>
        <p:spPr>
          <a:xfrm>
            <a:off x="457200" y="914400"/>
            <a:ext cx="4114800" cy="1005840"/>
          </a:xfrm>
          <a:prstGeom prst="rect">
            <a:avLst/>
          </a:prstGeom>
          <a:solidFill>
            <a:srgbClr val="FFFFFF"/>
          </a:solidFill>
          <a:ln w="12700">
            <a:solidFill>
              <a:srgbClr val="E0E0E0"/>
            </a:solidFill>
            <a:prstDash val="solid"/>
          </a:ln>
        </p:spPr>
      </p:sp>
      <p:sp>
        <p:nvSpPr>
          <p:cNvPr id="5" name="Text 3"/>
          <p:cNvSpPr/>
          <p:nvPr/>
        </p:nvSpPr>
        <p:spPr>
          <a:xfrm>
            <a:off x="640080" y="1005840"/>
            <a:ext cx="457200" cy="27432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6" name="Text 4"/>
          <p:cNvSpPr/>
          <p:nvPr/>
        </p:nvSpPr>
        <p:spPr>
          <a:xfrm>
            <a:off x="640080" y="1234440"/>
            <a:ext cx="3749040" cy="228600"/>
          </a:xfrm>
          <a:prstGeom prst="rect">
            <a:avLst/>
          </a:prstGeom>
          <a:noFill/>
          <a:ln/>
        </p:spPr>
        <p:txBody>
          <a:bodyPr wrap="square" rtlCol="0" anchor="ctr"/>
          <a:lstStyle/>
          <a:p>
            <a:pPr indent="0" marL="0">
              <a:buNone/>
            </a:pPr>
            <a:r>
              <a:rPr lang="en-US" sz="1700" b="1" dirty="0">
                <a:solidFill>
                  <a:srgbClr val="003366"/>
                </a:solidFill>
              </a:rPr>
              <a:t>Cultural Beliefs Already Exist</a:t>
            </a:r>
            <a:endParaRPr lang="en-US" sz="1700" dirty="0"/>
          </a:p>
        </p:txBody>
      </p:sp>
      <p:sp>
        <p:nvSpPr>
          <p:cNvPr id="7" name="Text 5"/>
          <p:cNvSpPr/>
          <p:nvPr/>
        </p:nvSpPr>
        <p:spPr>
          <a:xfrm>
            <a:off x="640080" y="1481328"/>
            <a:ext cx="3749040" cy="365760"/>
          </a:xfrm>
          <a:prstGeom prst="rect">
            <a:avLst/>
          </a:prstGeom>
          <a:noFill/>
          <a:ln/>
        </p:spPr>
        <p:txBody>
          <a:bodyPr wrap="square" rtlCol="0" anchor="ctr"/>
          <a:lstStyle/>
          <a:p>
            <a:pPr indent="0" marL="0">
              <a:buNone/>
            </a:pPr>
            <a:r>
              <a:rPr lang="en-US" sz="1400" dirty="0">
                <a:solidFill>
                  <a:srgbClr val="1A1A1A"/>
                </a:solidFill>
              </a:rPr>
              <a:t>Asian cultures associate abalone with health, virility, and longevity—beliefs embedded for generations</a:t>
            </a:r>
            <a:endParaRPr lang="en-US" sz="1400" dirty="0"/>
          </a:p>
        </p:txBody>
      </p:sp>
      <p:sp>
        <p:nvSpPr>
          <p:cNvPr id="8" name="Shape 6"/>
          <p:cNvSpPr/>
          <p:nvPr/>
        </p:nvSpPr>
        <p:spPr>
          <a:xfrm>
            <a:off x="4800600" y="914400"/>
            <a:ext cx="4114800" cy="1005840"/>
          </a:xfrm>
          <a:prstGeom prst="rect">
            <a:avLst/>
          </a:prstGeom>
          <a:solidFill>
            <a:srgbClr val="FFFFFF"/>
          </a:solidFill>
          <a:ln w="12700">
            <a:solidFill>
              <a:srgbClr val="E0E0E0"/>
            </a:solidFill>
            <a:prstDash val="solid"/>
          </a:ln>
        </p:spPr>
      </p:sp>
      <p:sp>
        <p:nvSpPr>
          <p:cNvPr id="9" name="Text 7"/>
          <p:cNvSpPr/>
          <p:nvPr/>
        </p:nvSpPr>
        <p:spPr>
          <a:xfrm>
            <a:off x="4983480" y="1005840"/>
            <a:ext cx="457200" cy="27432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0" name="Text 8"/>
          <p:cNvSpPr/>
          <p:nvPr/>
        </p:nvSpPr>
        <p:spPr>
          <a:xfrm>
            <a:off x="4983480" y="1234440"/>
            <a:ext cx="3749040" cy="228600"/>
          </a:xfrm>
          <a:prstGeom prst="rect">
            <a:avLst/>
          </a:prstGeom>
          <a:noFill/>
          <a:ln/>
        </p:spPr>
        <p:txBody>
          <a:bodyPr wrap="square" rtlCol="0" anchor="ctr"/>
          <a:lstStyle/>
          <a:p>
            <a:pPr indent="0" marL="0">
              <a:buNone/>
            </a:pPr>
            <a:r>
              <a:rPr lang="en-US" sz="1700" b="1" dirty="0">
                <a:solidFill>
                  <a:srgbClr val="003366"/>
                </a:solidFill>
              </a:rPr>
              <a:t>Lab Testing Opportunity</a:t>
            </a:r>
            <a:endParaRPr lang="en-US" sz="1700" dirty="0"/>
          </a:p>
        </p:txBody>
      </p:sp>
      <p:sp>
        <p:nvSpPr>
          <p:cNvPr id="11" name="Text 9"/>
          <p:cNvSpPr/>
          <p:nvPr/>
        </p:nvSpPr>
        <p:spPr>
          <a:xfrm>
            <a:off x="4983480" y="1481328"/>
            <a:ext cx="3749040" cy="365760"/>
          </a:xfrm>
          <a:prstGeom prst="rect">
            <a:avLst/>
          </a:prstGeom>
          <a:noFill/>
          <a:ln/>
        </p:spPr>
        <p:txBody>
          <a:bodyPr wrap="square" rtlCol="0" anchor="ctr"/>
          <a:lstStyle/>
          <a:p>
            <a:pPr indent="0" marL="0">
              <a:buNone/>
            </a:pPr>
            <a:r>
              <a:rPr lang="en-US" sz="1400" dirty="0">
                <a:solidFill>
                  <a:srgbClr val="1A1A1A"/>
                </a:solidFill>
              </a:rPr>
              <a:t>Prove wild has 30%+ more beneficial compounds than farmed—collagen, peptides, omega-3s</a:t>
            </a:r>
            <a:endParaRPr lang="en-US" sz="1400" dirty="0"/>
          </a:p>
        </p:txBody>
      </p:sp>
      <p:sp>
        <p:nvSpPr>
          <p:cNvPr id="12" name="Shape 10"/>
          <p:cNvSpPr/>
          <p:nvPr/>
        </p:nvSpPr>
        <p:spPr>
          <a:xfrm>
            <a:off x="457200" y="2103120"/>
            <a:ext cx="4114800" cy="1005840"/>
          </a:xfrm>
          <a:prstGeom prst="rect">
            <a:avLst/>
          </a:prstGeom>
          <a:solidFill>
            <a:srgbClr val="FFFFFF"/>
          </a:solidFill>
          <a:ln w="12700">
            <a:solidFill>
              <a:srgbClr val="E0E0E0"/>
            </a:solidFill>
            <a:prstDash val="solid"/>
          </a:ln>
        </p:spPr>
      </p:sp>
      <p:sp>
        <p:nvSpPr>
          <p:cNvPr id="13" name="Text 11"/>
          <p:cNvSpPr/>
          <p:nvPr/>
        </p:nvSpPr>
        <p:spPr>
          <a:xfrm>
            <a:off x="640080" y="2194560"/>
            <a:ext cx="457200" cy="27432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4" name="Text 12"/>
          <p:cNvSpPr/>
          <p:nvPr/>
        </p:nvSpPr>
        <p:spPr>
          <a:xfrm>
            <a:off x="640080" y="2423160"/>
            <a:ext cx="3749040" cy="228600"/>
          </a:xfrm>
          <a:prstGeom prst="rect">
            <a:avLst/>
          </a:prstGeom>
          <a:noFill/>
          <a:ln/>
        </p:spPr>
        <p:txBody>
          <a:bodyPr wrap="square" rtlCol="0" anchor="ctr"/>
          <a:lstStyle/>
          <a:p>
            <a:pPr indent="0" marL="0">
              <a:buNone/>
            </a:pPr>
            <a:r>
              <a:rPr lang="en-US" sz="1700" b="1" dirty="0">
                <a:solidFill>
                  <a:srgbClr val="003366"/>
                </a:solidFill>
              </a:rPr>
              <a:t>Zero Hormones Advantage</a:t>
            </a:r>
            <a:endParaRPr lang="en-US" sz="1700" dirty="0"/>
          </a:p>
        </p:txBody>
      </p:sp>
      <p:sp>
        <p:nvSpPr>
          <p:cNvPr id="15" name="Text 13"/>
          <p:cNvSpPr/>
          <p:nvPr/>
        </p:nvSpPr>
        <p:spPr>
          <a:xfrm>
            <a:off x="640080" y="2670048"/>
            <a:ext cx="3749040" cy="365760"/>
          </a:xfrm>
          <a:prstGeom prst="rect">
            <a:avLst/>
          </a:prstGeom>
          <a:noFill/>
          <a:ln/>
        </p:spPr>
        <p:txBody>
          <a:bodyPr wrap="square" rtlCol="0" anchor="ctr"/>
          <a:lstStyle/>
          <a:p>
            <a:pPr indent="0" marL="0">
              <a:buNone/>
            </a:pPr>
            <a:r>
              <a:rPr lang="en-US" sz="1400" dirty="0">
                <a:solidFill>
                  <a:srgbClr val="1A1A1A"/>
                </a:solidFill>
              </a:rPr>
              <a:t>Wild abalone = hormone-free vs. farmed "full of hormones" perception among health-conscious consumers</a:t>
            </a:r>
            <a:endParaRPr lang="en-US" sz="1400" dirty="0"/>
          </a:p>
        </p:txBody>
      </p:sp>
      <p:sp>
        <p:nvSpPr>
          <p:cNvPr id="16" name="Shape 14"/>
          <p:cNvSpPr/>
          <p:nvPr/>
        </p:nvSpPr>
        <p:spPr>
          <a:xfrm>
            <a:off x="4800600" y="2103120"/>
            <a:ext cx="4114800" cy="1005840"/>
          </a:xfrm>
          <a:prstGeom prst="rect">
            <a:avLst/>
          </a:prstGeom>
          <a:solidFill>
            <a:srgbClr val="FFFFFF"/>
          </a:solidFill>
          <a:ln w="12700">
            <a:solidFill>
              <a:srgbClr val="E0E0E0"/>
            </a:solidFill>
            <a:prstDash val="solid"/>
          </a:ln>
        </p:spPr>
      </p:sp>
      <p:sp>
        <p:nvSpPr>
          <p:cNvPr id="17" name="Text 15"/>
          <p:cNvSpPr/>
          <p:nvPr/>
        </p:nvSpPr>
        <p:spPr>
          <a:xfrm>
            <a:off x="4983480" y="2194560"/>
            <a:ext cx="457200" cy="27432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8" name="Text 16"/>
          <p:cNvSpPr/>
          <p:nvPr/>
        </p:nvSpPr>
        <p:spPr>
          <a:xfrm>
            <a:off x="4983480" y="2423160"/>
            <a:ext cx="3749040" cy="228600"/>
          </a:xfrm>
          <a:prstGeom prst="rect">
            <a:avLst/>
          </a:prstGeom>
          <a:noFill/>
          <a:ln/>
        </p:spPr>
        <p:txBody>
          <a:bodyPr wrap="square" rtlCol="0" anchor="ctr"/>
          <a:lstStyle/>
          <a:p>
            <a:pPr indent="0" marL="0">
              <a:buNone/>
            </a:pPr>
            <a:r>
              <a:rPr lang="en-US" sz="1700" b="1" dirty="0">
                <a:solidFill>
                  <a:srgbClr val="003366"/>
                </a:solidFill>
              </a:rPr>
              <a:t>Category Shift</a:t>
            </a:r>
            <a:endParaRPr lang="en-US" sz="1700" dirty="0"/>
          </a:p>
        </p:txBody>
      </p:sp>
      <p:sp>
        <p:nvSpPr>
          <p:cNvPr id="19" name="Text 17"/>
          <p:cNvSpPr/>
          <p:nvPr/>
        </p:nvSpPr>
        <p:spPr>
          <a:xfrm>
            <a:off x="4983480" y="2670048"/>
            <a:ext cx="3749040" cy="365760"/>
          </a:xfrm>
          <a:prstGeom prst="rect">
            <a:avLst/>
          </a:prstGeom>
          <a:noFill/>
          <a:ln/>
        </p:spPr>
        <p:txBody>
          <a:bodyPr wrap="square" rtlCol="0" anchor="ctr"/>
          <a:lstStyle/>
          <a:p>
            <a:pPr indent="0" marL="0">
              <a:buNone/>
            </a:pPr>
            <a:r>
              <a:rPr lang="en-US" sz="1400" dirty="0">
                <a:solidFill>
                  <a:srgbClr val="1A1A1A"/>
                </a:solidFill>
              </a:rPr>
              <a:t>Not competing as food ingredient—repositioning as premium beauty/wellness product</a:t>
            </a:r>
            <a:endParaRPr lang="en-US" sz="1400" dirty="0"/>
          </a:p>
        </p:txBody>
      </p:sp>
      <p:sp>
        <p:nvSpPr>
          <p:cNvPr id="20" name="Shape 18"/>
          <p:cNvSpPr/>
          <p:nvPr/>
        </p:nvSpPr>
        <p:spPr>
          <a:xfrm>
            <a:off x="914400" y="3383280"/>
            <a:ext cx="7315200" cy="822960"/>
          </a:xfrm>
          <a:prstGeom prst="rect">
            <a:avLst/>
          </a:prstGeom>
          <a:solidFill>
            <a:srgbClr val="003366"/>
          </a:solidFill>
          <a:ln/>
        </p:spPr>
      </p:sp>
      <p:sp>
        <p:nvSpPr>
          <p:cNvPr id="21" name="Text 19"/>
          <p:cNvSpPr/>
          <p:nvPr/>
        </p:nvSpPr>
        <p:spPr>
          <a:xfrm>
            <a:off x="914400" y="3429000"/>
            <a:ext cx="7315200" cy="228600"/>
          </a:xfrm>
          <a:prstGeom prst="rect">
            <a:avLst/>
          </a:prstGeom>
          <a:noFill/>
          <a:ln/>
        </p:spPr>
        <p:txBody>
          <a:bodyPr wrap="square" rtlCol="0" anchor="ctr"/>
          <a:lstStyle/>
          <a:p>
            <a:pPr algn="ctr" indent="0" marL="0">
              <a:buNone/>
            </a:pPr>
            <a:r>
              <a:rPr lang="en-US" sz="2000" b="1" dirty="0">
                <a:solidFill>
                  <a:srgbClr val="D4AF37"/>
                </a:solidFill>
              </a:rPr>
              <a:t>The Game Changer</a:t>
            </a:r>
            <a:endParaRPr lang="en-US" sz="2000" dirty="0"/>
          </a:p>
        </p:txBody>
      </p:sp>
      <p:sp>
        <p:nvSpPr>
          <p:cNvPr id="22" name="Text 20"/>
          <p:cNvSpPr/>
          <p:nvPr/>
        </p:nvSpPr>
        <p:spPr>
          <a:xfrm>
            <a:off x="914400" y="3703320"/>
            <a:ext cx="7315200" cy="457200"/>
          </a:xfrm>
          <a:prstGeom prst="rect">
            <a:avLst/>
          </a:prstGeom>
          <a:noFill/>
          <a:ln/>
        </p:spPr>
        <p:txBody>
          <a:bodyPr wrap="square" rtlCol="0" anchor="ctr"/>
          <a:lstStyle/>
          <a:p>
            <a:pPr algn="ctr" indent="0" marL="0">
              <a:buNone/>
            </a:pPr>
            <a:r>
              <a:rPr lang="en-US" sz="1800" dirty="0">
                <a:solidFill>
                  <a:srgbClr val="FFFFFF"/>
                </a:solidFill>
              </a:rPr>
              <a:t>Stop fighting the food price war.</a:t>
            </a:r>
            <a:endParaRPr lang="en-US" sz="1800" dirty="0"/>
          </a:p>
          <a:p>
            <a:pPr algn="ctr" indent="0" marL="0">
              <a:buNone/>
            </a:pPr>
            <a:r>
              <a:rPr lang="en-US" sz="1800" dirty="0">
                <a:solidFill>
                  <a:srgbClr val="FFFFFF"/>
                </a:solidFill>
              </a:rPr>
              <a:t>Start winning in the beauty category.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Market Opportunity</a:t>
            </a:r>
            <a:endParaRPr lang="en-US" sz="3600" dirty="0"/>
          </a:p>
        </p:txBody>
      </p:sp>
      <p:sp>
        <p:nvSpPr>
          <p:cNvPr id="4" name="Shape 2"/>
          <p:cNvSpPr/>
          <p:nvPr/>
        </p:nvSpPr>
        <p:spPr>
          <a:xfrm>
            <a:off x="457200" y="914400"/>
            <a:ext cx="4114800" cy="640080"/>
          </a:xfrm>
          <a:prstGeom prst="rect">
            <a:avLst/>
          </a:prstGeom>
          <a:solidFill>
            <a:srgbClr val="FFFFFF"/>
          </a:solidFill>
          <a:ln w="38100">
            <a:solidFill>
              <a:srgbClr val="D4AF37"/>
            </a:solidFill>
            <a:prstDash val="solid"/>
          </a:ln>
        </p:spPr>
      </p:sp>
      <p:sp>
        <p:nvSpPr>
          <p:cNvPr id="5" name="Text 3"/>
          <p:cNvSpPr/>
          <p:nvPr/>
        </p:nvSpPr>
        <p:spPr>
          <a:xfrm>
            <a:off x="640080" y="960120"/>
            <a:ext cx="3749040" cy="320040"/>
          </a:xfrm>
          <a:prstGeom prst="rect">
            <a:avLst/>
          </a:prstGeom>
          <a:noFill/>
          <a:ln/>
        </p:spPr>
        <p:txBody>
          <a:bodyPr wrap="square" rtlCol="0" anchor="ctr"/>
          <a:lstStyle/>
          <a:p>
            <a:pPr indent="0" marL="0">
              <a:buNone/>
            </a:pPr>
            <a:r>
              <a:rPr lang="en-US" sz="3600" b="1" dirty="0">
                <a:solidFill>
                  <a:srgbClr val="003366"/>
                </a:solidFill>
              </a:rPr>
              <a:t>$82B</a:t>
            </a:r>
            <a:endParaRPr lang="en-US" sz="3600" dirty="0"/>
          </a:p>
        </p:txBody>
      </p:sp>
      <p:sp>
        <p:nvSpPr>
          <p:cNvPr id="6" name="Text 4"/>
          <p:cNvSpPr/>
          <p:nvPr/>
        </p:nvSpPr>
        <p:spPr>
          <a:xfrm>
            <a:off x="640080" y="1298448"/>
            <a:ext cx="3749040" cy="182880"/>
          </a:xfrm>
          <a:prstGeom prst="rect">
            <a:avLst/>
          </a:prstGeom>
          <a:noFill/>
          <a:ln/>
        </p:spPr>
        <p:txBody>
          <a:bodyPr wrap="square" rtlCol="0" anchor="ctr"/>
          <a:lstStyle/>
          <a:p>
            <a:pPr indent="0" marL="0">
              <a:buNone/>
            </a:pPr>
            <a:r>
              <a:rPr lang="en-US" sz="1400" dirty="0">
                <a:solidFill>
                  <a:srgbClr val="1A1A1A"/>
                </a:solidFill>
              </a:rPr>
              <a:t>Asian Beauty/Wellness Market Size (2024)</a:t>
            </a:r>
            <a:endParaRPr lang="en-US" sz="1400" dirty="0"/>
          </a:p>
        </p:txBody>
      </p:sp>
      <p:sp>
        <p:nvSpPr>
          <p:cNvPr id="7" name="Shape 5"/>
          <p:cNvSpPr/>
          <p:nvPr/>
        </p:nvSpPr>
        <p:spPr>
          <a:xfrm>
            <a:off x="457200" y="1691640"/>
            <a:ext cx="4114800" cy="640080"/>
          </a:xfrm>
          <a:prstGeom prst="rect">
            <a:avLst/>
          </a:prstGeom>
          <a:solidFill>
            <a:srgbClr val="FFFFFF"/>
          </a:solidFill>
          <a:ln w="38100">
            <a:solidFill>
              <a:srgbClr val="D4AF37"/>
            </a:solidFill>
            <a:prstDash val="solid"/>
          </a:ln>
        </p:spPr>
      </p:sp>
      <p:sp>
        <p:nvSpPr>
          <p:cNvPr id="8" name="Text 6"/>
          <p:cNvSpPr/>
          <p:nvPr/>
        </p:nvSpPr>
        <p:spPr>
          <a:xfrm>
            <a:off x="640080" y="1737360"/>
            <a:ext cx="3749040" cy="320040"/>
          </a:xfrm>
          <a:prstGeom prst="rect">
            <a:avLst/>
          </a:prstGeom>
          <a:noFill/>
          <a:ln/>
        </p:spPr>
        <p:txBody>
          <a:bodyPr wrap="square" rtlCol="0" anchor="ctr"/>
          <a:lstStyle/>
          <a:p>
            <a:pPr indent="0" marL="0">
              <a:buNone/>
            </a:pPr>
            <a:r>
              <a:rPr lang="en-US" sz="3600" b="1" dirty="0">
                <a:solidFill>
                  <a:srgbClr val="003366"/>
                </a:solidFill>
              </a:rPr>
              <a:t>12.3%</a:t>
            </a:r>
            <a:endParaRPr lang="en-US" sz="3600" dirty="0"/>
          </a:p>
        </p:txBody>
      </p:sp>
      <p:sp>
        <p:nvSpPr>
          <p:cNvPr id="9" name="Text 7"/>
          <p:cNvSpPr/>
          <p:nvPr/>
        </p:nvSpPr>
        <p:spPr>
          <a:xfrm>
            <a:off x="640080" y="2075688"/>
            <a:ext cx="3749040" cy="182880"/>
          </a:xfrm>
          <a:prstGeom prst="rect">
            <a:avLst/>
          </a:prstGeom>
          <a:noFill/>
          <a:ln/>
        </p:spPr>
        <p:txBody>
          <a:bodyPr wrap="square" rtlCol="0" anchor="ctr"/>
          <a:lstStyle/>
          <a:p>
            <a:pPr indent="0" marL="0">
              <a:buNone/>
            </a:pPr>
            <a:r>
              <a:rPr lang="en-US" sz="1400" dirty="0">
                <a:solidFill>
                  <a:srgbClr val="1A1A1A"/>
                </a:solidFill>
              </a:rPr>
              <a:t>Annual Growth Rate (CAGR)</a:t>
            </a:r>
            <a:endParaRPr lang="en-US" sz="1400" dirty="0"/>
          </a:p>
        </p:txBody>
      </p:sp>
      <p:sp>
        <p:nvSpPr>
          <p:cNvPr id="10" name="Shape 8"/>
          <p:cNvSpPr/>
          <p:nvPr/>
        </p:nvSpPr>
        <p:spPr>
          <a:xfrm>
            <a:off x="4800600" y="914400"/>
            <a:ext cx="3886200" cy="777240"/>
          </a:xfrm>
          <a:prstGeom prst="rect">
            <a:avLst/>
          </a:prstGeom>
          <a:solidFill>
            <a:srgbClr val="D4EDDA"/>
          </a:solidFill>
          <a:ln w="38100">
            <a:solidFill>
              <a:srgbClr val="28A745"/>
            </a:solidFill>
            <a:prstDash val="solid"/>
          </a:ln>
        </p:spPr>
      </p:sp>
      <p:sp>
        <p:nvSpPr>
          <p:cNvPr id="11" name="Text 9"/>
          <p:cNvSpPr/>
          <p:nvPr/>
        </p:nvSpPr>
        <p:spPr>
          <a:xfrm>
            <a:off x="4983480" y="1005840"/>
            <a:ext cx="3520440" cy="228600"/>
          </a:xfrm>
          <a:prstGeom prst="rect">
            <a:avLst/>
          </a:prstGeom>
          <a:noFill/>
          <a:ln/>
        </p:spPr>
        <p:txBody>
          <a:bodyPr wrap="square" rtlCol="0" anchor="ctr"/>
          <a:lstStyle/>
          <a:p>
            <a:pPr indent="0" marL="0">
              <a:buNone/>
            </a:pPr>
            <a:r>
              <a:rPr lang="en-US" sz="1600" b="1" dirty="0">
                <a:solidFill>
                  <a:srgbClr val="155724"/>
                </a:solidFill>
              </a:rPr>
              <a:t>📈 "Eating Your Way to Beauty"</a:t>
            </a:r>
            <a:endParaRPr lang="en-US" sz="1600" dirty="0"/>
          </a:p>
        </p:txBody>
      </p:sp>
      <p:sp>
        <p:nvSpPr>
          <p:cNvPr id="12" name="Text 10"/>
          <p:cNvSpPr/>
          <p:nvPr/>
        </p:nvSpPr>
        <p:spPr>
          <a:xfrm>
            <a:off x="4983480" y="1261872"/>
            <a:ext cx="3520440" cy="365760"/>
          </a:xfrm>
          <a:prstGeom prst="rect">
            <a:avLst/>
          </a:prstGeom>
          <a:noFill/>
          <a:ln/>
        </p:spPr>
        <p:txBody>
          <a:bodyPr wrap="square" rtlCol="0" anchor="ctr"/>
          <a:lstStyle/>
          <a:p>
            <a:pPr indent="0" marL="0">
              <a:buNone/>
            </a:pPr>
            <a:r>
              <a:rPr lang="en-US" sz="1300" dirty="0">
                <a:solidFill>
                  <a:srgbClr val="155724"/>
                </a:solidFill>
              </a:rPr>
              <a:t>Collagen drinks, bird's nest, pearl powder—ingestible beauty mainstream in Asia</a:t>
            </a:r>
            <a:endParaRPr lang="en-US" sz="1300" dirty="0"/>
          </a:p>
        </p:txBody>
      </p:sp>
      <p:sp>
        <p:nvSpPr>
          <p:cNvPr id="13" name="Shape 11"/>
          <p:cNvSpPr/>
          <p:nvPr/>
        </p:nvSpPr>
        <p:spPr>
          <a:xfrm>
            <a:off x="4800600" y="1828800"/>
            <a:ext cx="3886200" cy="777240"/>
          </a:xfrm>
          <a:prstGeom prst="rect">
            <a:avLst/>
          </a:prstGeom>
          <a:solidFill>
            <a:srgbClr val="D4EDDA"/>
          </a:solidFill>
          <a:ln w="38100">
            <a:solidFill>
              <a:srgbClr val="28A745"/>
            </a:solidFill>
            <a:prstDash val="solid"/>
          </a:ln>
        </p:spPr>
      </p:sp>
      <p:sp>
        <p:nvSpPr>
          <p:cNvPr id="14" name="Text 12"/>
          <p:cNvSpPr/>
          <p:nvPr/>
        </p:nvSpPr>
        <p:spPr>
          <a:xfrm>
            <a:off x="4983480" y="1920240"/>
            <a:ext cx="3520440" cy="228600"/>
          </a:xfrm>
          <a:prstGeom prst="rect">
            <a:avLst/>
          </a:prstGeom>
          <a:noFill/>
          <a:ln/>
        </p:spPr>
        <p:txBody>
          <a:bodyPr wrap="square" rtlCol="0" anchor="ctr"/>
          <a:lstStyle/>
          <a:p>
            <a:pPr indent="0" marL="0">
              <a:buNone/>
            </a:pPr>
            <a:r>
              <a:rPr lang="en-US" sz="1600" b="1" dirty="0">
                <a:solidFill>
                  <a:srgbClr val="155724"/>
                </a:solidFill>
              </a:rPr>
              <a:t>🌿 Clean Beauty Movement</a:t>
            </a:r>
            <a:endParaRPr lang="en-US" sz="1600" dirty="0"/>
          </a:p>
        </p:txBody>
      </p:sp>
      <p:sp>
        <p:nvSpPr>
          <p:cNvPr id="15" name="Text 13"/>
          <p:cNvSpPr/>
          <p:nvPr/>
        </p:nvSpPr>
        <p:spPr>
          <a:xfrm>
            <a:off x="4983480" y="2176272"/>
            <a:ext cx="3520440" cy="365760"/>
          </a:xfrm>
          <a:prstGeom prst="rect">
            <a:avLst/>
          </a:prstGeom>
          <a:noFill/>
          <a:ln/>
        </p:spPr>
        <p:txBody>
          <a:bodyPr wrap="square" rtlCol="0" anchor="ctr"/>
          <a:lstStyle/>
          <a:p>
            <a:pPr indent="0" marL="0">
              <a:buNone/>
            </a:pPr>
            <a:r>
              <a:rPr lang="en-US" sz="1300" dirty="0">
                <a:solidFill>
                  <a:srgbClr val="155724"/>
                </a:solidFill>
              </a:rPr>
              <a:t>Hormone-free, wild-sourced, sustainable—exactly our positioning</a:t>
            </a:r>
            <a:endParaRPr lang="en-US" sz="1300" dirty="0"/>
          </a:p>
        </p:txBody>
      </p:sp>
      <p:sp>
        <p:nvSpPr>
          <p:cNvPr id="16" name="Shape 14"/>
          <p:cNvSpPr/>
          <p:nvPr/>
        </p:nvSpPr>
        <p:spPr>
          <a:xfrm>
            <a:off x="4800600" y="2743200"/>
            <a:ext cx="3886200" cy="777240"/>
          </a:xfrm>
          <a:prstGeom prst="rect">
            <a:avLst/>
          </a:prstGeom>
          <a:solidFill>
            <a:srgbClr val="D4EDDA"/>
          </a:solidFill>
          <a:ln w="38100">
            <a:solidFill>
              <a:srgbClr val="28A745"/>
            </a:solidFill>
            <a:prstDash val="solid"/>
          </a:ln>
        </p:spPr>
      </p:sp>
      <p:sp>
        <p:nvSpPr>
          <p:cNvPr id="17" name="Text 15"/>
          <p:cNvSpPr/>
          <p:nvPr/>
        </p:nvSpPr>
        <p:spPr>
          <a:xfrm>
            <a:off x="4983480" y="2834640"/>
            <a:ext cx="3520440" cy="228600"/>
          </a:xfrm>
          <a:prstGeom prst="rect">
            <a:avLst/>
          </a:prstGeom>
          <a:noFill/>
          <a:ln/>
        </p:spPr>
        <p:txBody>
          <a:bodyPr wrap="square" rtlCol="0" anchor="ctr"/>
          <a:lstStyle/>
          <a:p>
            <a:pPr indent="0" marL="0">
              <a:buNone/>
            </a:pPr>
            <a:r>
              <a:rPr lang="en-US" sz="1600" b="1" dirty="0">
                <a:solidFill>
                  <a:srgbClr val="155724"/>
                </a:solidFill>
              </a:rPr>
              <a:t>📱 Influencer-Driven Discovery</a:t>
            </a:r>
            <a:endParaRPr lang="en-US" sz="1600" dirty="0"/>
          </a:p>
        </p:txBody>
      </p:sp>
      <p:sp>
        <p:nvSpPr>
          <p:cNvPr id="18" name="Text 16"/>
          <p:cNvSpPr/>
          <p:nvPr/>
        </p:nvSpPr>
        <p:spPr>
          <a:xfrm>
            <a:off x="4983480" y="3090672"/>
            <a:ext cx="3520440" cy="365760"/>
          </a:xfrm>
          <a:prstGeom prst="rect">
            <a:avLst/>
          </a:prstGeom>
          <a:noFill/>
          <a:ln/>
        </p:spPr>
        <p:txBody>
          <a:bodyPr wrap="square" rtlCol="0" anchor="ctr"/>
          <a:lstStyle/>
          <a:p>
            <a:pPr indent="0" marL="0">
              <a:buNone/>
            </a:pPr>
            <a:r>
              <a:rPr lang="en-US" sz="1300" dirty="0">
                <a:solidFill>
                  <a:srgbClr val="155724"/>
                </a:solidFill>
              </a:rPr>
              <a:t>Beauty consumers trust micro-influencers over traditional ads; cost-effective reach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3366"/>
          </a:solidFill>
          <a:ln/>
        </p:spPr>
      </p:sp>
      <p:sp>
        <p:nvSpPr>
          <p:cNvPr id="3" name="Text 1"/>
          <p:cNvSpPr/>
          <p:nvPr/>
        </p:nvSpPr>
        <p:spPr>
          <a:xfrm>
            <a:off x="457200" y="164592"/>
            <a:ext cx="8229600" cy="365760"/>
          </a:xfrm>
          <a:prstGeom prst="rect">
            <a:avLst/>
          </a:prstGeom>
          <a:noFill/>
          <a:ln/>
        </p:spPr>
        <p:txBody>
          <a:bodyPr wrap="square" rtlCol="0" anchor="ctr"/>
          <a:lstStyle/>
          <a:p>
            <a:pPr indent="0" marL="0">
              <a:buNone/>
            </a:pPr>
            <a:r>
              <a:rPr lang="en-US" sz="3400" b="1" dirty="0">
                <a:solidFill>
                  <a:srgbClr val="FFFFFF"/>
                </a:solidFill>
              </a:rPr>
              <a:t>The Stage-Gate Strategy Overview</a:t>
            </a:r>
            <a:endParaRPr lang="en-US" sz="3400" dirty="0"/>
          </a:p>
        </p:txBody>
      </p:sp>
      <p:sp>
        <p:nvSpPr>
          <p:cNvPr id="4" name="Shape 2"/>
          <p:cNvSpPr/>
          <p:nvPr/>
        </p:nvSpPr>
        <p:spPr>
          <a:xfrm>
            <a:off x="457200" y="868680"/>
            <a:ext cx="5943600" cy="548640"/>
          </a:xfrm>
          <a:prstGeom prst="rect">
            <a:avLst/>
          </a:prstGeom>
          <a:solidFill>
            <a:srgbClr val="FFFFFF"/>
          </a:solidFill>
          <a:ln w="25400">
            <a:solidFill>
              <a:srgbClr val="003366"/>
            </a:solidFill>
            <a:prstDash val="solid"/>
          </a:ln>
        </p:spPr>
      </p:sp>
      <p:sp>
        <p:nvSpPr>
          <p:cNvPr id="5" name="Text 3"/>
          <p:cNvSpPr/>
          <p:nvPr/>
        </p:nvSpPr>
        <p:spPr>
          <a:xfrm>
            <a:off x="594360" y="914400"/>
            <a:ext cx="4114800" cy="182880"/>
          </a:xfrm>
          <a:prstGeom prst="rect">
            <a:avLst/>
          </a:prstGeom>
          <a:noFill/>
          <a:ln/>
        </p:spPr>
        <p:txBody>
          <a:bodyPr wrap="square" rtlCol="0" anchor="ctr"/>
          <a:lstStyle/>
          <a:p>
            <a:pPr indent="0" marL="0">
              <a:buNone/>
            </a:pPr>
            <a:r>
              <a:rPr lang="en-US" sz="1600" b="1" dirty="0">
                <a:solidFill>
                  <a:srgbClr val="003366"/>
                </a:solidFill>
              </a:rPr>
              <a:t>Gate 1: Lab Testing</a:t>
            </a:r>
            <a:endParaRPr lang="en-US" sz="1600" dirty="0"/>
          </a:p>
        </p:txBody>
      </p:sp>
      <p:sp>
        <p:nvSpPr>
          <p:cNvPr id="6" name="Text 4"/>
          <p:cNvSpPr/>
          <p:nvPr/>
        </p:nvSpPr>
        <p:spPr>
          <a:xfrm>
            <a:off x="594360" y="1115568"/>
            <a:ext cx="4114800" cy="137160"/>
          </a:xfrm>
          <a:prstGeom prst="rect">
            <a:avLst/>
          </a:prstGeom>
          <a:noFill/>
          <a:ln/>
        </p:spPr>
        <p:txBody>
          <a:bodyPr wrap="square" rtlCol="0" anchor="ctr"/>
          <a:lstStyle/>
          <a:p>
            <a:pPr indent="0" marL="0">
              <a:buNone/>
            </a:pPr>
            <a:r>
              <a:rPr lang="en-US" sz="1200" dirty="0">
                <a:solidFill>
                  <a:srgbClr val="1A1A1A"/>
                </a:solidFill>
              </a:rPr>
              <a:t>Test wild vs farmed for beneficial compounds &amp; hormones</a:t>
            </a:r>
            <a:endParaRPr lang="en-US" sz="1200" dirty="0"/>
          </a:p>
        </p:txBody>
      </p:sp>
      <p:sp>
        <p:nvSpPr>
          <p:cNvPr id="7" name="Text 5"/>
          <p:cNvSpPr/>
          <p:nvPr/>
        </p:nvSpPr>
        <p:spPr>
          <a:xfrm>
            <a:off x="594360" y="1271016"/>
            <a:ext cx="4114800" cy="109728"/>
          </a:xfrm>
          <a:prstGeom prst="rect">
            <a:avLst/>
          </a:prstGeom>
          <a:noFill/>
          <a:ln/>
        </p:spPr>
        <p:txBody>
          <a:bodyPr wrap="square" rtlCol="0" anchor="ctr"/>
          <a:lstStyle/>
          <a:p>
            <a:pPr indent="0" marL="0">
              <a:buNone/>
            </a:pPr>
            <a:r>
              <a:rPr lang="en-US" sz="1400" b="1" dirty="0">
                <a:solidFill>
                  <a:srgbClr val="D4AF37"/>
                </a:solidFill>
              </a:rPr>
              <a:t>$15-25K</a:t>
            </a:r>
            <a:endParaRPr lang="en-US" sz="1400" dirty="0"/>
          </a:p>
        </p:txBody>
      </p:sp>
      <p:sp>
        <p:nvSpPr>
          <p:cNvPr id="8" name="Shape 6"/>
          <p:cNvSpPr/>
          <p:nvPr/>
        </p:nvSpPr>
        <p:spPr>
          <a:xfrm>
            <a:off x="5303520" y="1051560"/>
            <a:ext cx="914400" cy="182880"/>
          </a:xfrm>
          <a:prstGeom prst="rect">
            <a:avLst/>
          </a:prstGeom>
          <a:solidFill>
            <a:srgbClr val="7FCDCD"/>
          </a:solidFill>
          <a:ln/>
        </p:spPr>
      </p:sp>
      <p:sp>
        <p:nvSpPr>
          <p:cNvPr id="9" name="Text 7"/>
          <p:cNvSpPr/>
          <p:nvPr/>
        </p:nvSpPr>
        <p:spPr>
          <a:xfrm>
            <a:off x="5303520" y="1051560"/>
            <a:ext cx="914400" cy="182880"/>
          </a:xfrm>
          <a:prstGeom prst="rect">
            <a:avLst/>
          </a:prstGeom>
          <a:noFill/>
          <a:ln/>
        </p:spPr>
        <p:txBody>
          <a:bodyPr wrap="square" rtlCol="0" anchor="ctr"/>
          <a:lstStyle/>
          <a:p>
            <a:pPr algn="ctr" indent="0" marL="0">
              <a:buNone/>
            </a:pPr>
            <a:r>
              <a:rPr lang="en-US" sz="1000" b="1" dirty="0">
                <a:solidFill>
                  <a:srgbClr val="FFFFFF"/>
                </a:solidFill>
              </a:rPr>
              <a:t>GO/NO-GO</a:t>
            </a:r>
            <a:endParaRPr lang="en-US" sz="1000" dirty="0"/>
          </a:p>
        </p:txBody>
      </p:sp>
      <p:sp>
        <p:nvSpPr>
          <p:cNvPr id="10" name="Text 8"/>
          <p:cNvSpPr/>
          <p:nvPr/>
        </p:nvSpPr>
        <p:spPr>
          <a:xfrm>
            <a:off x="2926080" y="1435608"/>
            <a:ext cx="548640" cy="228600"/>
          </a:xfrm>
          <a:prstGeom prst="rect">
            <a:avLst/>
          </a:prstGeom>
          <a:noFill/>
          <a:ln/>
        </p:spPr>
        <p:txBody>
          <a:bodyPr wrap="square" rtlCol="0" anchor="ctr"/>
          <a:lstStyle/>
          <a:p>
            <a:pPr algn="ctr" indent="0" marL="0">
              <a:buNone/>
            </a:pPr>
            <a:r>
              <a:rPr lang="en-US" sz="2000" dirty="0">
                <a:solidFill>
                  <a:srgbClr val="7FCDCD"/>
                </a:solidFill>
              </a:rPr>
              <a:t>▼</a:t>
            </a:r>
            <a:endParaRPr lang="en-US" sz="2000" dirty="0"/>
          </a:p>
        </p:txBody>
      </p:sp>
      <p:sp>
        <p:nvSpPr>
          <p:cNvPr id="11" name="Shape 9"/>
          <p:cNvSpPr/>
          <p:nvPr/>
        </p:nvSpPr>
        <p:spPr>
          <a:xfrm>
            <a:off x="457200" y="1508760"/>
            <a:ext cx="5943600" cy="548640"/>
          </a:xfrm>
          <a:prstGeom prst="rect">
            <a:avLst/>
          </a:prstGeom>
          <a:solidFill>
            <a:srgbClr val="FFFFFF"/>
          </a:solidFill>
          <a:ln w="25400">
            <a:solidFill>
              <a:srgbClr val="003366"/>
            </a:solidFill>
            <a:prstDash val="solid"/>
          </a:ln>
        </p:spPr>
      </p:sp>
      <p:sp>
        <p:nvSpPr>
          <p:cNvPr id="12" name="Text 10"/>
          <p:cNvSpPr/>
          <p:nvPr/>
        </p:nvSpPr>
        <p:spPr>
          <a:xfrm>
            <a:off x="594360" y="1554480"/>
            <a:ext cx="4114800" cy="182880"/>
          </a:xfrm>
          <a:prstGeom prst="rect">
            <a:avLst/>
          </a:prstGeom>
          <a:noFill/>
          <a:ln/>
        </p:spPr>
        <p:txBody>
          <a:bodyPr wrap="square" rtlCol="0" anchor="ctr"/>
          <a:lstStyle/>
          <a:p>
            <a:pPr indent="0" marL="0">
              <a:buNone/>
            </a:pPr>
            <a:r>
              <a:rPr lang="en-US" sz="1600" b="1" dirty="0">
                <a:solidFill>
                  <a:srgbClr val="003366"/>
                </a:solidFill>
              </a:rPr>
              <a:t>Gate 2: Legal Review</a:t>
            </a:r>
            <a:endParaRPr lang="en-US" sz="1600" dirty="0"/>
          </a:p>
        </p:txBody>
      </p:sp>
      <p:sp>
        <p:nvSpPr>
          <p:cNvPr id="13" name="Text 11"/>
          <p:cNvSpPr/>
          <p:nvPr/>
        </p:nvSpPr>
        <p:spPr>
          <a:xfrm>
            <a:off x="594360" y="1755648"/>
            <a:ext cx="4114800" cy="137160"/>
          </a:xfrm>
          <a:prstGeom prst="rect">
            <a:avLst/>
          </a:prstGeom>
          <a:noFill/>
          <a:ln/>
        </p:spPr>
        <p:txBody>
          <a:bodyPr wrap="square" rtlCol="0" anchor="ctr"/>
          <a:lstStyle/>
          <a:p>
            <a:pPr indent="0" marL="0">
              <a:buNone/>
            </a:pPr>
            <a:r>
              <a:rPr lang="en-US" sz="1200" dirty="0">
                <a:solidFill>
                  <a:srgbClr val="1A1A1A"/>
                </a:solidFill>
              </a:rPr>
              <a:t>Validate permissible claims in target markets</a:t>
            </a:r>
            <a:endParaRPr lang="en-US" sz="1200" dirty="0"/>
          </a:p>
        </p:txBody>
      </p:sp>
      <p:sp>
        <p:nvSpPr>
          <p:cNvPr id="14" name="Text 12"/>
          <p:cNvSpPr/>
          <p:nvPr/>
        </p:nvSpPr>
        <p:spPr>
          <a:xfrm>
            <a:off x="594360" y="1911096"/>
            <a:ext cx="4114800" cy="109728"/>
          </a:xfrm>
          <a:prstGeom prst="rect">
            <a:avLst/>
          </a:prstGeom>
          <a:noFill/>
          <a:ln/>
        </p:spPr>
        <p:txBody>
          <a:bodyPr wrap="square" rtlCol="0" anchor="ctr"/>
          <a:lstStyle/>
          <a:p>
            <a:pPr indent="0" marL="0">
              <a:buNone/>
            </a:pPr>
            <a:r>
              <a:rPr lang="en-US" sz="1400" b="1" dirty="0">
                <a:solidFill>
                  <a:srgbClr val="D4AF37"/>
                </a:solidFill>
              </a:rPr>
              <a:t>$5-10K</a:t>
            </a:r>
            <a:endParaRPr lang="en-US" sz="1400" dirty="0"/>
          </a:p>
        </p:txBody>
      </p:sp>
      <p:sp>
        <p:nvSpPr>
          <p:cNvPr id="15" name="Shape 13"/>
          <p:cNvSpPr/>
          <p:nvPr/>
        </p:nvSpPr>
        <p:spPr>
          <a:xfrm>
            <a:off x="5303520" y="1691640"/>
            <a:ext cx="914400" cy="182880"/>
          </a:xfrm>
          <a:prstGeom prst="rect">
            <a:avLst/>
          </a:prstGeom>
          <a:solidFill>
            <a:srgbClr val="7FCDCD"/>
          </a:solidFill>
          <a:ln/>
        </p:spPr>
      </p:sp>
      <p:sp>
        <p:nvSpPr>
          <p:cNvPr id="16" name="Text 14"/>
          <p:cNvSpPr/>
          <p:nvPr/>
        </p:nvSpPr>
        <p:spPr>
          <a:xfrm>
            <a:off x="5303520" y="1691640"/>
            <a:ext cx="914400" cy="182880"/>
          </a:xfrm>
          <a:prstGeom prst="rect">
            <a:avLst/>
          </a:prstGeom>
          <a:noFill/>
          <a:ln/>
        </p:spPr>
        <p:txBody>
          <a:bodyPr wrap="square" rtlCol="0" anchor="ctr"/>
          <a:lstStyle/>
          <a:p>
            <a:pPr algn="ctr" indent="0" marL="0">
              <a:buNone/>
            </a:pPr>
            <a:r>
              <a:rPr lang="en-US" sz="1000" b="1" dirty="0">
                <a:solidFill>
                  <a:srgbClr val="FFFFFF"/>
                </a:solidFill>
              </a:rPr>
              <a:t>GO/NO-GO</a:t>
            </a:r>
            <a:endParaRPr lang="en-US" sz="1000" dirty="0"/>
          </a:p>
        </p:txBody>
      </p:sp>
      <p:sp>
        <p:nvSpPr>
          <p:cNvPr id="17" name="Text 15"/>
          <p:cNvSpPr/>
          <p:nvPr/>
        </p:nvSpPr>
        <p:spPr>
          <a:xfrm>
            <a:off x="2926080" y="2075688"/>
            <a:ext cx="548640" cy="228600"/>
          </a:xfrm>
          <a:prstGeom prst="rect">
            <a:avLst/>
          </a:prstGeom>
          <a:noFill/>
          <a:ln/>
        </p:spPr>
        <p:txBody>
          <a:bodyPr wrap="square" rtlCol="0" anchor="ctr"/>
          <a:lstStyle/>
          <a:p>
            <a:pPr algn="ctr" indent="0" marL="0">
              <a:buNone/>
            </a:pPr>
            <a:r>
              <a:rPr lang="en-US" sz="2000" dirty="0">
                <a:solidFill>
                  <a:srgbClr val="7FCDCD"/>
                </a:solidFill>
              </a:rPr>
              <a:t>▼</a:t>
            </a:r>
            <a:endParaRPr lang="en-US" sz="2000" dirty="0"/>
          </a:p>
        </p:txBody>
      </p:sp>
      <p:sp>
        <p:nvSpPr>
          <p:cNvPr id="18" name="Shape 16"/>
          <p:cNvSpPr/>
          <p:nvPr/>
        </p:nvSpPr>
        <p:spPr>
          <a:xfrm>
            <a:off x="457200" y="2148840"/>
            <a:ext cx="5943600" cy="548640"/>
          </a:xfrm>
          <a:prstGeom prst="rect">
            <a:avLst/>
          </a:prstGeom>
          <a:solidFill>
            <a:srgbClr val="FFFFFF"/>
          </a:solidFill>
          <a:ln w="25400">
            <a:solidFill>
              <a:srgbClr val="003366"/>
            </a:solidFill>
            <a:prstDash val="solid"/>
          </a:ln>
        </p:spPr>
      </p:sp>
      <p:sp>
        <p:nvSpPr>
          <p:cNvPr id="19" name="Text 17"/>
          <p:cNvSpPr/>
          <p:nvPr/>
        </p:nvSpPr>
        <p:spPr>
          <a:xfrm>
            <a:off x="594360" y="2194560"/>
            <a:ext cx="4114800" cy="182880"/>
          </a:xfrm>
          <a:prstGeom prst="rect">
            <a:avLst/>
          </a:prstGeom>
          <a:noFill/>
          <a:ln/>
        </p:spPr>
        <p:txBody>
          <a:bodyPr wrap="square" rtlCol="0" anchor="ctr"/>
          <a:lstStyle/>
          <a:p>
            <a:pPr indent="0" marL="0">
              <a:buNone/>
            </a:pPr>
            <a:r>
              <a:rPr lang="en-US" sz="1600" b="1" dirty="0">
                <a:solidFill>
                  <a:srgbClr val="003366"/>
                </a:solidFill>
              </a:rPr>
              <a:t>Gate 3: Micro-Influencer Test</a:t>
            </a:r>
            <a:endParaRPr lang="en-US" sz="1600" dirty="0"/>
          </a:p>
        </p:txBody>
      </p:sp>
      <p:sp>
        <p:nvSpPr>
          <p:cNvPr id="20" name="Text 18"/>
          <p:cNvSpPr/>
          <p:nvPr/>
        </p:nvSpPr>
        <p:spPr>
          <a:xfrm>
            <a:off x="594360" y="2395728"/>
            <a:ext cx="4114800" cy="137160"/>
          </a:xfrm>
          <a:prstGeom prst="rect">
            <a:avLst/>
          </a:prstGeom>
          <a:noFill/>
          <a:ln/>
        </p:spPr>
        <p:txBody>
          <a:bodyPr wrap="square" rtlCol="0" anchor="ctr"/>
          <a:lstStyle/>
          <a:p>
            <a:pPr indent="0" marL="0">
              <a:buNone/>
            </a:pPr>
            <a:r>
              <a:rPr lang="en-US" sz="1200" dirty="0">
                <a:solidFill>
                  <a:srgbClr val="1A1A1A"/>
                </a:solidFill>
              </a:rPr>
              <a:t>5-8 influencers, measure engagement &amp; sentiment</a:t>
            </a:r>
            <a:endParaRPr lang="en-US" sz="1200" dirty="0"/>
          </a:p>
        </p:txBody>
      </p:sp>
      <p:sp>
        <p:nvSpPr>
          <p:cNvPr id="21" name="Text 19"/>
          <p:cNvSpPr/>
          <p:nvPr/>
        </p:nvSpPr>
        <p:spPr>
          <a:xfrm>
            <a:off x="594360" y="2551176"/>
            <a:ext cx="4114800" cy="109728"/>
          </a:xfrm>
          <a:prstGeom prst="rect">
            <a:avLst/>
          </a:prstGeom>
          <a:noFill/>
          <a:ln/>
        </p:spPr>
        <p:txBody>
          <a:bodyPr wrap="square" rtlCol="0" anchor="ctr"/>
          <a:lstStyle/>
          <a:p>
            <a:pPr indent="0" marL="0">
              <a:buNone/>
            </a:pPr>
            <a:r>
              <a:rPr lang="en-US" sz="1400" b="1" dirty="0">
                <a:solidFill>
                  <a:srgbClr val="D4AF37"/>
                </a:solidFill>
              </a:rPr>
              <a:t>$10-15K</a:t>
            </a:r>
            <a:endParaRPr lang="en-US" sz="1400" dirty="0"/>
          </a:p>
        </p:txBody>
      </p:sp>
      <p:sp>
        <p:nvSpPr>
          <p:cNvPr id="22" name="Shape 20"/>
          <p:cNvSpPr/>
          <p:nvPr/>
        </p:nvSpPr>
        <p:spPr>
          <a:xfrm>
            <a:off x="5303520" y="2331720"/>
            <a:ext cx="914400" cy="182880"/>
          </a:xfrm>
          <a:prstGeom prst="rect">
            <a:avLst/>
          </a:prstGeom>
          <a:solidFill>
            <a:srgbClr val="7FCDCD"/>
          </a:solidFill>
          <a:ln/>
        </p:spPr>
      </p:sp>
      <p:sp>
        <p:nvSpPr>
          <p:cNvPr id="23" name="Text 21"/>
          <p:cNvSpPr/>
          <p:nvPr/>
        </p:nvSpPr>
        <p:spPr>
          <a:xfrm>
            <a:off x="5303520" y="2331720"/>
            <a:ext cx="914400" cy="182880"/>
          </a:xfrm>
          <a:prstGeom prst="rect">
            <a:avLst/>
          </a:prstGeom>
          <a:noFill/>
          <a:ln/>
        </p:spPr>
        <p:txBody>
          <a:bodyPr wrap="square" rtlCol="0" anchor="ctr"/>
          <a:lstStyle/>
          <a:p>
            <a:pPr algn="ctr" indent="0" marL="0">
              <a:buNone/>
            </a:pPr>
            <a:r>
              <a:rPr lang="en-US" sz="1000" b="1" dirty="0">
                <a:solidFill>
                  <a:srgbClr val="FFFFFF"/>
                </a:solidFill>
              </a:rPr>
              <a:t>GO/NO-GO</a:t>
            </a:r>
            <a:endParaRPr lang="en-US" sz="1000" dirty="0"/>
          </a:p>
        </p:txBody>
      </p:sp>
      <p:sp>
        <p:nvSpPr>
          <p:cNvPr id="24" name="Text 22"/>
          <p:cNvSpPr/>
          <p:nvPr/>
        </p:nvSpPr>
        <p:spPr>
          <a:xfrm>
            <a:off x="2926080" y="2715768"/>
            <a:ext cx="548640" cy="228600"/>
          </a:xfrm>
          <a:prstGeom prst="rect">
            <a:avLst/>
          </a:prstGeom>
          <a:noFill/>
          <a:ln/>
        </p:spPr>
        <p:txBody>
          <a:bodyPr wrap="square" rtlCol="0" anchor="ctr"/>
          <a:lstStyle/>
          <a:p>
            <a:pPr algn="ctr" indent="0" marL="0">
              <a:buNone/>
            </a:pPr>
            <a:r>
              <a:rPr lang="en-US" sz="2000" dirty="0">
                <a:solidFill>
                  <a:srgbClr val="7FCDCD"/>
                </a:solidFill>
              </a:rPr>
              <a:t>▼</a:t>
            </a:r>
            <a:endParaRPr lang="en-US" sz="2000" dirty="0"/>
          </a:p>
        </p:txBody>
      </p:sp>
      <p:sp>
        <p:nvSpPr>
          <p:cNvPr id="25" name="Shape 23"/>
          <p:cNvSpPr/>
          <p:nvPr/>
        </p:nvSpPr>
        <p:spPr>
          <a:xfrm>
            <a:off x="457200" y="2788920"/>
            <a:ext cx="5943600" cy="548640"/>
          </a:xfrm>
          <a:prstGeom prst="rect">
            <a:avLst/>
          </a:prstGeom>
          <a:solidFill>
            <a:srgbClr val="FFFFFF"/>
          </a:solidFill>
          <a:ln w="25400">
            <a:solidFill>
              <a:srgbClr val="003366"/>
            </a:solidFill>
            <a:prstDash val="solid"/>
          </a:ln>
        </p:spPr>
      </p:sp>
      <p:sp>
        <p:nvSpPr>
          <p:cNvPr id="26" name="Text 24"/>
          <p:cNvSpPr/>
          <p:nvPr/>
        </p:nvSpPr>
        <p:spPr>
          <a:xfrm>
            <a:off x="594360" y="2834640"/>
            <a:ext cx="4114800" cy="182880"/>
          </a:xfrm>
          <a:prstGeom prst="rect">
            <a:avLst/>
          </a:prstGeom>
          <a:noFill/>
          <a:ln/>
        </p:spPr>
        <p:txBody>
          <a:bodyPr wrap="square" rtlCol="0" anchor="ctr"/>
          <a:lstStyle/>
          <a:p>
            <a:pPr indent="0" marL="0">
              <a:buNone/>
            </a:pPr>
            <a:r>
              <a:rPr lang="en-US" sz="1600" b="1" dirty="0">
                <a:solidFill>
                  <a:srgbClr val="003366"/>
                </a:solidFill>
              </a:rPr>
              <a:t>Gate 4: Limited Launch</a:t>
            </a:r>
            <a:endParaRPr lang="en-US" sz="1600" dirty="0"/>
          </a:p>
        </p:txBody>
      </p:sp>
      <p:sp>
        <p:nvSpPr>
          <p:cNvPr id="27" name="Text 25"/>
          <p:cNvSpPr/>
          <p:nvPr/>
        </p:nvSpPr>
        <p:spPr>
          <a:xfrm>
            <a:off x="594360" y="3035808"/>
            <a:ext cx="4114800" cy="137160"/>
          </a:xfrm>
          <a:prstGeom prst="rect">
            <a:avLst/>
          </a:prstGeom>
          <a:noFill/>
          <a:ln/>
        </p:spPr>
        <p:txBody>
          <a:bodyPr wrap="square" rtlCol="0" anchor="ctr"/>
          <a:lstStyle/>
          <a:p>
            <a:pPr indent="0" marL="0">
              <a:buNone/>
            </a:pPr>
            <a:r>
              <a:rPr lang="en-US" sz="1200" dirty="0">
                <a:solidFill>
                  <a:srgbClr val="1A1A1A"/>
                </a:solidFill>
              </a:rPr>
              <a:t>5K-10K units, premium line, mid-tier influencers</a:t>
            </a:r>
            <a:endParaRPr lang="en-US" sz="1200" dirty="0"/>
          </a:p>
        </p:txBody>
      </p:sp>
      <p:sp>
        <p:nvSpPr>
          <p:cNvPr id="28" name="Text 26"/>
          <p:cNvSpPr/>
          <p:nvPr/>
        </p:nvSpPr>
        <p:spPr>
          <a:xfrm>
            <a:off x="594360" y="3191256"/>
            <a:ext cx="4114800" cy="109728"/>
          </a:xfrm>
          <a:prstGeom prst="rect">
            <a:avLst/>
          </a:prstGeom>
          <a:noFill/>
          <a:ln/>
        </p:spPr>
        <p:txBody>
          <a:bodyPr wrap="square" rtlCol="0" anchor="ctr"/>
          <a:lstStyle/>
          <a:p>
            <a:pPr indent="0" marL="0">
              <a:buNone/>
            </a:pPr>
            <a:r>
              <a:rPr lang="en-US" sz="1400" b="1" dirty="0">
                <a:solidFill>
                  <a:srgbClr val="D4AF37"/>
                </a:solidFill>
              </a:rPr>
              <a:t>$30-50K</a:t>
            </a:r>
            <a:endParaRPr lang="en-US" sz="1400" dirty="0"/>
          </a:p>
        </p:txBody>
      </p:sp>
      <p:sp>
        <p:nvSpPr>
          <p:cNvPr id="29" name="Shape 27"/>
          <p:cNvSpPr/>
          <p:nvPr/>
        </p:nvSpPr>
        <p:spPr>
          <a:xfrm>
            <a:off x="5303520" y="2971800"/>
            <a:ext cx="914400" cy="182880"/>
          </a:xfrm>
          <a:prstGeom prst="rect">
            <a:avLst/>
          </a:prstGeom>
          <a:solidFill>
            <a:srgbClr val="7FCDCD"/>
          </a:solidFill>
          <a:ln/>
        </p:spPr>
      </p:sp>
      <p:sp>
        <p:nvSpPr>
          <p:cNvPr id="30" name="Text 28"/>
          <p:cNvSpPr/>
          <p:nvPr/>
        </p:nvSpPr>
        <p:spPr>
          <a:xfrm>
            <a:off x="5303520" y="2971800"/>
            <a:ext cx="914400" cy="182880"/>
          </a:xfrm>
          <a:prstGeom prst="rect">
            <a:avLst/>
          </a:prstGeom>
          <a:noFill/>
          <a:ln/>
        </p:spPr>
        <p:txBody>
          <a:bodyPr wrap="square" rtlCol="0" anchor="ctr"/>
          <a:lstStyle/>
          <a:p>
            <a:pPr algn="ctr" indent="0" marL="0">
              <a:buNone/>
            </a:pPr>
            <a:r>
              <a:rPr lang="en-US" sz="1000" b="1" dirty="0">
                <a:solidFill>
                  <a:srgbClr val="FFFFFF"/>
                </a:solidFill>
              </a:rPr>
              <a:t>GO/NO-GO</a:t>
            </a:r>
            <a:endParaRPr lang="en-US" sz="1000" dirty="0"/>
          </a:p>
        </p:txBody>
      </p:sp>
      <p:sp>
        <p:nvSpPr>
          <p:cNvPr id="31" name="Text 29"/>
          <p:cNvSpPr/>
          <p:nvPr/>
        </p:nvSpPr>
        <p:spPr>
          <a:xfrm>
            <a:off x="2926080" y="3355848"/>
            <a:ext cx="548640" cy="228600"/>
          </a:xfrm>
          <a:prstGeom prst="rect">
            <a:avLst/>
          </a:prstGeom>
          <a:noFill/>
          <a:ln/>
        </p:spPr>
        <p:txBody>
          <a:bodyPr wrap="square" rtlCol="0" anchor="ctr"/>
          <a:lstStyle/>
          <a:p>
            <a:pPr algn="ctr" indent="0" marL="0">
              <a:buNone/>
            </a:pPr>
            <a:r>
              <a:rPr lang="en-US" sz="2000" dirty="0">
                <a:solidFill>
                  <a:srgbClr val="7FCDCD"/>
                </a:solidFill>
              </a:rPr>
              <a:t>▼</a:t>
            </a:r>
            <a:endParaRPr lang="en-US" sz="2000" dirty="0"/>
          </a:p>
        </p:txBody>
      </p:sp>
      <p:sp>
        <p:nvSpPr>
          <p:cNvPr id="32" name="Shape 30"/>
          <p:cNvSpPr/>
          <p:nvPr/>
        </p:nvSpPr>
        <p:spPr>
          <a:xfrm>
            <a:off x="457200" y="3429000"/>
            <a:ext cx="5943600" cy="548640"/>
          </a:xfrm>
          <a:prstGeom prst="rect">
            <a:avLst/>
          </a:prstGeom>
          <a:solidFill>
            <a:srgbClr val="FFFFFF"/>
          </a:solidFill>
          <a:ln w="25400">
            <a:solidFill>
              <a:srgbClr val="003366"/>
            </a:solidFill>
            <a:prstDash val="solid"/>
          </a:ln>
        </p:spPr>
      </p:sp>
      <p:sp>
        <p:nvSpPr>
          <p:cNvPr id="33" name="Text 31"/>
          <p:cNvSpPr/>
          <p:nvPr/>
        </p:nvSpPr>
        <p:spPr>
          <a:xfrm>
            <a:off x="594360" y="3474720"/>
            <a:ext cx="4114800" cy="182880"/>
          </a:xfrm>
          <a:prstGeom prst="rect">
            <a:avLst/>
          </a:prstGeom>
          <a:noFill/>
          <a:ln/>
        </p:spPr>
        <p:txBody>
          <a:bodyPr wrap="square" rtlCol="0" anchor="ctr"/>
          <a:lstStyle/>
          <a:p>
            <a:pPr indent="0" marL="0">
              <a:buNone/>
            </a:pPr>
            <a:r>
              <a:rPr lang="en-US" sz="1600" b="1" dirty="0">
                <a:solidFill>
                  <a:srgbClr val="003366"/>
                </a:solidFill>
              </a:rPr>
              <a:t>Gate 5: Scale &amp; Sustain</a:t>
            </a:r>
            <a:endParaRPr lang="en-US" sz="1600" dirty="0"/>
          </a:p>
        </p:txBody>
      </p:sp>
      <p:sp>
        <p:nvSpPr>
          <p:cNvPr id="34" name="Text 32"/>
          <p:cNvSpPr/>
          <p:nvPr/>
        </p:nvSpPr>
        <p:spPr>
          <a:xfrm>
            <a:off x="594360" y="3675888"/>
            <a:ext cx="4114800" cy="137160"/>
          </a:xfrm>
          <a:prstGeom prst="rect">
            <a:avLst/>
          </a:prstGeom>
          <a:noFill/>
          <a:ln/>
        </p:spPr>
        <p:txBody>
          <a:bodyPr wrap="square" rtlCol="0" anchor="ctr"/>
          <a:lstStyle/>
          <a:p>
            <a:pPr indent="0" marL="0">
              <a:buNone/>
            </a:pPr>
            <a:r>
              <a:rPr lang="en-US" sz="1200" dirty="0">
                <a:solidFill>
                  <a:srgbClr val="1A1A1A"/>
                </a:solidFill>
              </a:rPr>
              <a:t>Multi-market expansion, major influencers, retail partners</a:t>
            </a:r>
            <a:endParaRPr lang="en-US" sz="1200" dirty="0"/>
          </a:p>
        </p:txBody>
      </p:sp>
      <p:sp>
        <p:nvSpPr>
          <p:cNvPr id="35" name="Text 33"/>
          <p:cNvSpPr/>
          <p:nvPr/>
        </p:nvSpPr>
        <p:spPr>
          <a:xfrm>
            <a:off x="594360" y="3831336"/>
            <a:ext cx="4114800" cy="109728"/>
          </a:xfrm>
          <a:prstGeom prst="rect">
            <a:avLst/>
          </a:prstGeom>
          <a:noFill/>
          <a:ln/>
        </p:spPr>
        <p:txBody>
          <a:bodyPr wrap="square" rtlCol="0" anchor="ctr"/>
          <a:lstStyle/>
          <a:p>
            <a:pPr indent="0" marL="0">
              <a:buNone/>
            </a:pPr>
            <a:r>
              <a:rPr lang="en-US" sz="1400" b="1" dirty="0">
                <a:solidFill>
                  <a:srgbClr val="D4AF37"/>
                </a:solidFill>
              </a:rPr>
              <a:t>$50-100K</a:t>
            </a:r>
            <a:endParaRPr lang="en-US" sz="1400" dirty="0"/>
          </a:p>
        </p:txBody>
      </p:sp>
      <p:sp>
        <p:nvSpPr>
          <p:cNvPr id="36" name="Shape 34"/>
          <p:cNvSpPr/>
          <p:nvPr/>
        </p:nvSpPr>
        <p:spPr>
          <a:xfrm>
            <a:off x="5303520" y="3611880"/>
            <a:ext cx="914400" cy="182880"/>
          </a:xfrm>
          <a:prstGeom prst="rect">
            <a:avLst/>
          </a:prstGeom>
          <a:solidFill>
            <a:srgbClr val="7FCDCD"/>
          </a:solidFill>
          <a:ln/>
        </p:spPr>
      </p:sp>
      <p:sp>
        <p:nvSpPr>
          <p:cNvPr id="37" name="Text 35"/>
          <p:cNvSpPr/>
          <p:nvPr/>
        </p:nvSpPr>
        <p:spPr>
          <a:xfrm>
            <a:off x="5303520" y="3611880"/>
            <a:ext cx="914400" cy="182880"/>
          </a:xfrm>
          <a:prstGeom prst="rect">
            <a:avLst/>
          </a:prstGeom>
          <a:noFill/>
          <a:ln/>
        </p:spPr>
        <p:txBody>
          <a:bodyPr wrap="square" rtlCol="0" anchor="ctr"/>
          <a:lstStyle/>
          <a:p>
            <a:pPr algn="ctr" indent="0" marL="0">
              <a:buNone/>
            </a:pPr>
            <a:r>
              <a:rPr lang="en-US" sz="1000" b="1" dirty="0">
                <a:solidFill>
                  <a:srgbClr val="FFFFFF"/>
                </a:solidFill>
              </a:rPr>
              <a:t>GO/NO-GO</a:t>
            </a:r>
            <a:endParaRPr lang="en-US" sz="1000" dirty="0"/>
          </a:p>
        </p:txBody>
      </p:sp>
      <p:sp>
        <p:nvSpPr>
          <p:cNvPr id="38" name="Shape 36"/>
          <p:cNvSpPr/>
          <p:nvPr/>
        </p:nvSpPr>
        <p:spPr>
          <a:xfrm>
            <a:off x="6583680" y="914400"/>
            <a:ext cx="2103120" cy="731520"/>
          </a:xfrm>
          <a:prstGeom prst="rect">
            <a:avLst/>
          </a:prstGeom>
          <a:solidFill>
            <a:srgbClr val="003366"/>
          </a:solidFill>
          <a:ln/>
        </p:spPr>
      </p:sp>
      <p:sp>
        <p:nvSpPr>
          <p:cNvPr id="39" name="Text 37"/>
          <p:cNvSpPr/>
          <p:nvPr/>
        </p:nvSpPr>
        <p:spPr>
          <a:xfrm>
            <a:off x="6583680" y="960120"/>
            <a:ext cx="2103120" cy="228600"/>
          </a:xfrm>
          <a:prstGeom prst="rect">
            <a:avLst/>
          </a:prstGeom>
          <a:noFill/>
          <a:ln/>
        </p:spPr>
        <p:txBody>
          <a:bodyPr wrap="square" rtlCol="0" anchor="ctr"/>
          <a:lstStyle/>
          <a:p>
            <a:pPr algn="ctr" indent="0" marL="0">
              <a:buNone/>
            </a:pPr>
            <a:r>
              <a:rPr lang="en-US" sz="1400" dirty="0">
                <a:solidFill>
                  <a:srgbClr val="7FCDCD"/>
                </a:solidFill>
              </a:rPr>
              <a:t>Total Investment</a:t>
            </a:r>
            <a:endParaRPr lang="en-US" sz="1400" dirty="0"/>
          </a:p>
        </p:txBody>
      </p:sp>
      <p:sp>
        <p:nvSpPr>
          <p:cNvPr id="40" name="Text 38"/>
          <p:cNvSpPr/>
          <p:nvPr/>
        </p:nvSpPr>
        <p:spPr>
          <a:xfrm>
            <a:off x="6583680" y="1207008"/>
            <a:ext cx="2103120" cy="365760"/>
          </a:xfrm>
          <a:prstGeom prst="rect">
            <a:avLst/>
          </a:prstGeom>
          <a:noFill/>
          <a:ln/>
        </p:spPr>
        <p:txBody>
          <a:bodyPr wrap="square" rtlCol="0" anchor="ctr"/>
          <a:lstStyle/>
          <a:p>
            <a:pPr algn="ctr" indent="0" marL="0">
              <a:buNone/>
            </a:pPr>
            <a:r>
              <a:rPr lang="en-US" sz="2400" b="1" dirty="0">
                <a:solidFill>
                  <a:srgbClr val="D4AF37"/>
                </a:solidFill>
              </a:rPr>
              <a:t>$110-200K</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Gate 1: Lab Testing (Detail)</a:t>
            </a:r>
            <a:endParaRPr lang="en-US" sz="3600" dirty="0"/>
          </a:p>
        </p:txBody>
      </p:sp>
      <p:sp>
        <p:nvSpPr>
          <p:cNvPr id="4" name="Text 2"/>
          <p:cNvSpPr/>
          <p:nvPr/>
        </p:nvSpPr>
        <p:spPr>
          <a:xfrm>
            <a:off x="457200" y="914400"/>
            <a:ext cx="4114800" cy="274320"/>
          </a:xfrm>
          <a:prstGeom prst="rect">
            <a:avLst/>
          </a:prstGeom>
          <a:noFill/>
          <a:ln/>
        </p:spPr>
        <p:txBody>
          <a:bodyPr wrap="square" rtlCol="0" anchor="ctr"/>
          <a:lstStyle/>
          <a:p>
            <a:pPr indent="0" marL="0">
              <a:buNone/>
            </a:pPr>
            <a:r>
              <a:rPr lang="en-US" sz="2000" b="1" dirty="0">
                <a:solidFill>
                  <a:srgbClr val="003366"/>
                </a:solidFill>
              </a:rPr>
              <a:t>Test Wild vs Farmed For:</a:t>
            </a:r>
            <a:endParaRPr lang="en-US" sz="2000" dirty="0"/>
          </a:p>
        </p:txBody>
      </p:sp>
      <p:sp>
        <p:nvSpPr>
          <p:cNvPr id="5" name="Text 3"/>
          <p:cNvSpPr/>
          <p:nvPr/>
        </p:nvSpPr>
        <p:spPr>
          <a:xfrm>
            <a:off x="640080" y="1280160"/>
            <a:ext cx="3657600" cy="320040"/>
          </a:xfrm>
          <a:prstGeom prst="rect">
            <a:avLst/>
          </a:prstGeom>
          <a:noFill/>
          <a:ln/>
        </p:spPr>
        <p:txBody>
          <a:bodyPr wrap="square" rtlCol="0" anchor="ctr"/>
          <a:lstStyle/>
          <a:p>
            <a:pPr indent="0" marL="0">
              <a:buNone/>
            </a:pPr>
            <a:r>
              <a:rPr lang="en-US" sz="1400" dirty="0">
                <a:solidFill>
                  <a:srgbClr val="1A1A1A"/>
                </a:solidFill>
              </a:rPr>
              <a:t>▸ Collagen &amp; Peptides - Key compounds for skin elasticity</a:t>
            </a:r>
            <a:endParaRPr lang="en-US" sz="1400" dirty="0"/>
          </a:p>
        </p:txBody>
      </p:sp>
      <p:sp>
        <p:nvSpPr>
          <p:cNvPr id="6" name="Text 4"/>
          <p:cNvSpPr/>
          <p:nvPr/>
        </p:nvSpPr>
        <p:spPr>
          <a:xfrm>
            <a:off x="640080" y="1645920"/>
            <a:ext cx="3657600" cy="320040"/>
          </a:xfrm>
          <a:prstGeom prst="rect">
            <a:avLst/>
          </a:prstGeom>
          <a:noFill/>
          <a:ln/>
        </p:spPr>
        <p:txBody>
          <a:bodyPr wrap="square" rtlCol="0" anchor="ctr"/>
          <a:lstStyle/>
          <a:p>
            <a:pPr indent="0" marL="0">
              <a:buNone/>
            </a:pPr>
            <a:r>
              <a:rPr lang="en-US" sz="1400" dirty="0">
                <a:solidFill>
                  <a:srgbClr val="1A1A1A"/>
                </a:solidFill>
              </a:rPr>
              <a:t>▸ Omega-3 Fatty Acids - Essential for skin hydration</a:t>
            </a:r>
            <a:endParaRPr lang="en-US" sz="1400" dirty="0"/>
          </a:p>
        </p:txBody>
      </p:sp>
      <p:sp>
        <p:nvSpPr>
          <p:cNvPr id="7" name="Text 5"/>
          <p:cNvSpPr/>
          <p:nvPr/>
        </p:nvSpPr>
        <p:spPr>
          <a:xfrm>
            <a:off x="640080" y="2011680"/>
            <a:ext cx="3657600" cy="320040"/>
          </a:xfrm>
          <a:prstGeom prst="rect">
            <a:avLst/>
          </a:prstGeom>
          <a:noFill/>
          <a:ln/>
        </p:spPr>
        <p:txBody>
          <a:bodyPr wrap="square" rtlCol="0" anchor="ctr"/>
          <a:lstStyle/>
          <a:p>
            <a:pPr indent="0" marL="0">
              <a:buNone/>
            </a:pPr>
            <a:r>
              <a:rPr lang="en-US" sz="1400" dirty="0">
                <a:solidFill>
                  <a:srgbClr val="1A1A1A"/>
                </a:solidFill>
              </a:rPr>
              <a:t>▸ Minerals &amp; Trace Elements - Zinc, selenium, iron</a:t>
            </a:r>
            <a:endParaRPr lang="en-US" sz="1400" dirty="0"/>
          </a:p>
        </p:txBody>
      </p:sp>
      <p:sp>
        <p:nvSpPr>
          <p:cNvPr id="8" name="Text 6"/>
          <p:cNvSpPr/>
          <p:nvPr/>
        </p:nvSpPr>
        <p:spPr>
          <a:xfrm>
            <a:off x="640080" y="2377440"/>
            <a:ext cx="3657600" cy="320040"/>
          </a:xfrm>
          <a:prstGeom prst="rect">
            <a:avLst/>
          </a:prstGeom>
          <a:noFill/>
          <a:ln/>
        </p:spPr>
        <p:txBody>
          <a:bodyPr wrap="square" rtlCol="0" anchor="ctr"/>
          <a:lstStyle/>
          <a:p>
            <a:pPr indent="0" marL="0">
              <a:buNone/>
            </a:pPr>
            <a:r>
              <a:rPr lang="en-US" sz="1400" dirty="0">
                <a:solidFill>
                  <a:srgbClr val="1A1A1A"/>
                </a:solidFill>
              </a:rPr>
              <a:t>▸ Hormone Testing - Verify zero hormones in wild</a:t>
            </a:r>
            <a:endParaRPr lang="en-US" sz="1400" dirty="0"/>
          </a:p>
        </p:txBody>
      </p:sp>
      <p:sp>
        <p:nvSpPr>
          <p:cNvPr id="9" name="Shape 7"/>
          <p:cNvSpPr/>
          <p:nvPr/>
        </p:nvSpPr>
        <p:spPr>
          <a:xfrm>
            <a:off x="4800600" y="914400"/>
            <a:ext cx="3886200" cy="1097280"/>
          </a:xfrm>
          <a:prstGeom prst="rect">
            <a:avLst/>
          </a:prstGeom>
          <a:solidFill>
            <a:srgbClr val="D4EDDA"/>
          </a:solidFill>
          <a:ln w="25400">
            <a:solidFill>
              <a:srgbClr val="28A745"/>
            </a:solidFill>
            <a:prstDash val="solid"/>
          </a:ln>
        </p:spPr>
      </p:sp>
      <p:sp>
        <p:nvSpPr>
          <p:cNvPr id="10" name="Text 8"/>
          <p:cNvSpPr/>
          <p:nvPr/>
        </p:nvSpPr>
        <p:spPr>
          <a:xfrm>
            <a:off x="4983480" y="1005840"/>
            <a:ext cx="3520440" cy="228600"/>
          </a:xfrm>
          <a:prstGeom prst="rect">
            <a:avLst/>
          </a:prstGeom>
          <a:noFill/>
          <a:ln/>
        </p:spPr>
        <p:txBody>
          <a:bodyPr wrap="square" rtlCol="0" anchor="ctr"/>
          <a:lstStyle/>
          <a:p>
            <a:pPr indent="0" marL="0">
              <a:buNone/>
            </a:pPr>
            <a:r>
              <a:rPr lang="en-US" sz="1700" b="1" dirty="0">
                <a:solidFill>
                  <a:srgbClr val="155724"/>
                </a:solidFill>
              </a:rPr>
              <a:t>Success Criteria (GO Decision)</a:t>
            </a:r>
            <a:endParaRPr lang="en-US" sz="1700" dirty="0"/>
          </a:p>
        </p:txBody>
      </p:sp>
      <p:sp>
        <p:nvSpPr>
          <p:cNvPr id="11" name="Text 9"/>
          <p:cNvSpPr/>
          <p:nvPr/>
        </p:nvSpPr>
        <p:spPr>
          <a:xfrm>
            <a:off x="4983480" y="1280160"/>
            <a:ext cx="3520440" cy="640080"/>
          </a:xfrm>
          <a:prstGeom prst="rect">
            <a:avLst/>
          </a:prstGeom>
          <a:noFill/>
          <a:ln/>
        </p:spPr>
        <p:txBody>
          <a:bodyPr wrap="square" rtlCol="0" anchor="ctr"/>
          <a:lstStyle/>
          <a:p>
            <a:pPr indent="0" marL="0">
              <a:buNone/>
            </a:pPr>
            <a:r>
              <a:rPr lang="en-US" sz="1400" dirty="0">
                <a:solidFill>
                  <a:srgbClr val="155724"/>
                </a:solidFill>
              </a:rPr>
              <a:t>✓ ≥30% higher beneficial compounds</a:t>
            </a:r>
            <a:endParaRPr lang="en-US" sz="1400" dirty="0"/>
          </a:p>
          <a:p>
            <a:pPr indent="0" marL="0">
              <a:buNone/>
            </a:pPr>
            <a:r>
              <a:rPr lang="en-US" sz="1400" dirty="0">
                <a:solidFill>
                  <a:srgbClr val="155724"/>
                </a:solidFill>
              </a:rPr>
              <a:t>✓ Zero detectable hormones</a:t>
            </a:r>
            <a:endParaRPr lang="en-US" sz="1400" dirty="0"/>
          </a:p>
          <a:p>
            <a:pPr indent="0" marL="0">
              <a:buNone/>
            </a:pPr>
            <a:r>
              <a:rPr lang="en-US" sz="1400" dirty="0">
                <a:solidFill>
                  <a:srgbClr val="155724"/>
                </a:solidFill>
              </a:rPr>
              <a:t>✓ Results from certified lab</a:t>
            </a:r>
            <a:endParaRPr lang="en-US" sz="1400" dirty="0"/>
          </a:p>
        </p:txBody>
      </p:sp>
      <p:sp>
        <p:nvSpPr>
          <p:cNvPr id="12" name="Text 10"/>
          <p:cNvSpPr/>
          <p:nvPr/>
        </p:nvSpPr>
        <p:spPr>
          <a:xfrm>
            <a:off x="4983480" y="2286000"/>
            <a:ext cx="3520440" cy="457200"/>
          </a:xfrm>
          <a:prstGeom prst="rect">
            <a:avLst/>
          </a:prstGeom>
          <a:noFill/>
          <a:ln/>
        </p:spPr>
        <p:txBody>
          <a:bodyPr wrap="square" rtlCol="0" anchor="ctr"/>
          <a:lstStyle/>
          <a:p>
            <a:pPr indent="0" marL="0">
              <a:buNone/>
            </a:pPr>
            <a:r>
              <a:rPr lang="en-US" sz="1600" b="1" dirty="0">
                <a:solidFill>
                  <a:srgbClr val="003366"/>
                </a:solidFill>
              </a:rPr>
              <a:t>Timeline: 6-8 Weeks</a:t>
            </a:r>
            <a:endParaRPr lang="en-US" sz="1600" dirty="0"/>
          </a:p>
          <a:p>
            <a:pPr indent="0" marL="0">
              <a:buNone/>
            </a:pPr>
            <a:r>
              <a:rPr lang="en-US" sz="1600" b="1" dirty="0">
                <a:solidFill>
                  <a:srgbClr val="003366"/>
                </a:solidFill>
              </a:rPr>
              <a:t>Investment: $15,000 - $25,000</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Gates 2-3: Legal Review &amp; Testing</a:t>
            </a:r>
            <a:endParaRPr lang="en-US" sz="3600" dirty="0"/>
          </a:p>
        </p:txBody>
      </p:sp>
      <p:sp>
        <p:nvSpPr>
          <p:cNvPr id="4" name="Shape 2"/>
          <p:cNvSpPr/>
          <p:nvPr/>
        </p:nvSpPr>
        <p:spPr>
          <a:xfrm>
            <a:off x="457200" y="914400"/>
            <a:ext cx="8229600" cy="1371600"/>
          </a:xfrm>
          <a:prstGeom prst="rect">
            <a:avLst/>
          </a:prstGeom>
          <a:solidFill>
            <a:srgbClr val="FFFFFF"/>
          </a:solidFill>
          <a:ln w="25400">
            <a:solidFill>
              <a:srgbClr val="003366"/>
            </a:solidFill>
            <a:prstDash val="solid"/>
          </a:ln>
        </p:spPr>
      </p:sp>
      <p:sp>
        <p:nvSpPr>
          <p:cNvPr id="5" name="Text 3"/>
          <p:cNvSpPr/>
          <p:nvPr/>
        </p:nvSpPr>
        <p:spPr>
          <a:xfrm>
            <a:off x="640080" y="1005840"/>
            <a:ext cx="7863840" cy="274320"/>
          </a:xfrm>
          <a:prstGeom prst="rect">
            <a:avLst/>
          </a:prstGeom>
          <a:noFill/>
          <a:ln/>
        </p:spPr>
        <p:txBody>
          <a:bodyPr wrap="square" rtlCol="0" anchor="ctr"/>
          <a:lstStyle/>
          <a:p>
            <a:pPr indent="0" marL="0">
              <a:buNone/>
            </a:pPr>
            <a:r>
              <a:rPr lang="en-US" sz="2200" b="1" dirty="0">
                <a:solidFill>
                  <a:srgbClr val="003366"/>
                </a:solidFill>
              </a:rPr>
              <a:t>Gate 2: Legal Review</a:t>
            </a:r>
            <a:endParaRPr lang="en-US" sz="2200" dirty="0"/>
          </a:p>
        </p:txBody>
      </p:sp>
      <p:sp>
        <p:nvSpPr>
          <p:cNvPr id="6" name="Text 4"/>
          <p:cNvSpPr/>
          <p:nvPr/>
        </p:nvSpPr>
        <p:spPr>
          <a:xfrm>
            <a:off x="640080" y="1325880"/>
            <a:ext cx="5486400" cy="868680"/>
          </a:xfrm>
          <a:prstGeom prst="rect">
            <a:avLst/>
          </a:prstGeom>
          <a:noFill/>
          <a:ln/>
        </p:spPr>
        <p:txBody>
          <a:bodyPr wrap="square" rtlCol="0" anchor="ctr"/>
          <a:lstStyle/>
          <a:p>
            <a:pPr indent="0" marL="0">
              <a:buNone/>
            </a:pPr>
            <a:r>
              <a:rPr lang="en-US" sz="1400" dirty="0">
                <a:solidFill>
                  <a:srgbClr val="1A1A1A"/>
                </a:solidFill>
              </a:rPr>
              <a:t>▸ Determine permissible claims in Singapore, Malaysia, Hong Kong</a:t>
            </a:r>
            <a:endParaRPr lang="en-US" sz="1400" dirty="0"/>
          </a:p>
          <a:p>
            <a:pPr indent="0" marL="0">
              <a:buNone/>
            </a:pPr>
            <a:r>
              <a:rPr lang="en-US" sz="1400" dirty="0">
                <a:solidFill>
                  <a:srgbClr val="1A1A1A"/>
                </a:solidFill>
              </a:rPr>
              <a:t>▸ Approved claim language for packaging and marketing</a:t>
            </a:r>
            <a:endParaRPr lang="en-US" sz="1400" dirty="0"/>
          </a:p>
          <a:p>
            <a:pPr indent="0" marL="0">
              <a:buNone/>
            </a:pPr>
            <a:r>
              <a:rPr lang="en-US" sz="1400" dirty="0">
                <a:solidFill>
                  <a:srgbClr val="1A1A1A"/>
                </a:solidFill>
              </a:rPr>
              <a:t>▸ Market-specific compliance requirements</a:t>
            </a:r>
            <a:endParaRPr lang="en-US" sz="1400" dirty="0"/>
          </a:p>
          <a:p>
            <a:pPr indent="0" marL="0">
              <a:buNone/>
            </a:pPr>
            <a:endParaRPr lang="en-US" sz="1400" dirty="0"/>
          </a:p>
          <a:p>
            <a:pPr indent="0" marL="0">
              <a:buNone/>
            </a:pPr>
            <a:r>
              <a:rPr lang="en-US" sz="1400" dirty="0">
                <a:solidFill>
                  <a:srgbClr val="1A1A1A"/>
                </a:solidFill>
              </a:rPr>
              <a:t>Timeline: 4-6 Weeks  |  Investment: $5-10K</a:t>
            </a:r>
            <a:endParaRPr lang="en-US" sz="1400" dirty="0"/>
          </a:p>
        </p:txBody>
      </p:sp>
      <p:sp>
        <p:nvSpPr>
          <p:cNvPr id="7" name="Shape 5"/>
          <p:cNvSpPr/>
          <p:nvPr/>
        </p:nvSpPr>
        <p:spPr>
          <a:xfrm>
            <a:off x="457200" y="2468880"/>
            <a:ext cx="8229600" cy="1554480"/>
          </a:xfrm>
          <a:prstGeom prst="rect">
            <a:avLst/>
          </a:prstGeom>
          <a:solidFill>
            <a:srgbClr val="FFFFFF"/>
          </a:solidFill>
          <a:ln w="25400">
            <a:solidFill>
              <a:srgbClr val="003366"/>
            </a:solidFill>
            <a:prstDash val="solid"/>
          </a:ln>
        </p:spPr>
      </p:sp>
      <p:sp>
        <p:nvSpPr>
          <p:cNvPr id="8" name="Text 6"/>
          <p:cNvSpPr/>
          <p:nvPr/>
        </p:nvSpPr>
        <p:spPr>
          <a:xfrm>
            <a:off x="640080" y="2560320"/>
            <a:ext cx="7863840" cy="274320"/>
          </a:xfrm>
          <a:prstGeom prst="rect">
            <a:avLst/>
          </a:prstGeom>
          <a:noFill/>
          <a:ln/>
        </p:spPr>
        <p:txBody>
          <a:bodyPr wrap="square" rtlCol="0" anchor="ctr"/>
          <a:lstStyle/>
          <a:p>
            <a:pPr indent="0" marL="0">
              <a:buNone/>
            </a:pPr>
            <a:r>
              <a:rPr lang="en-US" sz="2200" b="1" dirty="0">
                <a:solidFill>
                  <a:srgbClr val="003366"/>
                </a:solidFill>
              </a:rPr>
              <a:t>Gate 3: Micro-Influencer Test</a:t>
            </a:r>
            <a:endParaRPr lang="en-US" sz="2200" dirty="0"/>
          </a:p>
        </p:txBody>
      </p:sp>
      <p:sp>
        <p:nvSpPr>
          <p:cNvPr id="9" name="Text 7"/>
          <p:cNvSpPr/>
          <p:nvPr/>
        </p:nvSpPr>
        <p:spPr>
          <a:xfrm>
            <a:off x="640080" y="2880360"/>
            <a:ext cx="5486400" cy="1051560"/>
          </a:xfrm>
          <a:prstGeom prst="rect">
            <a:avLst/>
          </a:prstGeom>
          <a:noFill/>
          <a:ln/>
        </p:spPr>
        <p:txBody>
          <a:bodyPr wrap="square" rtlCol="0" anchor="ctr"/>
          <a:lstStyle/>
          <a:p>
            <a:pPr indent="0" marL="0">
              <a:buNone/>
            </a:pPr>
            <a:r>
              <a:rPr lang="en-US" sz="1400" dirty="0">
                <a:solidFill>
                  <a:srgbClr val="1A1A1A"/>
                </a:solidFill>
              </a:rPr>
              <a:t>▸ Partner with 5-8 micro-influencers (50K-150K followers)</a:t>
            </a:r>
            <a:endParaRPr lang="en-US" sz="1400" dirty="0"/>
          </a:p>
          <a:p>
            <a:pPr indent="0" marL="0">
              <a:buNone/>
            </a:pPr>
            <a:r>
              <a:rPr lang="en-US" sz="1400" dirty="0">
                <a:solidFill>
                  <a:srgbClr val="1A1A1A"/>
                </a:solidFill>
              </a:rPr>
              <a:t>▸ Success: &gt;5% engagement rate</a:t>
            </a:r>
            <a:endParaRPr lang="en-US" sz="1400" dirty="0"/>
          </a:p>
          <a:p>
            <a:pPr indent="0" marL="0">
              <a:buNone/>
            </a:pPr>
            <a:r>
              <a:rPr lang="en-US" sz="1400" dirty="0">
                <a:solidFill>
                  <a:srgbClr val="1A1A1A"/>
                </a:solidFill>
              </a:rPr>
              <a:t>▸ Success: &gt;80% positive sentiment</a:t>
            </a:r>
            <a:endParaRPr lang="en-US" sz="1400" dirty="0"/>
          </a:p>
          <a:p>
            <a:pPr indent="0" marL="0">
              <a:buNone/>
            </a:pPr>
            <a:r>
              <a:rPr lang="en-US" sz="1400" dirty="0">
                <a:solidFill>
                  <a:srgbClr val="1A1A1A"/>
                </a:solidFill>
              </a:rPr>
              <a:t>▸ Validated messaging resonance</a:t>
            </a:r>
            <a:endParaRPr lang="en-US" sz="1400" dirty="0"/>
          </a:p>
          <a:p>
            <a:pPr indent="0" marL="0">
              <a:buNone/>
            </a:pPr>
            <a:endParaRPr lang="en-US" sz="1400" dirty="0"/>
          </a:p>
          <a:p>
            <a:pPr indent="0" marL="0">
              <a:buNone/>
            </a:pPr>
            <a:r>
              <a:rPr lang="en-US" sz="1400" dirty="0">
                <a:solidFill>
                  <a:srgbClr val="1A1A1A"/>
                </a:solidFill>
              </a:rPr>
              <a:t>Timeline: 6-10 Weeks  |  Investment: $10-15K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Gate 4: Limited Launch</a:t>
            </a:r>
            <a:endParaRPr lang="en-US" sz="3600" dirty="0"/>
          </a:p>
        </p:txBody>
      </p:sp>
      <p:sp>
        <p:nvSpPr>
          <p:cNvPr id="4" name="Shape 2"/>
          <p:cNvSpPr/>
          <p:nvPr/>
        </p:nvSpPr>
        <p:spPr>
          <a:xfrm>
            <a:off x="1371600" y="914400"/>
            <a:ext cx="6400800" cy="640080"/>
          </a:xfrm>
          <a:prstGeom prst="rect">
            <a:avLst/>
          </a:prstGeom>
          <a:solidFill>
            <a:srgbClr val="003366"/>
          </a:solidFill>
          <a:ln/>
        </p:spPr>
      </p:sp>
      <p:sp>
        <p:nvSpPr>
          <p:cNvPr id="5" name="Text 3"/>
          <p:cNvSpPr/>
          <p:nvPr/>
        </p:nvSpPr>
        <p:spPr>
          <a:xfrm>
            <a:off x="1371600" y="1005840"/>
            <a:ext cx="6400800" cy="320040"/>
          </a:xfrm>
          <a:prstGeom prst="rect">
            <a:avLst/>
          </a:prstGeom>
          <a:noFill/>
          <a:ln/>
        </p:spPr>
        <p:txBody>
          <a:bodyPr wrap="square" rtlCol="0" anchor="ctr"/>
          <a:lstStyle/>
          <a:p>
            <a:pPr algn="ctr" indent="0" marL="0">
              <a:buNone/>
            </a:pPr>
            <a:r>
              <a:rPr lang="en-US" sz="2800" b="1" dirty="0">
                <a:solidFill>
                  <a:srgbClr val="D4AF37"/>
                </a:solidFill>
              </a:rPr>
              <a:t>Mallacoota Beauty Reserve</a:t>
            </a:r>
            <a:endParaRPr lang="en-US" sz="2800" dirty="0"/>
          </a:p>
        </p:txBody>
      </p:sp>
      <p:sp>
        <p:nvSpPr>
          <p:cNvPr id="6" name="Text 4"/>
          <p:cNvSpPr/>
          <p:nvPr/>
        </p:nvSpPr>
        <p:spPr>
          <a:xfrm>
            <a:off x="1371600" y="1325880"/>
            <a:ext cx="6400800" cy="182880"/>
          </a:xfrm>
          <a:prstGeom prst="rect">
            <a:avLst/>
          </a:prstGeom>
          <a:noFill/>
          <a:ln/>
        </p:spPr>
        <p:txBody>
          <a:bodyPr wrap="square" rtlCol="0" anchor="ctr"/>
          <a:lstStyle/>
          <a:p>
            <a:pPr algn="ctr" indent="0" marL="0">
              <a:buNone/>
            </a:pPr>
            <a:r>
              <a:rPr lang="en-US" sz="1600" i="1" dirty="0">
                <a:solidFill>
                  <a:srgbClr val="7FCDCD"/>
                </a:solidFill>
              </a:rPr>
              <a:t>Premium Wild Abalone for Beauty &amp; Wellness</a:t>
            </a:r>
            <a:endParaRPr lang="en-US" sz="1600" dirty="0"/>
          </a:p>
        </p:txBody>
      </p:sp>
      <p:sp>
        <p:nvSpPr>
          <p:cNvPr id="7" name="Text 5"/>
          <p:cNvSpPr/>
          <p:nvPr/>
        </p:nvSpPr>
        <p:spPr>
          <a:xfrm>
            <a:off x="640080" y="1828800"/>
            <a:ext cx="7863840" cy="2194560"/>
          </a:xfrm>
          <a:prstGeom prst="rect">
            <a:avLst/>
          </a:prstGeom>
          <a:noFill/>
          <a:ln/>
        </p:spPr>
        <p:txBody>
          <a:bodyPr wrap="square" rtlCol="0" anchor="ctr"/>
          <a:lstStyle/>
          <a:p>
            <a:pPr indent="0" marL="0">
              <a:lnSpc>
                <a:spcPts val="2000"/>
              </a:lnSpc>
              <a:buNone/>
            </a:pPr>
            <a:r>
              <a:rPr lang="en-US" sz="1600" dirty="0">
                <a:solidFill>
                  <a:srgbClr val="1A1A1A"/>
                </a:solidFill>
              </a:rPr>
              <a:t>Product Launch:</a:t>
            </a:r>
            <a:endParaRPr lang="en-US" sz="1600" dirty="0"/>
          </a:p>
          <a:p>
            <a:pPr indent="0" marL="0">
              <a:lnSpc>
                <a:spcPts val="2000"/>
              </a:lnSpc>
              <a:buNone/>
            </a:pPr>
            <a:r>
              <a:rPr lang="en-US" sz="1600" dirty="0">
                <a:solidFill>
                  <a:srgbClr val="1A1A1A"/>
                </a:solidFill>
              </a:rPr>
              <a:t>5,000-10,000 units at $60-80 per can</a:t>
            </a:r>
            <a:endParaRPr lang="en-US" sz="1600" dirty="0"/>
          </a:p>
          <a:p>
            <a:pPr indent="0" marL="0">
              <a:lnSpc>
                <a:spcPts val="2000"/>
              </a:lnSpc>
              <a:buNone/>
            </a:pPr>
            <a:endParaRPr lang="en-US" sz="1600" dirty="0"/>
          </a:p>
          <a:p>
            <a:pPr indent="0" marL="0">
              <a:lnSpc>
                <a:spcPts val="2000"/>
              </a:lnSpc>
              <a:buNone/>
            </a:pPr>
            <a:r>
              <a:rPr lang="en-US" sz="1600" dirty="0">
                <a:solidFill>
                  <a:srgbClr val="1A1A1A"/>
                </a:solidFill>
              </a:rPr>
              <a:t>Marketing Strategy:</a:t>
            </a:r>
            <a:endParaRPr lang="en-US" sz="1600" dirty="0"/>
          </a:p>
          <a:p>
            <a:pPr indent="0" marL="0">
              <a:lnSpc>
                <a:spcPts val="2000"/>
              </a:lnSpc>
              <a:buNone/>
            </a:pPr>
            <a:r>
              <a:rPr lang="en-US" sz="1600" dirty="0">
                <a:solidFill>
                  <a:srgbClr val="1A1A1A"/>
                </a:solidFill>
              </a:rPr>
              <a:t>15-20 mid-tier influencers (150K-500K followers)</a:t>
            </a:r>
            <a:endParaRPr lang="en-US" sz="1600" dirty="0"/>
          </a:p>
          <a:p>
            <a:pPr indent="0" marL="0">
              <a:lnSpc>
                <a:spcPts val="2000"/>
              </a:lnSpc>
              <a:buNone/>
            </a:pPr>
            <a:endParaRPr lang="en-US" sz="1600" dirty="0"/>
          </a:p>
          <a:p>
            <a:pPr indent="0" marL="0">
              <a:lnSpc>
                <a:spcPts val="2000"/>
              </a:lnSpc>
              <a:buNone/>
            </a:pPr>
            <a:r>
              <a:rPr lang="en-US" sz="1600" dirty="0">
                <a:solidFill>
                  <a:srgbClr val="1A1A1A"/>
                </a:solidFill>
              </a:rPr>
              <a:t>Distribution:</a:t>
            </a:r>
            <a:endParaRPr lang="en-US" sz="1600" dirty="0"/>
          </a:p>
          <a:p>
            <a:pPr indent="0" marL="0">
              <a:lnSpc>
                <a:spcPts val="2000"/>
              </a:lnSpc>
              <a:buNone/>
            </a:pPr>
            <a:r>
              <a:rPr lang="en-US" sz="1600" dirty="0">
                <a:solidFill>
                  <a:srgbClr val="1A1A1A"/>
                </a:solidFill>
              </a:rPr>
              <a:t>E-commerce direct to consumer</a:t>
            </a:r>
            <a:endParaRPr lang="en-US" sz="1600" dirty="0"/>
          </a:p>
          <a:p>
            <a:pPr indent="0" marL="0">
              <a:lnSpc>
                <a:spcPts val="2000"/>
              </a:lnSpc>
              <a:buNone/>
            </a:pPr>
            <a:endParaRPr lang="en-US" sz="1600" dirty="0"/>
          </a:p>
          <a:p>
            <a:pPr indent="0" marL="0">
              <a:lnSpc>
                <a:spcPts val="2000"/>
              </a:lnSpc>
              <a:buNone/>
            </a:pPr>
            <a:r>
              <a:rPr lang="en-US" sz="1600" dirty="0">
                <a:solidFill>
                  <a:srgbClr val="1A1A1A"/>
                </a:solidFill>
              </a:rPr>
              <a:t>Success Criteria:</a:t>
            </a:r>
            <a:endParaRPr lang="en-US" sz="1600" dirty="0"/>
          </a:p>
          <a:p>
            <a:pPr indent="0" marL="0">
              <a:lnSpc>
                <a:spcPts val="2000"/>
              </a:lnSpc>
              <a:buNone/>
            </a:pPr>
            <a:r>
              <a:rPr lang="en-US" sz="1600" dirty="0">
                <a:solidFill>
                  <a:srgbClr val="1A1A1A"/>
                </a:solidFill>
              </a:rPr>
              <a:t>70% sell-through in 3 months</a:t>
            </a:r>
            <a:endParaRPr lang="en-US" sz="1600" dirty="0"/>
          </a:p>
          <a:p>
            <a:pPr indent="0" marL="0">
              <a:lnSpc>
                <a:spcPts val="2000"/>
              </a:lnSpc>
              <a:buNone/>
            </a:pPr>
            <a:endParaRPr lang="en-US" sz="1600" dirty="0"/>
          </a:p>
          <a:p>
            <a:pPr indent="0" marL="0">
              <a:lnSpc>
                <a:spcPts val="2000"/>
              </a:lnSpc>
              <a:buNone/>
            </a:pPr>
            <a:r>
              <a:rPr lang="en-US" sz="1600" dirty="0">
                <a:solidFill>
                  <a:srgbClr val="1A1A1A"/>
                </a:solidFill>
              </a:rPr>
              <a:t>Investment: $30-50K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Gate 5: Scale &amp; Sustain</a:t>
            </a:r>
            <a:endParaRPr lang="en-US" sz="3600" dirty="0"/>
          </a:p>
        </p:txBody>
      </p:sp>
      <p:sp>
        <p:nvSpPr>
          <p:cNvPr id="4" name="Text 2"/>
          <p:cNvSpPr/>
          <p:nvPr/>
        </p:nvSpPr>
        <p:spPr>
          <a:xfrm>
            <a:off x="640080" y="1005840"/>
            <a:ext cx="7863840" cy="228600"/>
          </a:xfrm>
          <a:prstGeom prst="rect">
            <a:avLst/>
          </a:prstGeom>
          <a:noFill/>
          <a:ln/>
        </p:spPr>
        <p:txBody>
          <a:bodyPr wrap="square" rtlCol="0" anchor="ctr"/>
          <a:lstStyle/>
          <a:p>
            <a:pPr indent="0" marL="0">
              <a:buNone/>
            </a:pPr>
            <a:r>
              <a:rPr lang="en-US" sz="1800" b="1" dirty="0">
                <a:solidFill>
                  <a:srgbClr val="003366"/>
                </a:solidFill>
              </a:rPr>
              <a:t>📱 Macro-Influencer Partnerships</a:t>
            </a:r>
            <a:endParaRPr lang="en-US" sz="1800" dirty="0"/>
          </a:p>
        </p:txBody>
      </p:sp>
      <p:sp>
        <p:nvSpPr>
          <p:cNvPr id="5" name="Text 3"/>
          <p:cNvSpPr/>
          <p:nvPr/>
        </p:nvSpPr>
        <p:spPr>
          <a:xfrm>
            <a:off x="640080" y="1252728"/>
            <a:ext cx="7863840" cy="182880"/>
          </a:xfrm>
          <a:prstGeom prst="rect">
            <a:avLst/>
          </a:prstGeom>
          <a:noFill/>
          <a:ln/>
        </p:spPr>
        <p:txBody>
          <a:bodyPr wrap="square" rtlCol="0" anchor="ctr"/>
          <a:lstStyle/>
          <a:p>
            <a:pPr indent="0" marL="0">
              <a:buNone/>
            </a:pPr>
            <a:r>
              <a:rPr lang="en-US" sz="1400" dirty="0">
                <a:solidFill>
                  <a:srgbClr val="1A1A1A"/>
                </a:solidFill>
              </a:rPr>
              <a:t>Expand to 1M+ follower beauty influencers</a:t>
            </a:r>
            <a:endParaRPr lang="en-US" sz="1400" dirty="0"/>
          </a:p>
        </p:txBody>
      </p:sp>
      <p:sp>
        <p:nvSpPr>
          <p:cNvPr id="6" name="Text 4"/>
          <p:cNvSpPr/>
          <p:nvPr/>
        </p:nvSpPr>
        <p:spPr>
          <a:xfrm>
            <a:off x="640080" y="1554480"/>
            <a:ext cx="7863840" cy="228600"/>
          </a:xfrm>
          <a:prstGeom prst="rect">
            <a:avLst/>
          </a:prstGeom>
          <a:noFill/>
          <a:ln/>
        </p:spPr>
        <p:txBody>
          <a:bodyPr wrap="square" rtlCol="0" anchor="ctr"/>
          <a:lstStyle/>
          <a:p>
            <a:pPr indent="0" marL="0">
              <a:buNone/>
            </a:pPr>
            <a:r>
              <a:rPr lang="en-US" sz="1800" b="1" dirty="0">
                <a:solidFill>
                  <a:srgbClr val="003366"/>
                </a:solidFill>
              </a:rPr>
              <a:t>🌏 Multi-Market Expansion</a:t>
            </a:r>
            <a:endParaRPr lang="en-US" sz="1800" dirty="0"/>
          </a:p>
        </p:txBody>
      </p:sp>
      <p:sp>
        <p:nvSpPr>
          <p:cNvPr id="7" name="Text 5"/>
          <p:cNvSpPr/>
          <p:nvPr/>
        </p:nvSpPr>
        <p:spPr>
          <a:xfrm>
            <a:off x="640080" y="1801368"/>
            <a:ext cx="7863840" cy="182880"/>
          </a:xfrm>
          <a:prstGeom prst="rect">
            <a:avLst/>
          </a:prstGeom>
          <a:noFill/>
          <a:ln/>
        </p:spPr>
        <p:txBody>
          <a:bodyPr wrap="square" rtlCol="0" anchor="ctr"/>
          <a:lstStyle/>
          <a:p>
            <a:pPr indent="0" marL="0">
              <a:buNone/>
            </a:pPr>
            <a:r>
              <a:rPr lang="en-US" sz="1400" dirty="0">
                <a:solidFill>
                  <a:srgbClr val="1A1A1A"/>
                </a:solidFill>
              </a:rPr>
              <a:t>Singapore, Malaysia, Hong Kong, Taiwan</a:t>
            </a:r>
            <a:endParaRPr lang="en-US" sz="1400" dirty="0"/>
          </a:p>
        </p:txBody>
      </p:sp>
      <p:sp>
        <p:nvSpPr>
          <p:cNvPr id="8" name="Text 6"/>
          <p:cNvSpPr/>
          <p:nvPr/>
        </p:nvSpPr>
        <p:spPr>
          <a:xfrm>
            <a:off x="640080" y="2103120"/>
            <a:ext cx="7863840" cy="228600"/>
          </a:xfrm>
          <a:prstGeom prst="rect">
            <a:avLst/>
          </a:prstGeom>
          <a:noFill/>
          <a:ln/>
        </p:spPr>
        <p:txBody>
          <a:bodyPr wrap="square" rtlCol="0" anchor="ctr"/>
          <a:lstStyle/>
          <a:p>
            <a:pPr indent="0" marL="0">
              <a:buNone/>
            </a:pPr>
            <a:r>
              <a:rPr lang="en-US" sz="1800" b="1" dirty="0">
                <a:solidFill>
                  <a:srgbClr val="003366"/>
                </a:solidFill>
              </a:rPr>
              <a:t>🏪 Premium Retail Partnerships</a:t>
            </a:r>
            <a:endParaRPr lang="en-US" sz="1800" dirty="0"/>
          </a:p>
        </p:txBody>
      </p:sp>
      <p:sp>
        <p:nvSpPr>
          <p:cNvPr id="9" name="Text 7"/>
          <p:cNvSpPr/>
          <p:nvPr/>
        </p:nvSpPr>
        <p:spPr>
          <a:xfrm>
            <a:off x="640080" y="2350008"/>
            <a:ext cx="7863840" cy="182880"/>
          </a:xfrm>
          <a:prstGeom prst="rect">
            <a:avLst/>
          </a:prstGeom>
          <a:noFill/>
          <a:ln/>
        </p:spPr>
        <p:txBody>
          <a:bodyPr wrap="square" rtlCol="0" anchor="ctr"/>
          <a:lstStyle/>
          <a:p>
            <a:pPr indent="0" marL="0">
              <a:buNone/>
            </a:pPr>
            <a:r>
              <a:rPr lang="en-US" sz="1400" dirty="0">
                <a:solidFill>
                  <a:srgbClr val="1A1A1A"/>
                </a:solidFill>
              </a:rPr>
              <a:t>Sephora, Watsons, boutique retailers</a:t>
            </a:r>
            <a:endParaRPr lang="en-US" sz="1400" dirty="0"/>
          </a:p>
        </p:txBody>
      </p:sp>
      <p:sp>
        <p:nvSpPr>
          <p:cNvPr id="10" name="Shape 8"/>
          <p:cNvSpPr/>
          <p:nvPr/>
        </p:nvSpPr>
        <p:spPr>
          <a:xfrm>
            <a:off x="2286000" y="2743200"/>
            <a:ext cx="4572000" cy="822960"/>
          </a:xfrm>
          <a:prstGeom prst="rect">
            <a:avLst/>
          </a:prstGeom>
          <a:solidFill>
            <a:srgbClr val="003366"/>
          </a:solidFill>
          <a:ln/>
        </p:spPr>
      </p:sp>
      <p:sp>
        <p:nvSpPr>
          <p:cNvPr id="11" name="Text 9"/>
          <p:cNvSpPr/>
          <p:nvPr/>
        </p:nvSpPr>
        <p:spPr>
          <a:xfrm>
            <a:off x="2286000" y="2834640"/>
            <a:ext cx="4572000" cy="274320"/>
          </a:xfrm>
          <a:prstGeom prst="rect">
            <a:avLst/>
          </a:prstGeom>
          <a:noFill/>
          <a:ln/>
        </p:spPr>
        <p:txBody>
          <a:bodyPr wrap="square" rtlCol="0" anchor="ctr"/>
          <a:lstStyle/>
          <a:p>
            <a:pPr algn="ctr" indent="0" marL="0">
              <a:buNone/>
            </a:pPr>
            <a:r>
              <a:rPr lang="en-US" sz="2800" b="1" dirty="0">
                <a:solidFill>
                  <a:srgbClr val="D4AF37"/>
                </a:solidFill>
              </a:rPr>
              <a:t>Revenue Target: 20-30%</a:t>
            </a:r>
            <a:endParaRPr lang="en-US" sz="2800" dirty="0"/>
          </a:p>
        </p:txBody>
      </p:sp>
      <p:sp>
        <p:nvSpPr>
          <p:cNvPr id="12" name="Text 10"/>
          <p:cNvSpPr/>
          <p:nvPr/>
        </p:nvSpPr>
        <p:spPr>
          <a:xfrm>
            <a:off x="2286000" y="3154680"/>
            <a:ext cx="4572000" cy="228600"/>
          </a:xfrm>
          <a:prstGeom prst="rect">
            <a:avLst/>
          </a:prstGeom>
          <a:noFill/>
          <a:ln/>
        </p:spPr>
        <p:txBody>
          <a:bodyPr wrap="square" rtlCol="0" anchor="ctr"/>
          <a:lstStyle/>
          <a:p>
            <a:pPr algn="ctr" indent="0" marL="0">
              <a:buNone/>
            </a:pPr>
            <a:r>
              <a:rPr lang="en-US" sz="1400" dirty="0">
                <a:solidFill>
                  <a:srgbClr val="FFFFFF"/>
                </a:solidFill>
              </a:rPr>
              <a:t>of total revenue from premium beauty line</a:t>
            </a:r>
            <a:endParaRPr lang="en-US" sz="1400" dirty="0"/>
          </a:p>
        </p:txBody>
      </p:sp>
      <p:sp>
        <p:nvSpPr>
          <p:cNvPr id="13" name="Text 11"/>
          <p:cNvSpPr/>
          <p:nvPr/>
        </p:nvSpPr>
        <p:spPr>
          <a:xfrm>
            <a:off x="2286000" y="3749040"/>
            <a:ext cx="4572000" cy="274320"/>
          </a:xfrm>
          <a:prstGeom prst="rect">
            <a:avLst/>
          </a:prstGeom>
          <a:noFill/>
          <a:ln/>
        </p:spPr>
        <p:txBody>
          <a:bodyPr wrap="square" rtlCol="0" anchor="ctr"/>
          <a:lstStyle/>
          <a:p>
            <a:pPr algn="ctr" indent="0" marL="0">
              <a:buNone/>
            </a:pPr>
            <a:r>
              <a:rPr lang="en-US" sz="1800" b="1" dirty="0">
                <a:solidFill>
                  <a:srgbClr val="D4AF37"/>
                </a:solidFill>
              </a:rPr>
              <a:t>Annual Investment: $50-100K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Messaging Framework</a:t>
            </a:r>
            <a:endParaRPr lang="en-US" sz="3600" dirty="0"/>
          </a:p>
        </p:txBody>
      </p:sp>
      <p:sp>
        <p:nvSpPr>
          <p:cNvPr id="4" name="Shape 2"/>
          <p:cNvSpPr/>
          <p:nvPr/>
        </p:nvSpPr>
        <p:spPr>
          <a:xfrm>
            <a:off x="914400" y="914400"/>
            <a:ext cx="7315200" cy="731520"/>
          </a:xfrm>
          <a:prstGeom prst="rect">
            <a:avLst/>
          </a:prstGeom>
          <a:solidFill>
            <a:srgbClr val="003366"/>
          </a:solidFill>
          <a:ln w="38100">
            <a:solidFill>
              <a:srgbClr val="D4AF37"/>
            </a:solidFill>
            <a:prstDash val="solid"/>
          </a:ln>
        </p:spPr>
      </p:sp>
      <p:sp>
        <p:nvSpPr>
          <p:cNvPr id="5" name="Text 3"/>
          <p:cNvSpPr/>
          <p:nvPr/>
        </p:nvSpPr>
        <p:spPr>
          <a:xfrm>
            <a:off x="914400" y="960120"/>
            <a:ext cx="7315200" cy="182880"/>
          </a:xfrm>
          <a:prstGeom prst="rect">
            <a:avLst/>
          </a:prstGeom>
          <a:noFill/>
          <a:ln/>
        </p:spPr>
        <p:txBody>
          <a:bodyPr wrap="square" rtlCol="0" anchor="ctr"/>
          <a:lstStyle/>
          <a:p>
            <a:pPr algn="ctr" indent="0" marL="0">
              <a:buNone/>
            </a:pPr>
            <a:r>
              <a:rPr lang="en-US" sz="1400" dirty="0">
                <a:solidFill>
                  <a:srgbClr val="7FCDCD"/>
                </a:solidFill>
              </a:rPr>
              <a:t>CORE MESSAGE</a:t>
            </a:r>
            <a:endParaRPr lang="en-US" sz="1400" dirty="0"/>
          </a:p>
        </p:txBody>
      </p:sp>
      <p:sp>
        <p:nvSpPr>
          <p:cNvPr id="6" name="Text 4"/>
          <p:cNvSpPr/>
          <p:nvPr/>
        </p:nvSpPr>
        <p:spPr>
          <a:xfrm>
            <a:off x="914400" y="1188720"/>
            <a:ext cx="7315200" cy="411480"/>
          </a:xfrm>
          <a:prstGeom prst="rect">
            <a:avLst/>
          </a:prstGeom>
          <a:noFill/>
          <a:ln/>
        </p:spPr>
        <p:txBody>
          <a:bodyPr wrap="square" rtlCol="0" anchor="ctr"/>
          <a:lstStyle/>
          <a:p>
            <a:pPr algn="ctr" indent="0" marL="0">
              <a:buNone/>
            </a:pPr>
            <a:r>
              <a:rPr lang="en-US" sz="2600" b="1" dirty="0">
                <a:solidFill>
                  <a:srgbClr val="D4AF37"/>
                </a:solidFill>
              </a:rPr>
              <a:t>"Beauty from the 40°S</a:t>
            </a:r>
            <a:endParaRPr lang="en-US" sz="2600" dirty="0"/>
          </a:p>
          <a:p>
            <a:pPr algn="ctr" indent="0" marL="0">
              <a:buNone/>
            </a:pPr>
            <a:r>
              <a:rPr lang="en-US" sz="2600" b="1" dirty="0">
                <a:solidFill>
                  <a:srgbClr val="D4AF37"/>
                </a:solidFill>
              </a:rPr>
              <a:t>Southern Ocean Reserve"</a:t>
            </a:r>
            <a:endParaRPr lang="en-US" sz="2600" dirty="0"/>
          </a:p>
        </p:txBody>
      </p:sp>
      <p:sp>
        <p:nvSpPr>
          <p:cNvPr id="7" name="Shape 5"/>
          <p:cNvSpPr/>
          <p:nvPr/>
        </p:nvSpPr>
        <p:spPr>
          <a:xfrm>
            <a:off x="457200" y="1828800"/>
            <a:ext cx="3886200" cy="731520"/>
          </a:xfrm>
          <a:prstGeom prst="rect">
            <a:avLst/>
          </a:prstGeom>
          <a:solidFill>
            <a:srgbClr val="FFFFFF"/>
          </a:solidFill>
          <a:ln w="25400">
            <a:solidFill>
              <a:srgbClr val="7FCDCD"/>
            </a:solidFill>
            <a:prstDash val="solid"/>
          </a:ln>
        </p:spPr>
      </p:sp>
      <p:sp>
        <p:nvSpPr>
          <p:cNvPr id="8" name="Text 6"/>
          <p:cNvSpPr/>
          <p:nvPr/>
        </p:nvSpPr>
        <p:spPr>
          <a:xfrm>
            <a:off x="640080" y="1920240"/>
            <a:ext cx="3520440" cy="228600"/>
          </a:xfrm>
          <a:prstGeom prst="rect">
            <a:avLst/>
          </a:prstGeom>
          <a:noFill/>
          <a:ln/>
        </p:spPr>
        <p:txBody>
          <a:bodyPr wrap="square" rtlCol="0" anchor="ctr"/>
          <a:lstStyle/>
          <a:p>
            <a:pPr indent="0" marL="0">
              <a:buNone/>
            </a:pPr>
            <a:r>
              <a:rPr lang="en-US" sz="1800" b="1" dirty="0">
                <a:solidFill>
                  <a:srgbClr val="003366"/>
                </a:solidFill>
              </a:rPr>
              <a:t>🌊 Purity</a:t>
            </a:r>
            <a:endParaRPr lang="en-US" sz="1800" dirty="0"/>
          </a:p>
        </p:txBody>
      </p:sp>
      <p:sp>
        <p:nvSpPr>
          <p:cNvPr id="9" name="Text 7"/>
          <p:cNvSpPr/>
          <p:nvPr/>
        </p:nvSpPr>
        <p:spPr>
          <a:xfrm>
            <a:off x="640080" y="2176272"/>
            <a:ext cx="3520440" cy="320040"/>
          </a:xfrm>
          <a:prstGeom prst="rect">
            <a:avLst/>
          </a:prstGeom>
          <a:noFill/>
          <a:ln/>
        </p:spPr>
        <p:txBody>
          <a:bodyPr wrap="square" rtlCol="0" anchor="ctr"/>
          <a:lstStyle/>
          <a:p>
            <a:pPr indent="0" marL="0">
              <a:buNone/>
            </a:pPr>
            <a:r>
              <a:rPr lang="en-US" sz="1300" dirty="0">
                <a:solidFill>
                  <a:srgbClr val="1A1A1A"/>
                </a:solidFill>
              </a:rPr>
              <a:t>Zero hormones, pristine Southern Ocean, UNESCO reserve</a:t>
            </a:r>
            <a:endParaRPr lang="en-US" sz="1300" dirty="0"/>
          </a:p>
        </p:txBody>
      </p:sp>
      <p:sp>
        <p:nvSpPr>
          <p:cNvPr id="10" name="Shape 8"/>
          <p:cNvSpPr/>
          <p:nvPr/>
        </p:nvSpPr>
        <p:spPr>
          <a:xfrm>
            <a:off x="4572000" y="1828800"/>
            <a:ext cx="3886200" cy="731520"/>
          </a:xfrm>
          <a:prstGeom prst="rect">
            <a:avLst/>
          </a:prstGeom>
          <a:solidFill>
            <a:srgbClr val="FFFFFF"/>
          </a:solidFill>
          <a:ln w="25400">
            <a:solidFill>
              <a:srgbClr val="7FCDCD"/>
            </a:solidFill>
            <a:prstDash val="solid"/>
          </a:ln>
        </p:spPr>
      </p:sp>
      <p:sp>
        <p:nvSpPr>
          <p:cNvPr id="11" name="Text 9"/>
          <p:cNvSpPr/>
          <p:nvPr/>
        </p:nvSpPr>
        <p:spPr>
          <a:xfrm>
            <a:off x="4754880" y="1920240"/>
            <a:ext cx="3520440" cy="228600"/>
          </a:xfrm>
          <a:prstGeom prst="rect">
            <a:avLst/>
          </a:prstGeom>
          <a:noFill/>
          <a:ln/>
        </p:spPr>
        <p:txBody>
          <a:bodyPr wrap="square" rtlCol="0" anchor="ctr"/>
          <a:lstStyle/>
          <a:p>
            <a:pPr indent="0" marL="0">
              <a:buNone/>
            </a:pPr>
            <a:r>
              <a:rPr lang="en-US" sz="1800" b="1" dirty="0">
                <a:solidFill>
                  <a:srgbClr val="003366"/>
                </a:solidFill>
              </a:rPr>
              <a:t>💪 Potency</a:t>
            </a:r>
            <a:endParaRPr lang="en-US" sz="1800" dirty="0"/>
          </a:p>
        </p:txBody>
      </p:sp>
      <p:sp>
        <p:nvSpPr>
          <p:cNvPr id="12" name="Text 10"/>
          <p:cNvSpPr/>
          <p:nvPr/>
        </p:nvSpPr>
        <p:spPr>
          <a:xfrm>
            <a:off x="4754880" y="2176272"/>
            <a:ext cx="3520440" cy="320040"/>
          </a:xfrm>
          <a:prstGeom prst="rect">
            <a:avLst/>
          </a:prstGeom>
          <a:noFill/>
          <a:ln/>
        </p:spPr>
        <p:txBody>
          <a:bodyPr wrap="square" rtlCol="0" anchor="ctr"/>
          <a:lstStyle/>
          <a:p>
            <a:pPr indent="0" marL="0">
              <a:buNone/>
            </a:pPr>
            <a:r>
              <a:rPr lang="en-US" sz="1300" dirty="0">
                <a:solidFill>
                  <a:srgbClr val="1A1A1A"/>
                </a:solidFill>
              </a:rPr>
              <a:t>Lab-tested [X%] more collagen, peptides, omega-3s</a:t>
            </a:r>
            <a:endParaRPr lang="en-US" sz="1300" dirty="0"/>
          </a:p>
        </p:txBody>
      </p:sp>
      <p:sp>
        <p:nvSpPr>
          <p:cNvPr id="13" name="Shape 11"/>
          <p:cNvSpPr/>
          <p:nvPr/>
        </p:nvSpPr>
        <p:spPr>
          <a:xfrm>
            <a:off x="457200" y="2743200"/>
            <a:ext cx="3886200" cy="731520"/>
          </a:xfrm>
          <a:prstGeom prst="rect">
            <a:avLst/>
          </a:prstGeom>
          <a:solidFill>
            <a:srgbClr val="FFFFFF"/>
          </a:solidFill>
          <a:ln w="25400">
            <a:solidFill>
              <a:srgbClr val="7FCDCD"/>
            </a:solidFill>
            <a:prstDash val="solid"/>
          </a:ln>
        </p:spPr>
      </p:sp>
      <p:sp>
        <p:nvSpPr>
          <p:cNvPr id="14" name="Text 12"/>
          <p:cNvSpPr/>
          <p:nvPr/>
        </p:nvSpPr>
        <p:spPr>
          <a:xfrm>
            <a:off x="640080" y="2834640"/>
            <a:ext cx="3520440" cy="228600"/>
          </a:xfrm>
          <a:prstGeom prst="rect">
            <a:avLst/>
          </a:prstGeom>
          <a:noFill/>
          <a:ln/>
        </p:spPr>
        <p:txBody>
          <a:bodyPr wrap="square" rtlCol="0" anchor="ctr"/>
          <a:lstStyle/>
          <a:p>
            <a:pPr indent="0" marL="0">
              <a:buNone/>
            </a:pPr>
            <a:r>
              <a:rPr lang="en-US" sz="1800" b="1" dirty="0">
                <a:solidFill>
                  <a:srgbClr val="003366"/>
                </a:solidFill>
              </a:rPr>
              <a:t>🏛️ Provenance</a:t>
            </a:r>
            <a:endParaRPr lang="en-US" sz="1800" dirty="0"/>
          </a:p>
        </p:txBody>
      </p:sp>
      <p:sp>
        <p:nvSpPr>
          <p:cNvPr id="15" name="Text 13"/>
          <p:cNvSpPr/>
          <p:nvPr/>
        </p:nvSpPr>
        <p:spPr>
          <a:xfrm>
            <a:off x="640080" y="3090672"/>
            <a:ext cx="3520440" cy="320040"/>
          </a:xfrm>
          <a:prstGeom prst="rect">
            <a:avLst/>
          </a:prstGeom>
          <a:noFill/>
          <a:ln/>
        </p:spPr>
        <p:txBody>
          <a:bodyPr wrap="square" rtlCol="0" anchor="ctr"/>
          <a:lstStyle/>
          <a:p>
            <a:pPr indent="0" marL="0">
              <a:buNone/>
            </a:pPr>
            <a:r>
              <a:rPr lang="en-US" sz="1300" dirty="0">
                <a:solidFill>
                  <a:srgbClr val="1A1A1A"/>
                </a:solidFill>
              </a:rPr>
              <a:t>56-year heritage, 16 families, EX1191 license</a:t>
            </a:r>
            <a:endParaRPr lang="en-US" sz="1300" dirty="0"/>
          </a:p>
        </p:txBody>
      </p:sp>
      <p:sp>
        <p:nvSpPr>
          <p:cNvPr id="16" name="Shape 14"/>
          <p:cNvSpPr/>
          <p:nvPr/>
        </p:nvSpPr>
        <p:spPr>
          <a:xfrm>
            <a:off x="4572000" y="2743200"/>
            <a:ext cx="3886200" cy="731520"/>
          </a:xfrm>
          <a:prstGeom prst="rect">
            <a:avLst/>
          </a:prstGeom>
          <a:solidFill>
            <a:srgbClr val="FFFFFF"/>
          </a:solidFill>
          <a:ln w="25400">
            <a:solidFill>
              <a:srgbClr val="7FCDCD"/>
            </a:solidFill>
            <a:prstDash val="solid"/>
          </a:ln>
        </p:spPr>
      </p:sp>
      <p:sp>
        <p:nvSpPr>
          <p:cNvPr id="17" name="Text 15"/>
          <p:cNvSpPr/>
          <p:nvPr/>
        </p:nvSpPr>
        <p:spPr>
          <a:xfrm>
            <a:off x="4754880" y="2834640"/>
            <a:ext cx="3520440" cy="228600"/>
          </a:xfrm>
          <a:prstGeom prst="rect">
            <a:avLst/>
          </a:prstGeom>
          <a:noFill/>
          <a:ln/>
        </p:spPr>
        <p:txBody>
          <a:bodyPr wrap="square" rtlCol="0" anchor="ctr"/>
          <a:lstStyle/>
          <a:p>
            <a:pPr indent="0" marL="0">
              <a:buNone/>
            </a:pPr>
            <a:r>
              <a:rPr lang="en-US" sz="1800" b="1" dirty="0">
                <a:solidFill>
                  <a:srgbClr val="003366"/>
                </a:solidFill>
              </a:rPr>
              <a:t>🔬 Proven</a:t>
            </a:r>
            <a:endParaRPr lang="en-US" sz="1800" dirty="0"/>
          </a:p>
        </p:txBody>
      </p:sp>
      <p:sp>
        <p:nvSpPr>
          <p:cNvPr id="18" name="Text 16"/>
          <p:cNvSpPr/>
          <p:nvPr/>
        </p:nvSpPr>
        <p:spPr>
          <a:xfrm>
            <a:off x="4754880" y="3090672"/>
            <a:ext cx="3520440" cy="320040"/>
          </a:xfrm>
          <a:prstGeom prst="rect">
            <a:avLst/>
          </a:prstGeom>
          <a:noFill/>
          <a:ln/>
        </p:spPr>
        <p:txBody>
          <a:bodyPr wrap="square" rtlCol="0" anchor="ctr"/>
          <a:lstStyle/>
          <a:p>
            <a:pPr indent="0" marL="0">
              <a:buNone/>
            </a:pPr>
            <a:r>
              <a:rPr lang="en-US" sz="1300" dirty="0">
                <a:solidFill>
                  <a:srgbClr val="1A1A1A"/>
                </a:solidFill>
              </a:rPr>
              <a:t>Scientific validation of traditional beliefs</a:t>
            </a:r>
            <a:endParaRPr lang="en-US" sz="1300" dirty="0"/>
          </a:p>
        </p:txBody>
      </p:sp>
      <p:sp>
        <p:nvSpPr>
          <p:cNvPr id="19" name="Shape 17"/>
          <p:cNvSpPr/>
          <p:nvPr/>
        </p:nvSpPr>
        <p:spPr>
          <a:xfrm>
            <a:off x="1828800" y="3657600"/>
            <a:ext cx="5486400" cy="548640"/>
          </a:xfrm>
          <a:prstGeom prst="rect">
            <a:avLst/>
          </a:prstGeom>
          <a:solidFill>
            <a:srgbClr val="D4AF37"/>
          </a:solidFill>
          <a:ln/>
        </p:spPr>
      </p:sp>
      <p:sp>
        <p:nvSpPr>
          <p:cNvPr id="20" name="Text 18"/>
          <p:cNvSpPr/>
          <p:nvPr/>
        </p:nvSpPr>
        <p:spPr>
          <a:xfrm>
            <a:off x="1828800" y="3749040"/>
            <a:ext cx="5486400" cy="365760"/>
          </a:xfrm>
          <a:prstGeom prst="rect">
            <a:avLst/>
          </a:prstGeom>
          <a:noFill/>
          <a:ln/>
        </p:spPr>
        <p:txBody>
          <a:bodyPr wrap="square" rtlCol="0" anchor="ctr"/>
          <a:lstStyle/>
          <a:p>
            <a:pPr algn="ctr" indent="0" marL="0">
              <a:buNone/>
            </a:pPr>
            <a:r>
              <a:rPr lang="en-US" sz="3200" b="1" dirty="0">
                <a:solidFill>
                  <a:srgbClr val="FFFFFF"/>
                </a:solidFill>
              </a:rPr>
              <a:t>Pure. Wild. Proven.</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Financial Projections</a:t>
            </a:r>
            <a:endParaRPr lang="en-US" sz="3600" dirty="0"/>
          </a:p>
        </p:txBody>
      </p:sp>
      <p:sp>
        <p:nvSpPr>
          <p:cNvPr id="4" name="Shape 2"/>
          <p:cNvSpPr/>
          <p:nvPr/>
        </p:nvSpPr>
        <p:spPr>
          <a:xfrm>
            <a:off x="457200" y="914400"/>
            <a:ext cx="8229600" cy="365760"/>
          </a:xfrm>
          <a:prstGeom prst="rect">
            <a:avLst/>
          </a:prstGeom>
          <a:solidFill>
            <a:srgbClr val="003366"/>
          </a:solidFill>
          <a:ln/>
        </p:spPr>
      </p:sp>
      <p:sp>
        <p:nvSpPr>
          <p:cNvPr id="5" name="Text 3"/>
          <p:cNvSpPr/>
          <p:nvPr/>
        </p:nvSpPr>
        <p:spPr>
          <a:xfrm>
            <a:off x="548640" y="1005840"/>
            <a:ext cx="914400" cy="182880"/>
          </a:xfrm>
          <a:prstGeom prst="rect">
            <a:avLst/>
          </a:prstGeom>
          <a:noFill/>
          <a:ln/>
        </p:spPr>
        <p:txBody>
          <a:bodyPr wrap="square" rtlCol="0" anchor="ctr"/>
          <a:lstStyle/>
          <a:p>
            <a:pPr indent="0" marL="0">
              <a:buNone/>
            </a:pPr>
            <a:r>
              <a:rPr lang="en-US" sz="1400" b="1" dirty="0">
                <a:solidFill>
                  <a:srgbClr val="FFFFFF"/>
                </a:solidFill>
              </a:rPr>
              <a:t>Year</a:t>
            </a:r>
            <a:endParaRPr lang="en-US" sz="1400" dirty="0"/>
          </a:p>
        </p:txBody>
      </p:sp>
      <p:sp>
        <p:nvSpPr>
          <p:cNvPr id="6" name="Text 4"/>
          <p:cNvSpPr/>
          <p:nvPr/>
        </p:nvSpPr>
        <p:spPr>
          <a:xfrm>
            <a:off x="1828800" y="1005840"/>
            <a:ext cx="2286000" cy="182880"/>
          </a:xfrm>
          <a:prstGeom prst="rect">
            <a:avLst/>
          </a:prstGeom>
          <a:noFill/>
          <a:ln/>
        </p:spPr>
        <p:txBody>
          <a:bodyPr wrap="square" rtlCol="0" anchor="ctr"/>
          <a:lstStyle/>
          <a:p>
            <a:pPr indent="0" marL="0">
              <a:buNone/>
            </a:pPr>
            <a:r>
              <a:rPr lang="en-US" sz="1400" b="1" dirty="0">
                <a:solidFill>
                  <a:srgbClr val="FFFFFF"/>
                </a:solidFill>
              </a:rPr>
              <a:t>Revenue</a:t>
            </a:r>
            <a:endParaRPr lang="en-US" sz="1400" dirty="0"/>
          </a:p>
        </p:txBody>
      </p:sp>
      <p:sp>
        <p:nvSpPr>
          <p:cNvPr id="7" name="Text 5"/>
          <p:cNvSpPr/>
          <p:nvPr/>
        </p:nvSpPr>
        <p:spPr>
          <a:xfrm>
            <a:off x="4389120" y="1005840"/>
            <a:ext cx="1828800" cy="182880"/>
          </a:xfrm>
          <a:prstGeom prst="rect">
            <a:avLst/>
          </a:prstGeom>
          <a:noFill/>
          <a:ln/>
        </p:spPr>
        <p:txBody>
          <a:bodyPr wrap="square" rtlCol="0" anchor="ctr"/>
          <a:lstStyle/>
          <a:p>
            <a:pPr indent="0" marL="0">
              <a:buNone/>
            </a:pPr>
            <a:r>
              <a:rPr lang="en-US" sz="1400" b="1" dirty="0">
                <a:solidFill>
                  <a:srgbClr val="FFFFFF"/>
                </a:solidFill>
              </a:rPr>
              <a:t>Units Sold</a:t>
            </a:r>
            <a:endParaRPr lang="en-US" sz="1400" dirty="0"/>
          </a:p>
        </p:txBody>
      </p:sp>
      <p:sp>
        <p:nvSpPr>
          <p:cNvPr id="8" name="Text 6"/>
          <p:cNvSpPr/>
          <p:nvPr/>
        </p:nvSpPr>
        <p:spPr>
          <a:xfrm>
            <a:off x="6492240" y="1005840"/>
            <a:ext cx="1828800" cy="182880"/>
          </a:xfrm>
          <a:prstGeom prst="rect">
            <a:avLst/>
          </a:prstGeom>
          <a:noFill/>
          <a:ln/>
        </p:spPr>
        <p:txBody>
          <a:bodyPr wrap="square" rtlCol="0" anchor="ctr"/>
          <a:lstStyle/>
          <a:p>
            <a:pPr indent="0" marL="0">
              <a:buNone/>
            </a:pPr>
            <a:r>
              <a:rPr lang="en-US" sz="1400" b="1" dirty="0">
                <a:solidFill>
                  <a:srgbClr val="FFFFFF"/>
                </a:solidFill>
              </a:rPr>
              <a:t>Gross Margin</a:t>
            </a:r>
            <a:endParaRPr lang="en-US" sz="1400" dirty="0"/>
          </a:p>
        </p:txBody>
      </p:sp>
      <p:sp>
        <p:nvSpPr>
          <p:cNvPr id="9" name="Text 7"/>
          <p:cNvSpPr/>
          <p:nvPr/>
        </p:nvSpPr>
        <p:spPr>
          <a:xfrm>
            <a:off x="548640" y="1371600"/>
            <a:ext cx="914400" cy="274320"/>
          </a:xfrm>
          <a:prstGeom prst="rect">
            <a:avLst/>
          </a:prstGeom>
          <a:noFill/>
          <a:ln/>
        </p:spPr>
        <p:txBody>
          <a:bodyPr wrap="square" rtlCol="0" anchor="ctr"/>
          <a:lstStyle/>
          <a:p>
            <a:pPr indent="0" marL="0">
              <a:buNone/>
            </a:pPr>
            <a:r>
              <a:rPr lang="en-US" sz="1400" b="1" dirty="0">
                <a:solidFill>
                  <a:srgbClr val="003366"/>
                </a:solidFill>
              </a:rPr>
              <a:t>Year 1</a:t>
            </a:r>
            <a:endParaRPr lang="en-US" sz="1400" dirty="0"/>
          </a:p>
        </p:txBody>
      </p:sp>
      <p:sp>
        <p:nvSpPr>
          <p:cNvPr id="10" name="Text 8"/>
          <p:cNvSpPr/>
          <p:nvPr/>
        </p:nvSpPr>
        <p:spPr>
          <a:xfrm>
            <a:off x="1828800" y="1371600"/>
            <a:ext cx="2286000" cy="274320"/>
          </a:xfrm>
          <a:prstGeom prst="rect">
            <a:avLst/>
          </a:prstGeom>
          <a:noFill/>
          <a:ln/>
        </p:spPr>
        <p:txBody>
          <a:bodyPr wrap="square" rtlCol="0" anchor="ctr"/>
          <a:lstStyle/>
          <a:p>
            <a:pPr indent="0" marL="0">
              <a:buNone/>
            </a:pPr>
            <a:r>
              <a:rPr lang="en-US" sz="1800" b="1" dirty="0">
                <a:solidFill>
                  <a:srgbClr val="28A745"/>
                </a:solidFill>
              </a:rPr>
              <a:t>$1.2-1.8M</a:t>
            </a:r>
            <a:endParaRPr lang="en-US" sz="1800" dirty="0"/>
          </a:p>
        </p:txBody>
      </p:sp>
      <p:sp>
        <p:nvSpPr>
          <p:cNvPr id="11" name="Text 9"/>
          <p:cNvSpPr/>
          <p:nvPr/>
        </p:nvSpPr>
        <p:spPr>
          <a:xfrm>
            <a:off x="4389120" y="1371600"/>
            <a:ext cx="1828800" cy="274320"/>
          </a:xfrm>
          <a:prstGeom prst="rect">
            <a:avLst/>
          </a:prstGeom>
          <a:noFill/>
          <a:ln/>
        </p:spPr>
        <p:txBody>
          <a:bodyPr wrap="square" rtlCol="0" anchor="ctr"/>
          <a:lstStyle/>
          <a:p>
            <a:pPr indent="0" marL="0">
              <a:buNone/>
            </a:pPr>
            <a:r>
              <a:rPr lang="en-US" sz="1400" dirty="0">
                <a:solidFill>
                  <a:srgbClr val="1A1A1A"/>
                </a:solidFill>
              </a:rPr>
              <a:t>20-30K units</a:t>
            </a:r>
            <a:endParaRPr lang="en-US" sz="1400" dirty="0"/>
          </a:p>
        </p:txBody>
      </p:sp>
      <p:sp>
        <p:nvSpPr>
          <p:cNvPr id="12" name="Text 10"/>
          <p:cNvSpPr/>
          <p:nvPr/>
        </p:nvSpPr>
        <p:spPr>
          <a:xfrm>
            <a:off x="6492240" y="1371600"/>
            <a:ext cx="1828800" cy="274320"/>
          </a:xfrm>
          <a:prstGeom prst="rect">
            <a:avLst/>
          </a:prstGeom>
          <a:noFill/>
          <a:ln/>
        </p:spPr>
        <p:txBody>
          <a:bodyPr wrap="square" rtlCol="0" anchor="ctr"/>
          <a:lstStyle/>
          <a:p>
            <a:pPr indent="0" marL="0">
              <a:buNone/>
            </a:pPr>
            <a:r>
              <a:rPr lang="en-US" sz="1400" dirty="0">
                <a:solidFill>
                  <a:srgbClr val="1A1A1A"/>
                </a:solidFill>
              </a:rPr>
              <a:t>60%</a:t>
            </a:r>
            <a:endParaRPr lang="en-US" sz="1400" dirty="0"/>
          </a:p>
        </p:txBody>
      </p:sp>
      <p:sp>
        <p:nvSpPr>
          <p:cNvPr id="13" name="Text 11"/>
          <p:cNvSpPr/>
          <p:nvPr/>
        </p:nvSpPr>
        <p:spPr>
          <a:xfrm>
            <a:off x="548640" y="1828800"/>
            <a:ext cx="914400" cy="274320"/>
          </a:xfrm>
          <a:prstGeom prst="rect">
            <a:avLst/>
          </a:prstGeom>
          <a:noFill/>
          <a:ln/>
        </p:spPr>
        <p:txBody>
          <a:bodyPr wrap="square" rtlCol="0" anchor="ctr"/>
          <a:lstStyle/>
          <a:p>
            <a:pPr indent="0" marL="0">
              <a:buNone/>
            </a:pPr>
            <a:r>
              <a:rPr lang="en-US" sz="1400" b="1" dirty="0">
                <a:solidFill>
                  <a:srgbClr val="003366"/>
                </a:solidFill>
              </a:rPr>
              <a:t>Year 2</a:t>
            </a:r>
            <a:endParaRPr lang="en-US" sz="1400" dirty="0"/>
          </a:p>
        </p:txBody>
      </p:sp>
      <p:sp>
        <p:nvSpPr>
          <p:cNvPr id="14" name="Text 12"/>
          <p:cNvSpPr/>
          <p:nvPr/>
        </p:nvSpPr>
        <p:spPr>
          <a:xfrm>
            <a:off x="1828800" y="1828800"/>
            <a:ext cx="2286000" cy="274320"/>
          </a:xfrm>
          <a:prstGeom prst="rect">
            <a:avLst/>
          </a:prstGeom>
          <a:noFill/>
          <a:ln/>
        </p:spPr>
        <p:txBody>
          <a:bodyPr wrap="square" rtlCol="0" anchor="ctr"/>
          <a:lstStyle/>
          <a:p>
            <a:pPr indent="0" marL="0">
              <a:buNone/>
            </a:pPr>
            <a:r>
              <a:rPr lang="en-US" sz="1800" b="1" dirty="0">
                <a:solidFill>
                  <a:srgbClr val="28A745"/>
                </a:solidFill>
              </a:rPr>
              <a:t>$3-5M</a:t>
            </a:r>
            <a:endParaRPr lang="en-US" sz="1800" dirty="0"/>
          </a:p>
        </p:txBody>
      </p:sp>
      <p:sp>
        <p:nvSpPr>
          <p:cNvPr id="15" name="Text 13"/>
          <p:cNvSpPr/>
          <p:nvPr/>
        </p:nvSpPr>
        <p:spPr>
          <a:xfrm>
            <a:off x="4389120" y="1828800"/>
            <a:ext cx="1828800" cy="274320"/>
          </a:xfrm>
          <a:prstGeom prst="rect">
            <a:avLst/>
          </a:prstGeom>
          <a:noFill/>
          <a:ln/>
        </p:spPr>
        <p:txBody>
          <a:bodyPr wrap="square" rtlCol="0" anchor="ctr"/>
          <a:lstStyle/>
          <a:p>
            <a:pPr indent="0" marL="0">
              <a:buNone/>
            </a:pPr>
            <a:r>
              <a:rPr lang="en-US" sz="1400" dirty="0">
                <a:solidFill>
                  <a:srgbClr val="1A1A1A"/>
                </a:solidFill>
              </a:rPr>
              <a:t>50-80K units</a:t>
            </a:r>
            <a:endParaRPr lang="en-US" sz="1400" dirty="0"/>
          </a:p>
        </p:txBody>
      </p:sp>
      <p:sp>
        <p:nvSpPr>
          <p:cNvPr id="16" name="Text 14"/>
          <p:cNvSpPr/>
          <p:nvPr/>
        </p:nvSpPr>
        <p:spPr>
          <a:xfrm>
            <a:off x="6492240" y="1828800"/>
            <a:ext cx="1828800" cy="274320"/>
          </a:xfrm>
          <a:prstGeom prst="rect">
            <a:avLst/>
          </a:prstGeom>
          <a:noFill/>
          <a:ln/>
        </p:spPr>
        <p:txBody>
          <a:bodyPr wrap="square" rtlCol="0" anchor="ctr"/>
          <a:lstStyle/>
          <a:p>
            <a:pPr indent="0" marL="0">
              <a:buNone/>
            </a:pPr>
            <a:r>
              <a:rPr lang="en-US" sz="1400" dirty="0">
                <a:solidFill>
                  <a:srgbClr val="1A1A1A"/>
                </a:solidFill>
              </a:rPr>
              <a:t>60%</a:t>
            </a:r>
            <a:endParaRPr lang="en-US" sz="1400" dirty="0"/>
          </a:p>
        </p:txBody>
      </p:sp>
      <p:sp>
        <p:nvSpPr>
          <p:cNvPr id="17" name="Text 15"/>
          <p:cNvSpPr/>
          <p:nvPr/>
        </p:nvSpPr>
        <p:spPr>
          <a:xfrm>
            <a:off x="548640" y="2286000"/>
            <a:ext cx="914400" cy="274320"/>
          </a:xfrm>
          <a:prstGeom prst="rect">
            <a:avLst/>
          </a:prstGeom>
          <a:noFill/>
          <a:ln/>
        </p:spPr>
        <p:txBody>
          <a:bodyPr wrap="square" rtlCol="0" anchor="ctr"/>
          <a:lstStyle/>
          <a:p>
            <a:pPr indent="0" marL="0">
              <a:buNone/>
            </a:pPr>
            <a:r>
              <a:rPr lang="en-US" sz="1400" b="1" dirty="0">
                <a:solidFill>
                  <a:srgbClr val="003366"/>
                </a:solidFill>
              </a:rPr>
              <a:t>Year 3</a:t>
            </a:r>
            <a:endParaRPr lang="en-US" sz="1400" dirty="0"/>
          </a:p>
        </p:txBody>
      </p:sp>
      <p:sp>
        <p:nvSpPr>
          <p:cNvPr id="18" name="Text 16"/>
          <p:cNvSpPr/>
          <p:nvPr/>
        </p:nvSpPr>
        <p:spPr>
          <a:xfrm>
            <a:off x="1828800" y="2286000"/>
            <a:ext cx="2286000" cy="274320"/>
          </a:xfrm>
          <a:prstGeom prst="rect">
            <a:avLst/>
          </a:prstGeom>
          <a:noFill/>
          <a:ln/>
        </p:spPr>
        <p:txBody>
          <a:bodyPr wrap="square" rtlCol="0" anchor="ctr"/>
          <a:lstStyle/>
          <a:p>
            <a:pPr indent="0" marL="0">
              <a:buNone/>
            </a:pPr>
            <a:r>
              <a:rPr lang="en-US" sz="1800" b="1" dirty="0">
                <a:solidFill>
                  <a:srgbClr val="28A745"/>
                </a:solidFill>
              </a:rPr>
              <a:t>$6-10M</a:t>
            </a:r>
            <a:endParaRPr lang="en-US" sz="1800" dirty="0"/>
          </a:p>
        </p:txBody>
      </p:sp>
      <p:sp>
        <p:nvSpPr>
          <p:cNvPr id="19" name="Text 17"/>
          <p:cNvSpPr/>
          <p:nvPr/>
        </p:nvSpPr>
        <p:spPr>
          <a:xfrm>
            <a:off x="4389120" y="2286000"/>
            <a:ext cx="1828800" cy="274320"/>
          </a:xfrm>
          <a:prstGeom prst="rect">
            <a:avLst/>
          </a:prstGeom>
          <a:noFill/>
          <a:ln/>
        </p:spPr>
        <p:txBody>
          <a:bodyPr wrap="square" rtlCol="0" anchor="ctr"/>
          <a:lstStyle/>
          <a:p>
            <a:pPr indent="0" marL="0">
              <a:buNone/>
            </a:pPr>
            <a:r>
              <a:rPr lang="en-US" sz="1400" dirty="0">
                <a:solidFill>
                  <a:srgbClr val="1A1A1A"/>
                </a:solidFill>
              </a:rPr>
              <a:t>100-150K units</a:t>
            </a:r>
            <a:endParaRPr lang="en-US" sz="1400" dirty="0"/>
          </a:p>
        </p:txBody>
      </p:sp>
      <p:sp>
        <p:nvSpPr>
          <p:cNvPr id="20" name="Text 18"/>
          <p:cNvSpPr/>
          <p:nvPr/>
        </p:nvSpPr>
        <p:spPr>
          <a:xfrm>
            <a:off x="6492240" y="2286000"/>
            <a:ext cx="1828800" cy="274320"/>
          </a:xfrm>
          <a:prstGeom prst="rect">
            <a:avLst/>
          </a:prstGeom>
          <a:noFill/>
          <a:ln/>
        </p:spPr>
        <p:txBody>
          <a:bodyPr wrap="square" rtlCol="0" anchor="ctr"/>
          <a:lstStyle/>
          <a:p>
            <a:pPr indent="0" marL="0">
              <a:buNone/>
            </a:pPr>
            <a:r>
              <a:rPr lang="en-US" sz="1400" dirty="0">
                <a:solidFill>
                  <a:srgbClr val="1A1A1A"/>
                </a:solidFill>
              </a:rPr>
              <a:t>60%</a:t>
            </a:r>
            <a:endParaRPr lang="en-US" sz="1400" dirty="0"/>
          </a:p>
        </p:txBody>
      </p:sp>
      <p:sp>
        <p:nvSpPr>
          <p:cNvPr id="21" name="Shape 19"/>
          <p:cNvSpPr/>
          <p:nvPr/>
        </p:nvSpPr>
        <p:spPr>
          <a:xfrm>
            <a:off x="5029200" y="2926080"/>
            <a:ext cx="3657600" cy="1097280"/>
          </a:xfrm>
          <a:prstGeom prst="rect">
            <a:avLst/>
          </a:prstGeom>
          <a:solidFill>
            <a:srgbClr val="D4AF37"/>
          </a:solidFill>
          <a:ln/>
        </p:spPr>
      </p:sp>
      <p:sp>
        <p:nvSpPr>
          <p:cNvPr id="22" name="Text 20"/>
          <p:cNvSpPr/>
          <p:nvPr/>
        </p:nvSpPr>
        <p:spPr>
          <a:xfrm>
            <a:off x="5029200" y="3017520"/>
            <a:ext cx="3657600" cy="228600"/>
          </a:xfrm>
          <a:prstGeom prst="rect">
            <a:avLst/>
          </a:prstGeom>
          <a:noFill/>
          <a:ln/>
        </p:spPr>
        <p:txBody>
          <a:bodyPr wrap="square" rtlCol="0" anchor="ctr"/>
          <a:lstStyle/>
          <a:p>
            <a:pPr algn="ctr" indent="0" marL="0">
              <a:buNone/>
            </a:pPr>
            <a:r>
              <a:rPr lang="en-US" sz="1600" dirty="0">
                <a:solidFill>
                  <a:srgbClr val="FFFFFF"/>
                </a:solidFill>
              </a:rPr>
              <a:t>3-Year ROI</a:t>
            </a:r>
            <a:endParaRPr lang="en-US" sz="1600" dirty="0"/>
          </a:p>
        </p:txBody>
      </p:sp>
      <p:sp>
        <p:nvSpPr>
          <p:cNvPr id="23" name="Text 21"/>
          <p:cNvSpPr/>
          <p:nvPr/>
        </p:nvSpPr>
        <p:spPr>
          <a:xfrm>
            <a:off x="5029200" y="3291840"/>
            <a:ext cx="3657600" cy="457200"/>
          </a:xfrm>
          <a:prstGeom prst="rect">
            <a:avLst/>
          </a:prstGeom>
          <a:noFill/>
          <a:ln/>
        </p:spPr>
        <p:txBody>
          <a:bodyPr wrap="square" rtlCol="0" anchor="ctr"/>
          <a:lstStyle/>
          <a:p>
            <a:pPr algn="ctr" indent="0" marL="0">
              <a:buNone/>
            </a:pPr>
            <a:r>
              <a:rPr lang="en-US" sz="3200" b="1" dirty="0">
                <a:solidFill>
                  <a:srgbClr val="FFFFFF"/>
                </a:solidFill>
              </a:rPr>
              <a:t>1,800-3,173%</a:t>
            </a:r>
            <a:endParaRPr lang="en-US" sz="3200" dirty="0"/>
          </a:p>
        </p:txBody>
      </p:sp>
      <p:sp>
        <p:nvSpPr>
          <p:cNvPr id="24" name="Text 22"/>
          <p:cNvSpPr/>
          <p:nvPr/>
        </p:nvSpPr>
        <p:spPr>
          <a:xfrm>
            <a:off x="5029200" y="3794760"/>
            <a:ext cx="3657600" cy="182880"/>
          </a:xfrm>
          <a:prstGeom prst="rect">
            <a:avLst/>
          </a:prstGeom>
          <a:noFill/>
          <a:ln/>
        </p:spPr>
        <p:txBody>
          <a:bodyPr wrap="square" rtlCol="0" anchor="ctr"/>
          <a:lstStyle/>
          <a:p>
            <a:pPr algn="ctr" indent="0" marL="0">
              <a:buNone/>
            </a:pPr>
            <a:r>
              <a:rPr lang="en-US" sz="1300" dirty="0">
                <a:solidFill>
                  <a:srgbClr val="FFFFFF"/>
                </a:solidFill>
              </a:rPr>
              <a:t>On $110-200K total investment</a:t>
            </a:r>
            <a:endParaRPr lang="en-US" sz="1300" dirty="0"/>
          </a:p>
        </p:txBody>
      </p:sp>
      <p:sp>
        <p:nvSpPr>
          <p:cNvPr id="25" name="Text 23"/>
          <p:cNvSpPr/>
          <p:nvPr/>
        </p:nvSpPr>
        <p:spPr>
          <a:xfrm>
            <a:off x="640080" y="3017520"/>
            <a:ext cx="3657600" cy="731520"/>
          </a:xfrm>
          <a:prstGeom prst="rect">
            <a:avLst/>
          </a:prstGeom>
          <a:noFill/>
          <a:ln/>
        </p:spPr>
        <p:txBody>
          <a:bodyPr wrap="square" rtlCol="0" anchor="ctr"/>
          <a:lstStyle/>
          <a:p>
            <a:pPr indent="0" marL="0">
              <a:buNone/>
            </a:pPr>
            <a:r>
              <a:rPr lang="en-US" sz="1600" b="1" dirty="0">
                <a:solidFill>
                  <a:srgbClr val="003366"/>
                </a:solidFill>
              </a:rPr>
              <a:t>Beauty Line Margin: 60%</a:t>
            </a:r>
            <a:endParaRPr lang="en-US" sz="1600" dirty="0"/>
          </a:p>
          <a:p>
            <a:pPr indent="0" marL="0">
              <a:buNone/>
            </a:pPr>
            <a:r>
              <a:rPr lang="en-US" sz="1600" b="1" dirty="0">
                <a:solidFill>
                  <a:srgbClr val="003366"/>
                </a:solidFill>
              </a:rPr>
              <a:t>vs</a:t>
            </a:r>
            <a:endParaRPr lang="en-US" sz="1600" dirty="0"/>
          </a:p>
          <a:p>
            <a:pPr indent="0" marL="0">
              <a:buNone/>
            </a:pPr>
            <a:r>
              <a:rPr lang="en-US" sz="1600" b="1" dirty="0">
                <a:solidFill>
                  <a:srgbClr val="003366"/>
                </a:solidFill>
              </a:rPr>
              <a:t>Commodity Margin: 30-40%</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Risk Management</a:t>
            </a:r>
            <a:endParaRPr lang="en-US" sz="3600" dirty="0"/>
          </a:p>
        </p:txBody>
      </p:sp>
      <p:sp>
        <p:nvSpPr>
          <p:cNvPr id="4" name="Text 2"/>
          <p:cNvSpPr/>
          <p:nvPr/>
        </p:nvSpPr>
        <p:spPr>
          <a:xfrm>
            <a:off x="640080" y="914400"/>
            <a:ext cx="7863840" cy="274320"/>
          </a:xfrm>
          <a:prstGeom prst="rect">
            <a:avLst/>
          </a:prstGeom>
          <a:noFill/>
          <a:ln/>
        </p:spPr>
        <p:txBody>
          <a:bodyPr wrap="square" rtlCol="0" anchor="ctr"/>
          <a:lstStyle/>
          <a:p>
            <a:pPr indent="0" marL="0">
              <a:buNone/>
            </a:pPr>
            <a:r>
              <a:rPr lang="en-US" sz="2000" b="1" dirty="0">
                <a:solidFill>
                  <a:srgbClr val="003366"/>
                </a:solidFill>
              </a:rPr>
              <a:t>🛡️ Gate System Minimizes Exposure</a:t>
            </a:r>
            <a:endParaRPr lang="en-US" sz="2000" dirty="0"/>
          </a:p>
        </p:txBody>
      </p:sp>
      <p:sp>
        <p:nvSpPr>
          <p:cNvPr id="5" name="Text 3"/>
          <p:cNvSpPr/>
          <p:nvPr/>
        </p:nvSpPr>
        <p:spPr>
          <a:xfrm>
            <a:off x="640080" y="1234440"/>
            <a:ext cx="7863840" cy="365760"/>
          </a:xfrm>
          <a:prstGeom prst="rect">
            <a:avLst/>
          </a:prstGeom>
          <a:noFill/>
          <a:ln/>
        </p:spPr>
        <p:txBody>
          <a:bodyPr wrap="square" rtlCol="0" anchor="ctr"/>
          <a:lstStyle/>
          <a:p>
            <a:pPr indent="0" marL="0">
              <a:buNone/>
            </a:pPr>
            <a:r>
              <a:rPr lang="en-US" sz="1500" dirty="0">
                <a:solidFill>
                  <a:srgbClr val="1A1A1A"/>
                </a:solidFill>
              </a:rPr>
              <a:t>Clear GO/NO-GO decision points mean you never commit to the full strategy upfront. Exit at any stage with controlled, predictable losses.</a:t>
            </a:r>
            <a:endParaRPr lang="en-US" sz="1500" dirty="0"/>
          </a:p>
        </p:txBody>
      </p:sp>
      <p:sp>
        <p:nvSpPr>
          <p:cNvPr id="6" name="Text 4"/>
          <p:cNvSpPr/>
          <p:nvPr/>
        </p:nvSpPr>
        <p:spPr>
          <a:xfrm>
            <a:off x="640080" y="1737360"/>
            <a:ext cx="7863840" cy="228600"/>
          </a:xfrm>
          <a:prstGeom prst="rect">
            <a:avLst/>
          </a:prstGeom>
          <a:noFill/>
          <a:ln/>
        </p:spPr>
        <p:txBody>
          <a:bodyPr wrap="square" rtlCol="0" anchor="ctr"/>
          <a:lstStyle/>
          <a:p>
            <a:pPr indent="0" marL="0">
              <a:buNone/>
            </a:pPr>
            <a:r>
              <a:rPr lang="en-US" sz="1800" b="1" dirty="0">
                <a:solidFill>
                  <a:srgbClr val="003366"/>
                </a:solidFill>
              </a:rPr>
              <a:t>Maximum Risk per Gate:</a:t>
            </a:r>
            <a:endParaRPr lang="en-US" sz="1800" dirty="0"/>
          </a:p>
        </p:txBody>
      </p:sp>
      <p:sp>
        <p:nvSpPr>
          <p:cNvPr id="7" name="Text 5"/>
          <p:cNvSpPr/>
          <p:nvPr/>
        </p:nvSpPr>
        <p:spPr>
          <a:xfrm>
            <a:off x="914400" y="2057400"/>
            <a:ext cx="2286000" cy="274320"/>
          </a:xfrm>
          <a:prstGeom prst="rect">
            <a:avLst/>
          </a:prstGeom>
          <a:noFill/>
          <a:ln/>
        </p:spPr>
        <p:txBody>
          <a:bodyPr wrap="square" rtlCol="0" anchor="ctr"/>
          <a:lstStyle/>
          <a:p>
            <a:pPr indent="0" marL="0">
              <a:buNone/>
            </a:pPr>
            <a:r>
              <a:rPr lang="en-US" sz="1600" b="1" dirty="0">
                <a:solidFill>
                  <a:srgbClr val="D4AF37"/>
                </a:solidFill>
              </a:rPr>
              <a:t>Gate 1: $15-25K</a:t>
            </a:r>
            <a:endParaRPr lang="en-US" sz="1600" dirty="0"/>
          </a:p>
        </p:txBody>
      </p:sp>
      <p:sp>
        <p:nvSpPr>
          <p:cNvPr id="8" name="Text 6"/>
          <p:cNvSpPr/>
          <p:nvPr/>
        </p:nvSpPr>
        <p:spPr>
          <a:xfrm>
            <a:off x="3474720" y="2057400"/>
            <a:ext cx="2286000" cy="274320"/>
          </a:xfrm>
          <a:prstGeom prst="rect">
            <a:avLst/>
          </a:prstGeom>
          <a:noFill/>
          <a:ln/>
        </p:spPr>
        <p:txBody>
          <a:bodyPr wrap="square" rtlCol="0" anchor="ctr"/>
          <a:lstStyle/>
          <a:p>
            <a:pPr indent="0" marL="0">
              <a:buNone/>
            </a:pPr>
            <a:r>
              <a:rPr lang="en-US" sz="1600" b="1" dirty="0">
                <a:solidFill>
                  <a:srgbClr val="D4AF37"/>
                </a:solidFill>
              </a:rPr>
              <a:t>Gate 2: $5-10K</a:t>
            </a:r>
            <a:endParaRPr lang="en-US" sz="1600" dirty="0"/>
          </a:p>
        </p:txBody>
      </p:sp>
      <p:sp>
        <p:nvSpPr>
          <p:cNvPr id="9" name="Text 7"/>
          <p:cNvSpPr/>
          <p:nvPr/>
        </p:nvSpPr>
        <p:spPr>
          <a:xfrm>
            <a:off x="6035040" y="2057400"/>
            <a:ext cx="2286000" cy="274320"/>
          </a:xfrm>
          <a:prstGeom prst="rect">
            <a:avLst/>
          </a:prstGeom>
          <a:noFill/>
          <a:ln/>
        </p:spPr>
        <p:txBody>
          <a:bodyPr wrap="square" rtlCol="0" anchor="ctr"/>
          <a:lstStyle/>
          <a:p>
            <a:pPr indent="0" marL="0">
              <a:buNone/>
            </a:pPr>
            <a:r>
              <a:rPr lang="en-US" sz="1600" b="1" dirty="0">
                <a:solidFill>
                  <a:srgbClr val="D4AF37"/>
                </a:solidFill>
              </a:rPr>
              <a:t>Gate 3: $10-15K</a:t>
            </a:r>
            <a:endParaRPr lang="en-US" sz="1600" dirty="0"/>
          </a:p>
        </p:txBody>
      </p:sp>
      <p:sp>
        <p:nvSpPr>
          <p:cNvPr id="10" name="Text 8"/>
          <p:cNvSpPr/>
          <p:nvPr/>
        </p:nvSpPr>
        <p:spPr>
          <a:xfrm>
            <a:off x="914400" y="2423160"/>
            <a:ext cx="2286000" cy="274320"/>
          </a:xfrm>
          <a:prstGeom prst="rect">
            <a:avLst/>
          </a:prstGeom>
          <a:noFill/>
          <a:ln/>
        </p:spPr>
        <p:txBody>
          <a:bodyPr wrap="square" rtlCol="0" anchor="ctr"/>
          <a:lstStyle/>
          <a:p>
            <a:pPr indent="0" marL="0">
              <a:buNone/>
            </a:pPr>
            <a:r>
              <a:rPr lang="en-US" sz="1600" b="1" dirty="0">
                <a:solidFill>
                  <a:srgbClr val="D4AF37"/>
                </a:solidFill>
              </a:rPr>
              <a:t>Gate 4: $30-50K</a:t>
            </a:r>
            <a:endParaRPr lang="en-US" sz="1600" dirty="0"/>
          </a:p>
        </p:txBody>
      </p:sp>
      <p:sp>
        <p:nvSpPr>
          <p:cNvPr id="11" name="Text 9"/>
          <p:cNvSpPr/>
          <p:nvPr/>
        </p:nvSpPr>
        <p:spPr>
          <a:xfrm>
            <a:off x="3474720" y="2423160"/>
            <a:ext cx="2286000" cy="274320"/>
          </a:xfrm>
          <a:prstGeom prst="rect">
            <a:avLst/>
          </a:prstGeom>
          <a:noFill/>
          <a:ln/>
        </p:spPr>
        <p:txBody>
          <a:bodyPr wrap="square" rtlCol="0" anchor="ctr"/>
          <a:lstStyle/>
          <a:p>
            <a:pPr indent="0" marL="0">
              <a:buNone/>
            </a:pPr>
            <a:r>
              <a:rPr lang="en-US" sz="1600" b="1" dirty="0">
                <a:solidFill>
                  <a:srgbClr val="D4AF37"/>
                </a:solidFill>
              </a:rPr>
              <a:t>Gate 5: $50-100K</a:t>
            </a:r>
            <a:endParaRPr lang="en-US" sz="1600" dirty="0"/>
          </a:p>
        </p:txBody>
      </p:sp>
      <p:sp>
        <p:nvSpPr>
          <p:cNvPr id="12" name="Shape 10"/>
          <p:cNvSpPr/>
          <p:nvPr/>
        </p:nvSpPr>
        <p:spPr>
          <a:xfrm>
            <a:off x="640080" y="2926080"/>
            <a:ext cx="7863840" cy="640080"/>
          </a:xfrm>
          <a:prstGeom prst="rect">
            <a:avLst/>
          </a:prstGeom>
          <a:solidFill>
            <a:srgbClr val="FFF3CD"/>
          </a:solidFill>
          <a:ln w="25400">
            <a:solidFill>
              <a:srgbClr val="FFC107"/>
            </a:solidFill>
            <a:prstDash val="solid"/>
          </a:ln>
        </p:spPr>
      </p:sp>
      <p:sp>
        <p:nvSpPr>
          <p:cNvPr id="13" name="Text 11"/>
          <p:cNvSpPr/>
          <p:nvPr/>
        </p:nvSpPr>
        <p:spPr>
          <a:xfrm>
            <a:off x="822960" y="3017520"/>
            <a:ext cx="7498080" cy="457200"/>
          </a:xfrm>
          <a:prstGeom prst="rect">
            <a:avLst/>
          </a:prstGeom>
          <a:noFill/>
          <a:ln/>
        </p:spPr>
        <p:txBody>
          <a:bodyPr wrap="square" rtlCol="0" anchor="ctr"/>
          <a:lstStyle/>
          <a:p>
            <a:pPr algn="ctr" indent="0" marL="0">
              <a:buNone/>
            </a:pPr>
            <a:r>
              <a:rPr lang="en-US" sz="1500" dirty="0">
                <a:solidFill>
                  <a:srgbClr val="856404"/>
                </a:solidFill>
              </a:rPr>
              <a:t>Exit Anytime with Controlled Losses</a:t>
            </a:r>
            <a:endParaRPr lang="en-US" sz="1500" dirty="0"/>
          </a:p>
          <a:p>
            <a:pPr algn="ctr" indent="0" marL="0">
              <a:buNone/>
            </a:pPr>
            <a:r>
              <a:rPr lang="en-US" sz="1500" dirty="0">
                <a:solidFill>
                  <a:srgbClr val="856404"/>
                </a:solidFill>
              </a:rPr>
              <a:t>If lab results fail: out $25K max. If influencer test fails: out $50K total.</a:t>
            </a:r>
            <a:endParaRPr lang="en-US" sz="1500" dirty="0"/>
          </a:p>
          <a:p>
            <a:pPr algn="ctr" indent="0" marL="0">
              <a:buNone/>
            </a:pPr>
            <a:r>
              <a:rPr lang="en-US" sz="1500" dirty="0">
                <a:solidFill>
                  <a:srgbClr val="856404"/>
                </a:solidFill>
              </a:rPr>
              <a:t>Compare to status quo: losing $6M annually with no plan.</a:t>
            </a:r>
            <a:endParaRPr lang="en-US" sz="1500" dirty="0"/>
          </a:p>
        </p:txBody>
      </p:sp>
      <p:sp>
        <p:nvSpPr>
          <p:cNvPr id="14" name="Shape 12"/>
          <p:cNvSpPr/>
          <p:nvPr/>
        </p:nvSpPr>
        <p:spPr>
          <a:xfrm>
            <a:off x="2286000" y="3749040"/>
            <a:ext cx="4572000" cy="457200"/>
          </a:xfrm>
          <a:prstGeom prst="rect">
            <a:avLst/>
          </a:prstGeom>
          <a:solidFill>
            <a:srgbClr val="003366"/>
          </a:solidFill>
          <a:ln/>
        </p:spPr>
      </p:sp>
      <p:sp>
        <p:nvSpPr>
          <p:cNvPr id="15" name="Text 13"/>
          <p:cNvSpPr/>
          <p:nvPr/>
        </p:nvSpPr>
        <p:spPr>
          <a:xfrm>
            <a:off x="2286000" y="3840480"/>
            <a:ext cx="4572000" cy="274320"/>
          </a:xfrm>
          <a:prstGeom prst="rect">
            <a:avLst/>
          </a:prstGeom>
          <a:noFill/>
          <a:ln/>
        </p:spPr>
        <p:txBody>
          <a:bodyPr wrap="square" rtlCol="0" anchor="ctr"/>
          <a:lstStyle/>
          <a:p>
            <a:pPr algn="ctr" indent="0" marL="0">
              <a:buNone/>
            </a:pPr>
            <a:r>
              <a:rPr lang="en-US" sz="2200" b="1" dirty="0">
                <a:solidFill>
                  <a:srgbClr val="D4AF37"/>
                </a:solidFill>
              </a:rPr>
              <a:t>Probability-Adjusted ROI: 378%</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Implementation Timeline</a:t>
            </a:r>
            <a:endParaRPr lang="en-US" sz="3600" dirty="0"/>
          </a:p>
        </p:txBody>
      </p:sp>
      <p:sp>
        <p:nvSpPr>
          <p:cNvPr id="4" name="Shape 2"/>
          <p:cNvSpPr/>
          <p:nvPr/>
        </p:nvSpPr>
        <p:spPr>
          <a:xfrm>
            <a:off x="640080" y="1005840"/>
            <a:ext cx="274320" cy="274320"/>
          </a:xfrm>
          <a:prstGeom prst="ellipse">
            <a:avLst/>
          </a:prstGeom>
          <a:solidFill>
            <a:srgbClr val="D4AF37"/>
          </a:solidFill>
          <a:ln w="25400">
            <a:solidFill>
              <a:srgbClr val="FFFFFF"/>
            </a:solidFill>
            <a:prstDash val="solid"/>
          </a:ln>
        </p:spPr>
      </p:sp>
      <p:sp>
        <p:nvSpPr>
          <p:cNvPr id="5" name="Shape 3"/>
          <p:cNvSpPr/>
          <p:nvPr/>
        </p:nvSpPr>
        <p:spPr>
          <a:xfrm>
            <a:off x="1097280" y="960120"/>
            <a:ext cx="7589520" cy="640080"/>
          </a:xfrm>
          <a:prstGeom prst="rect">
            <a:avLst/>
          </a:prstGeom>
          <a:solidFill>
            <a:srgbClr val="FFFFFF"/>
          </a:solidFill>
          <a:ln w="25400">
            <a:solidFill>
              <a:srgbClr val="003366"/>
            </a:solidFill>
            <a:prstDash val="solid"/>
          </a:ln>
        </p:spPr>
      </p:sp>
      <p:sp>
        <p:nvSpPr>
          <p:cNvPr id="6" name="Text 4"/>
          <p:cNvSpPr/>
          <p:nvPr/>
        </p:nvSpPr>
        <p:spPr>
          <a:xfrm>
            <a:off x="1280160" y="1005840"/>
            <a:ext cx="1828800" cy="182880"/>
          </a:xfrm>
          <a:prstGeom prst="rect">
            <a:avLst/>
          </a:prstGeom>
          <a:noFill/>
          <a:ln/>
        </p:spPr>
        <p:txBody>
          <a:bodyPr wrap="square" rtlCol="0" anchor="ctr"/>
          <a:lstStyle/>
          <a:p>
            <a:pPr indent="0" marL="0">
              <a:buNone/>
            </a:pPr>
            <a:r>
              <a:rPr lang="en-US" sz="1300" b="1" dirty="0">
                <a:solidFill>
                  <a:srgbClr val="D4AF37"/>
                </a:solidFill>
              </a:rPr>
              <a:t>Months 1-2</a:t>
            </a:r>
            <a:endParaRPr lang="en-US" sz="1300" dirty="0"/>
          </a:p>
        </p:txBody>
      </p:sp>
      <p:sp>
        <p:nvSpPr>
          <p:cNvPr id="7" name="Text 5"/>
          <p:cNvSpPr/>
          <p:nvPr/>
        </p:nvSpPr>
        <p:spPr>
          <a:xfrm>
            <a:off x="1280160" y="1207008"/>
            <a:ext cx="7223760" cy="182880"/>
          </a:xfrm>
          <a:prstGeom prst="rect">
            <a:avLst/>
          </a:prstGeom>
          <a:noFill/>
          <a:ln/>
        </p:spPr>
        <p:txBody>
          <a:bodyPr wrap="square" rtlCol="0" anchor="ctr"/>
          <a:lstStyle/>
          <a:p>
            <a:pPr indent="0" marL="0">
              <a:buNone/>
            </a:pPr>
            <a:r>
              <a:rPr lang="en-US" sz="1600" b="1" dirty="0">
                <a:solidFill>
                  <a:srgbClr val="003366"/>
                </a:solidFill>
              </a:rPr>
              <a:t>Research &amp; Legal [GATE 1-2]</a:t>
            </a:r>
            <a:endParaRPr lang="en-US" sz="1600" dirty="0"/>
          </a:p>
        </p:txBody>
      </p:sp>
      <p:sp>
        <p:nvSpPr>
          <p:cNvPr id="8" name="Text 6"/>
          <p:cNvSpPr/>
          <p:nvPr/>
        </p:nvSpPr>
        <p:spPr>
          <a:xfrm>
            <a:off x="1280160" y="1408176"/>
            <a:ext cx="7223760" cy="137160"/>
          </a:xfrm>
          <a:prstGeom prst="rect">
            <a:avLst/>
          </a:prstGeom>
          <a:noFill/>
          <a:ln/>
        </p:spPr>
        <p:txBody>
          <a:bodyPr wrap="square" rtlCol="0" anchor="ctr"/>
          <a:lstStyle/>
          <a:p>
            <a:pPr indent="0" marL="0">
              <a:buNone/>
            </a:pPr>
            <a:r>
              <a:rPr lang="en-US" sz="1200" dirty="0">
                <a:solidFill>
                  <a:srgbClr val="1A1A1A"/>
                </a:solidFill>
              </a:rPr>
              <a:t>Lab testing, legal review. Investment: $20-35K</a:t>
            </a:r>
            <a:endParaRPr lang="en-US" sz="1200" dirty="0"/>
          </a:p>
        </p:txBody>
      </p:sp>
      <p:sp>
        <p:nvSpPr>
          <p:cNvPr id="9" name="Shape 7"/>
          <p:cNvSpPr/>
          <p:nvPr/>
        </p:nvSpPr>
        <p:spPr>
          <a:xfrm>
            <a:off x="640080" y="1828800"/>
            <a:ext cx="274320" cy="274320"/>
          </a:xfrm>
          <a:prstGeom prst="ellipse">
            <a:avLst/>
          </a:prstGeom>
          <a:solidFill>
            <a:srgbClr val="D4AF37"/>
          </a:solidFill>
          <a:ln w="25400">
            <a:solidFill>
              <a:srgbClr val="FFFFFF"/>
            </a:solidFill>
            <a:prstDash val="solid"/>
          </a:ln>
        </p:spPr>
      </p:sp>
      <p:sp>
        <p:nvSpPr>
          <p:cNvPr id="10" name="Shape 8"/>
          <p:cNvSpPr/>
          <p:nvPr/>
        </p:nvSpPr>
        <p:spPr>
          <a:xfrm>
            <a:off x="1097280" y="1783080"/>
            <a:ext cx="7589520" cy="640080"/>
          </a:xfrm>
          <a:prstGeom prst="rect">
            <a:avLst/>
          </a:prstGeom>
          <a:solidFill>
            <a:srgbClr val="FFFFFF"/>
          </a:solidFill>
          <a:ln w="25400">
            <a:solidFill>
              <a:srgbClr val="003366"/>
            </a:solidFill>
            <a:prstDash val="solid"/>
          </a:ln>
        </p:spPr>
      </p:sp>
      <p:sp>
        <p:nvSpPr>
          <p:cNvPr id="11" name="Text 9"/>
          <p:cNvSpPr/>
          <p:nvPr/>
        </p:nvSpPr>
        <p:spPr>
          <a:xfrm>
            <a:off x="1280160" y="1828800"/>
            <a:ext cx="1828800" cy="182880"/>
          </a:xfrm>
          <a:prstGeom prst="rect">
            <a:avLst/>
          </a:prstGeom>
          <a:noFill/>
          <a:ln/>
        </p:spPr>
        <p:txBody>
          <a:bodyPr wrap="square" rtlCol="0" anchor="ctr"/>
          <a:lstStyle/>
          <a:p>
            <a:pPr indent="0" marL="0">
              <a:buNone/>
            </a:pPr>
            <a:r>
              <a:rPr lang="en-US" sz="1300" b="1" dirty="0">
                <a:solidFill>
                  <a:srgbClr val="D4AF37"/>
                </a:solidFill>
              </a:rPr>
              <a:t>Months 3-4</a:t>
            </a:r>
            <a:endParaRPr lang="en-US" sz="1300" dirty="0"/>
          </a:p>
        </p:txBody>
      </p:sp>
      <p:sp>
        <p:nvSpPr>
          <p:cNvPr id="12" name="Text 10"/>
          <p:cNvSpPr/>
          <p:nvPr/>
        </p:nvSpPr>
        <p:spPr>
          <a:xfrm>
            <a:off x="1280160" y="2029968"/>
            <a:ext cx="7223760" cy="182880"/>
          </a:xfrm>
          <a:prstGeom prst="rect">
            <a:avLst/>
          </a:prstGeom>
          <a:noFill/>
          <a:ln/>
        </p:spPr>
        <p:txBody>
          <a:bodyPr wrap="square" rtlCol="0" anchor="ctr"/>
          <a:lstStyle/>
          <a:p>
            <a:pPr indent="0" marL="0">
              <a:buNone/>
            </a:pPr>
            <a:r>
              <a:rPr lang="en-US" sz="1600" b="1" dirty="0">
                <a:solidFill>
                  <a:srgbClr val="003366"/>
                </a:solidFill>
              </a:rPr>
              <a:t>Content Testing [GATE 3]</a:t>
            </a:r>
            <a:endParaRPr lang="en-US" sz="1600" dirty="0"/>
          </a:p>
        </p:txBody>
      </p:sp>
      <p:sp>
        <p:nvSpPr>
          <p:cNvPr id="13" name="Text 11"/>
          <p:cNvSpPr/>
          <p:nvPr/>
        </p:nvSpPr>
        <p:spPr>
          <a:xfrm>
            <a:off x="1280160" y="2231136"/>
            <a:ext cx="7223760" cy="137160"/>
          </a:xfrm>
          <a:prstGeom prst="rect">
            <a:avLst/>
          </a:prstGeom>
          <a:noFill/>
          <a:ln/>
        </p:spPr>
        <p:txBody>
          <a:bodyPr wrap="square" rtlCol="0" anchor="ctr"/>
          <a:lstStyle/>
          <a:p>
            <a:pPr indent="0" marL="0">
              <a:buNone/>
            </a:pPr>
            <a:r>
              <a:rPr lang="en-US" sz="1200" dirty="0">
                <a:solidFill>
                  <a:srgbClr val="1A1A1A"/>
                </a:solidFill>
              </a:rPr>
              <a:t>Micro-influencer partnerships. Investment: $10-15K</a:t>
            </a:r>
            <a:endParaRPr lang="en-US" sz="1200" dirty="0"/>
          </a:p>
        </p:txBody>
      </p:sp>
      <p:sp>
        <p:nvSpPr>
          <p:cNvPr id="14" name="Shape 12"/>
          <p:cNvSpPr/>
          <p:nvPr/>
        </p:nvSpPr>
        <p:spPr>
          <a:xfrm>
            <a:off x="640080" y="2651760"/>
            <a:ext cx="274320" cy="274320"/>
          </a:xfrm>
          <a:prstGeom prst="ellipse">
            <a:avLst/>
          </a:prstGeom>
          <a:solidFill>
            <a:srgbClr val="D4AF37"/>
          </a:solidFill>
          <a:ln w="25400">
            <a:solidFill>
              <a:srgbClr val="FFFFFF"/>
            </a:solidFill>
            <a:prstDash val="solid"/>
          </a:ln>
        </p:spPr>
      </p:sp>
      <p:sp>
        <p:nvSpPr>
          <p:cNvPr id="15" name="Shape 13"/>
          <p:cNvSpPr/>
          <p:nvPr/>
        </p:nvSpPr>
        <p:spPr>
          <a:xfrm>
            <a:off x="1097280" y="2606040"/>
            <a:ext cx="7589520" cy="640080"/>
          </a:xfrm>
          <a:prstGeom prst="rect">
            <a:avLst/>
          </a:prstGeom>
          <a:solidFill>
            <a:srgbClr val="FFFFFF"/>
          </a:solidFill>
          <a:ln w="25400">
            <a:solidFill>
              <a:srgbClr val="003366"/>
            </a:solidFill>
            <a:prstDash val="solid"/>
          </a:ln>
        </p:spPr>
      </p:sp>
      <p:sp>
        <p:nvSpPr>
          <p:cNvPr id="16" name="Text 14"/>
          <p:cNvSpPr/>
          <p:nvPr/>
        </p:nvSpPr>
        <p:spPr>
          <a:xfrm>
            <a:off x="1280160" y="2651760"/>
            <a:ext cx="1828800" cy="182880"/>
          </a:xfrm>
          <a:prstGeom prst="rect">
            <a:avLst/>
          </a:prstGeom>
          <a:noFill/>
          <a:ln/>
        </p:spPr>
        <p:txBody>
          <a:bodyPr wrap="square" rtlCol="0" anchor="ctr"/>
          <a:lstStyle/>
          <a:p>
            <a:pPr indent="0" marL="0">
              <a:buNone/>
            </a:pPr>
            <a:r>
              <a:rPr lang="en-US" sz="1300" b="1" dirty="0">
                <a:solidFill>
                  <a:srgbClr val="D4AF37"/>
                </a:solidFill>
              </a:rPr>
              <a:t>Months 5-7</a:t>
            </a:r>
            <a:endParaRPr lang="en-US" sz="1300" dirty="0"/>
          </a:p>
        </p:txBody>
      </p:sp>
      <p:sp>
        <p:nvSpPr>
          <p:cNvPr id="17" name="Text 15"/>
          <p:cNvSpPr/>
          <p:nvPr/>
        </p:nvSpPr>
        <p:spPr>
          <a:xfrm>
            <a:off x="1280160" y="2852928"/>
            <a:ext cx="7223760" cy="182880"/>
          </a:xfrm>
          <a:prstGeom prst="rect">
            <a:avLst/>
          </a:prstGeom>
          <a:noFill/>
          <a:ln/>
        </p:spPr>
        <p:txBody>
          <a:bodyPr wrap="square" rtlCol="0" anchor="ctr"/>
          <a:lstStyle/>
          <a:p>
            <a:pPr indent="0" marL="0">
              <a:buNone/>
            </a:pPr>
            <a:r>
              <a:rPr lang="en-US" sz="1600" b="1" dirty="0">
                <a:solidFill>
                  <a:srgbClr val="003366"/>
                </a:solidFill>
              </a:rPr>
              <a:t>Limited Launch [GATE 4]</a:t>
            </a:r>
            <a:endParaRPr lang="en-US" sz="1600" dirty="0"/>
          </a:p>
        </p:txBody>
      </p:sp>
      <p:sp>
        <p:nvSpPr>
          <p:cNvPr id="18" name="Text 16"/>
          <p:cNvSpPr/>
          <p:nvPr/>
        </p:nvSpPr>
        <p:spPr>
          <a:xfrm>
            <a:off x="1280160" y="3054096"/>
            <a:ext cx="7223760" cy="137160"/>
          </a:xfrm>
          <a:prstGeom prst="rect">
            <a:avLst/>
          </a:prstGeom>
          <a:noFill/>
          <a:ln/>
        </p:spPr>
        <p:txBody>
          <a:bodyPr wrap="square" rtlCol="0" anchor="ctr"/>
          <a:lstStyle/>
          <a:p>
            <a:pPr indent="0" marL="0">
              <a:buNone/>
            </a:pPr>
            <a:r>
              <a:rPr lang="en-US" sz="1200" dirty="0">
                <a:solidFill>
                  <a:srgbClr val="1A1A1A"/>
                </a:solidFill>
              </a:rPr>
              <a:t>Premium product, 5K-10K units. Investment: $30-50K</a:t>
            </a:r>
            <a:endParaRPr lang="en-US" sz="1200" dirty="0"/>
          </a:p>
        </p:txBody>
      </p:sp>
      <p:sp>
        <p:nvSpPr>
          <p:cNvPr id="19" name="Shape 17"/>
          <p:cNvSpPr/>
          <p:nvPr/>
        </p:nvSpPr>
        <p:spPr>
          <a:xfrm>
            <a:off x="640080" y="3474720"/>
            <a:ext cx="274320" cy="274320"/>
          </a:xfrm>
          <a:prstGeom prst="ellipse">
            <a:avLst/>
          </a:prstGeom>
          <a:solidFill>
            <a:srgbClr val="D4AF37"/>
          </a:solidFill>
          <a:ln w="25400">
            <a:solidFill>
              <a:srgbClr val="FFFFFF"/>
            </a:solidFill>
            <a:prstDash val="solid"/>
          </a:ln>
        </p:spPr>
      </p:sp>
      <p:sp>
        <p:nvSpPr>
          <p:cNvPr id="20" name="Shape 18"/>
          <p:cNvSpPr/>
          <p:nvPr/>
        </p:nvSpPr>
        <p:spPr>
          <a:xfrm>
            <a:off x="1097280" y="3429000"/>
            <a:ext cx="7589520" cy="640080"/>
          </a:xfrm>
          <a:prstGeom prst="rect">
            <a:avLst/>
          </a:prstGeom>
          <a:solidFill>
            <a:srgbClr val="FFFFFF"/>
          </a:solidFill>
          <a:ln w="25400">
            <a:solidFill>
              <a:srgbClr val="003366"/>
            </a:solidFill>
            <a:prstDash val="solid"/>
          </a:ln>
        </p:spPr>
      </p:sp>
      <p:sp>
        <p:nvSpPr>
          <p:cNvPr id="21" name="Text 19"/>
          <p:cNvSpPr/>
          <p:nvPr/>
        </p:nvSpPr>
        <p:spPr>
          <a:xfrm>
            <a:off x="1280160" y="3474720"/>
            <a:ext cx="1828800" cy="182880"/>
          </a:xfrm>
          <a:prstGeom prst="rect">
            <a:avLst/>
          </a:prstGeom>
          <a:noFill/>
          <a:ln/>
        </p:spPr>
        <p:txBody>
          <a:bodyPr wrap="square" rtlCol="0" anchor="ctr"/>
          <a:lstStyle/>
          <a:p>
            <a:pPr indent="0" marL="0">
              <a:buNone/>
            </a:pPr>
            <a:r>
              <a:rPr lang="en-US" sz="1300" b="1" dirty="0">
                <a:solidFill>
                  <a:srgbClr val="D4AF37"/>
                </a:solidFill>
              </a:rPr>
              <a:t>Months 8-12</a:t>
            </a:r>
            <a:endParaRPr lang="en-US" sz="1300" dirty="0"/>
          </a:p>
        </p:txBody>
      </p:sp>
      <p:sp>
        <p:nvSpPr>
          <p:cNvPr id="22" name="Text 20"/>
          <p:cNvSpPr/>
          <p:nvPr/>
        </p:nvSpPr>
        <p:spPr>
          <a:xfrm>
            <a:off x="1280160" y="3675888"/>
            <a:ext cx="7223760" cy="182880"/>
          </a:xfrm>
          <a:prstGeom prst="rect">
            <a:avLst/>
          </a:prstGeom>
          <a:noFill/>
          <a:ln/>
        </p:spPr>
        <p:txBody>
          <a:bodyPr wrap="square" rtlCol="0" anchor="ctr"/>
          <a:lstStyle/>
          <a:p>
            <a:pPr indent="0" marL="0">
              <a:buNone/>
            </a:pPr>
            <a:r>
              <a:rPr lang="en-US" sz="1600" b="1" dirty="0">
                <a:solidFill>
                  <a:srgbClr val="003366"/>
                </a:solidFill>
              </a:rPr>
              <a:t>Scale &amp; Expand [GATE 5]</a:t>
            </a:r>
            <a:endParaRPr lang="en-US" sz="1600" dirty="0"/>
          </a:p>
        </p:txBody>
      </p:sp>
      <p:sp>
        <p:nvSpPr>
          <p:cNvPr id="23" name="Text 21"/>
          <p:cNvSpPr/>
          <p:nvPr/>
        </p:nvSpPr>
        <p:spPr>
          <a:xfrm>
            <a:off x="1280160" y="3877056"/>
            <a:ext cx="7223760" cy="137160"/>
          </a:xfrm>
          <a:prstGeom prst="rect">
            <a:avLst/>
          </a:prstGeom>
          <a:noFill/>
          <a:ln/>
        </p:spPr>
        <p:txBody>
          <a:bodyPr wrap="square" rtlCol="0" anchor="ctr"/>
          <a:lstStyle/>
          <a:p>
            <a:pPr indent="0" marL="0">
              <a:buNone/>
            </a:pPr>
            <a:r>
              <a:rPr lang="en-US" sz="1200" dirty="0">
                <a:solidFill>
                  <a:srgbClr val="1A1A1A"/>
                </a:solidFill>
              </a:rPr>
              <a:t>Multi-market, macro-influencers. Investment: $50-100K</a:t>
            </a:r>
            <a:endParaRPr lang="en-US" sz="1200" dirty="0"/>
          </a:p>
        </p:txBody>
      </p:sp>
      <p:sp>
        <p:nvSpPr>
          <p:cNvPr id="24" name="Shape 22"/>
          <p:cNvSpPr/>
          <p:nvPr/>
        </p:nvSpPr>
        <p:spPr>
          <a:xfrm>
            <a:off x="1371600" y="4297680"/>
            <a:ext cx="6400800" cy="274320"/>
          </a:xfrm>
          <a:prstGeom prst="rect">
            <a:avLst/>
          </a:prstGeom>
          <a:solidFill>
            <a:srgbClr val="003366"/>
          </a:solidFill>
          <a:ln/>
        </p:spPr>
      </p:sp>
      <p:sp>
        <p:nvSpPr>
          <p:cNvPr id="25" name="Text 23"/>
          <p:cNvSpPr/>
          <p:nvPr/>
        </p:nvSpPr>
        <p:spPr>
          <a:xfrm>
            <a:off x="1371600" y="4343400"/>
            <a:ext cx="6400800" cy="182880"/>
          </a:xfrm>
          <a:prstGeom prst="rect">
            <a:avLst/>
          </a:prstGeom>
          <a:noFill/>
          <a:ln/>
        </p:spPr>
        <p:txBody>
          <a:bodyPr wrap="square" rtlCol="0" anchor="ctr"/>
          <a:lstStyle/>
          <a:p>
            <a:pPr algn="ctr" indent="0" marL="0">
              <a:buNone/>
            </a:pPr>
            <a:r>
              <a:rPr lang="en-US" sz="1400" dirty="0">
                <a:solidFill>
                  <a:srgbClr val="D4AF37"/>
                </a:solidFill>
              </a:rPr>
              <a:t>First GO/NO-GO Decision in 8 Weeks — Lab results determine next step</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Why This Strategy Works</a:t>
            </a:r>
            <a:endParaRPr lang="en-US" sz="3600" dirty="0"/>
          </a:p>
        </p:txBody>
      </p:sp>
      <p:sp>
        <p:nvSpPr>
          <p:cNvPr id="4" name="Shape 2"/>
          <p:cNvSpPr/>
          <p:nvPr/>
        </p:nvSpPr>
        <p:spPr>
          <a:xfrm>
            <a:off x="457200" y="914400"/>
            <a:ext cx="4114800" cy="548640"/>
          </a:xfrm>
          <a:prstGeom prst="rect">
            <a:avLst/>
          </a:prstGeom>
          <a:solidFill>
            <a:srgbClr val="FFFFFF"/>
          </a:solidFill>
          <a:ln w="25400">
            <a:solidFill>
              <a:srgbClr val="D4AF37"/>
            </a:solidFill>
            <a:prstDash val="solid"/>
          </a:ln>
        </p:spPr>
      </p:sp>
      <p:sp>
        <p:nvSpPr>
          <p:cNvPr id="5" name="Text 3"/>
          <p:cNvSpPr/>
          <p:nvPr/>
        </p:nvSpPr>
        <p:spPr>
          <a:xfrm>
            <a:off x="640080" y="987552"/>
            <a:ext cx="3749040" cy="201168"/>
          </a:xfrm>
          <a:prstGeom prst="rect">
            <a:avLst/>
          </a:prstGeom>
          <a:noFill/>
          <a:ln/>
        </p:spPr>
        <p:txBody>
          <a:bodyPr wrap="square" rtlCol="0" anchor="ctr"/>
          <a:lstStyle/>
          <a:p>
            <a:pPr indent="0" marL="0">
              <a:buNone/>
            </a:pPr>
            <a:r>
              <a:rPr lang="en-US" sz="1600" b="1" dirty="0">
                <a:solidFill>
                  <a:srgbClr val="003366"/>
                </a:solidFill>
              </a:rPr>
              <a:t>🌊 Leverages Existing Assets</a:t>
            </a:r>
            <a:endParaRPr lang="en-US" sz="1600" dirty="0"/>
          </a:p>
        </p:txBody>
      </p:sp>
      <p:sp>
        <p:nvSpPr>
          <p:cNvPr id="6" name="Text 4"/>
          <p:cNvSpPr/>
          <p:nvPr/>
        </p:nvSpPr>
        <p:spPr>
          <a:xfrm>
            <a:off x="640080" y="1207008"/>
            <a:ext cx="3749040" cy="182880"/>
          </a:xfrm>
          <a:prstGeom prst="rect">
            <a:avLst/>
          </a:prstGeom>
          <a:noFill/>
          <a:ln/>
        </p:spPr>
        <p:txBody>
          <a:bodyPr wrap="square" rtlCol="0" anchor="ctr"/>
          <a:lstStyle/>
          <a:p>
            <a:pPr indent="0" marL="0">
              <a:buNone/>
            </a:pPr>
            <a:r>
              <a:rPr lang="en-US" sz="1300" dirty="0">
                <a:solidFill>
                  <a:srgbClr val="1A1A1A"/>
                </a:solidFill>
              </a:rPr>
              <a:t>Wild quality, pristine waters, heritage story</a:t>
            </a:r>
            <a:endParaRPr lang="en-US" sz="1300" dirty="0"/>
          </a:p>
        </p:txBody>
      </p:sp>
      <p:sp>
        <p:nvSpPr>
          <p:cNvPr id="7" name="Shape 5"/>
          <p:cNvSpPr/>
          <p:nvPr/>
        </p:nvSpPr>
        <p:spPr>
          <a:xfrm>
            <a:off x="4572000" y="914400"/>
            <a:ext cx="4114800" cy="548640"/>
          </a:xfrm>
          <a:prstGeom prst="rect">
            <a:avLst/>
          </a:prstGeom>
          <a:solidFill>
            <a:srgbClr val="FFFFFF"/>
          </a:solidFill>
          <a:ln w="25400">
            <a:solidFill>
              <a:srgbClr val="D4AF37"/>
            </a:solidFill>
            <a:prstDash val="solid"/>
          </a:ln>
        </p:spPr>
      </p:sp>
      <p:sp>
        <p:nvSpPr>
          <p:cNvPr id="8" name="Text 6"/>
          <p:cNvSpPr/>
          <p:nvPr/>
        </p:nvSpPr>
        <p:spPr>
          <a:xfrm>
            <a:off x="4754880" y="987552"/>
            <a:ext cx="3749040" cy="201168"/>
          </a:xfrm>
          <a:prstGeom prst="rect">
            <a:avLst/>
          </a:prstGeom>
          <a:noFill/>
          <a:ln/>
        </p:spPr>
        <p:txBody>
          <a:bodyPr wrap="square" rtlCol="0" anchor="ctr"/>
          <a:lstStyle/>
          <a:p>
            <a:pPr indent="0" marL="0">
              <a:buNone/>
            </a:pPr>
            <a:r>
              <a:rPr lang="en-US" sz="1600" b="1" dirty="0">
                <a:solidFill>
                  <a:srgbClr val="003366"/>
                </a:solidFill>
              </a:rPr>
              <a:t>⚙️ Works Within Constraints</a:t>
            </a:r>
            <a:endParaRPr lang="en-US" sz="1600" dirty="0"/>
          </a:p>
        </p:txBody>
      </p:sp>
      <p:sp>
        <p:nvSpPr>
          <p:cNvPr id="9" name="Text 7"/>
          <p:cNvSpPr/>
          <p:nvPr/>
        </p:nvSpPr>
        <p:spPr>
          <a:xfrm>
            <a:off x="4754880" y="1207008"/>
            <a:ext cx="3749040" cy="182880"/>
          </a:xfrm>
          <a:prstGeom prst="rect">
            <a:avLst/>
          </a:prstGeom>
          <a:noFill/>
          <a:ln/>
        </p:spPr>
        <p:txBody>
          <a:bodyPr wrap="square" rtlCol="0" anchor="ctr"/>
          <a:lstStyle/>
          <a:p>
            <a:pPr indent="0" marL="0">
              <a:buNone/>
            </a:pPr>
            <a:r>
              <a:rPr lang="en-US" sz="1300" dirty="0">
                <a:solidFill>
                  <a:srgbClr val="1A1A1A"/>
                </a:solidFill>
              </a:rPr>
              <a:t>Uses bulk processing, minimal new infrastructure</a:t>
            </a:r>
            <a:endParaRPr lang="en-US" sz="1300" dirty="0"/>
          </a:p>
        </p:txBody>
      </p:sp>
      <p:sp>
        <p:nvSpPr>
          <p:cNvPr id="10" name="Shape 8"/>
          <p:cNvSpPr/>
          <p:nvPr/>
        </p:nvSpPr>
        <p:spPr>
          <a:xfrm>
            <a:off x="457200" y="1554480"/>
            <a:ext cx="4114800" cy="548640"/>
          </a:xfrm>
          <a:prstGeom prst="rect">
            <a:avLst/>
          </a:prstGeom>
          <a:solidFill>
            <a:srgbClr val="FFFFFF"/>
          </a:solidFill>
          <a:ln w="25400">
            <a:solidFill>
              <a:srgbClr val="D4AF37"/>
            </a:solidFill>
            <a:prstDash val="solid"/>
          </a:ln>
        </p:spPr>
      </p:sp>
      <p:sp>
        <p:nvSpPr>
          <p:cNvPr id="11" name="Text 9"/>
          <p:cNvSpPr/>
          <p:nvPr/>
        </p:nvSpPr>
        <p:spPr>
          <a:xfrm>
            <a:off x="640080" y="1627632"/>
            <a:ext cx="3749040" cy="201168"/>
          </a:xfrm>
          <a:prstGeom prst="rect">
            <a:avLst/>
          </a:prstGeom>
          <a:noFill/>
          <a:ln/>
        </p:spPr>
        <p:txBody>
          <a:bodyPr wrap="square" rtlCol="0" anchor="ctr"/>
          <a:lstStyle/>
          <a:p>
            <a:pPr indent="0" marL="0">
              <a:buNone/>
            </a:pPr>
            <a:r>
              <a:rPr lang="en-US" sz="1600" b="1" dirty="0">
                <a:solidFill>
                  <a:srgbClr val="003366"/>
                </a:solidFill>
              </a:rPr>
              <a:t>📱 Scalable Through Influencers</a:t>
            </a:r>
            <a:endParaRPr lang="en-US" sz="1600" dirty="0"/>
          </a:p>
        </p:txBody>
      </p:sp>
      <p:sp>
        <p:nvSpPr>
          <p:cNvPr id="12" name="Text 10"/>
          <p:cNvSpPr/>
          <p:nvPr/>
        </p:nvSpPr>
        <p:spPr>
          <a:xfrm>
            <a:off x="640080" y="1847088"/>
            <a:ext cx="3749040" cy="182880"/>
          </a:xfrm>
          <a:prstGeom prst="rect">
            <a:avLst/>
          </a:prstGeom>
          <a:noFill/>
          <a:ln/>
        </p:spPr>
        <p:txBody>
          <a:bodyPr wrap="square" rtlCol="0" anchor="ctr"/>
          <a:lstStyle/>
          <a:p>
            <a:pPr indent="0" marL="0">
              <a:buNone/>
            </a:pPr>
            <a:r>
              <a:rPr lang="en-US" sz="1300" dirty="0">
                <a:solidFill>
                  <a:srgbClr val="1A1A1A"/>
                </a:solidFill>
              </a:rPr>
              <a:t>Reach millions without resource-intensive programs</a:t>
            </a:r>
            <a:endParaRPr lang="en-US" sz="1300" dirty="0"/>
          </a:p>
        </p:txBody>
      </p:sp>
      <p:sp>
        <p:nvSpPr>
          <p:cNvPr id="13" name="Shape 11"/>
          <p:cNvSpPr/>
          <p:nvPr/>
        </p:nvSpPr>
        <p:spPr>
          <a:xfrm>
            <a:off x="4572000" y="1554480"/>
            <a:ext cx="4114800" cy="548640"/>
          </a:xfrm>
          <a:prstGeom prst="rect">
            <a:avLst/>
          </a:prstGeom>
          <a:solidFill>
            <a:srgbClr val="FFFFFF"/>
          </a:solidFill>
          <a:ln w="25400">
            <a:solidFill>
              <a:srgbClr val="D4AF37"/>
            </a:solidFill>
            <a:prstDash val="solid"/>
          </a:ln>
        </p:spPr>
      </p:sp>
      <p:sp>
        <p:nvSpPr>
          <p:cNvPr id="14" name="Text 12"/>
          <p:cNvSpPr/>
          <p:nvPr/>
        </p:nvSpPr>
        <p:spPr>
          <a:xfrm>
            <a:off x="4754880" y="1627632"/>
            <a:ext cx="3749040" cy="201168"/>
          </a:xfrm>
          <a:prstGeom prst="rect">
            <a:avLst/>
          </a:prstGeom>
          <a:noFill/>
          <a:ln/>
        </p:spPr>
        <p:txBody>
          <a:bodyPr wrap="square" rtlCol="0" anchor="ctr"/>
          <a:lstStyle/>
          <a:p>
            <a:pPr indent="0" marL="0">
              <a:buNone/>
            </a:pPr>
            <a:r>
              <a:rPr lang="en-US" sz="1600" b="1" dirty="0">
                <a:solidFill>
                  <a:srgbClr val="003366"/>
                </a:solidFill>
              </a:rPr>
              <a:t>📈 Targets Growth Market</a:t>
            </a:r>
            <a:endParaRPr lang="en-US" sz="1600" dirty="0"/>
          </a:p>
        </p:txBody>
      </p:sp>
      <p:sp>
        <p:nvSpPr>
          <p:cNvPr id="15" name="Text 13"/>
          <p:cNvSpPr/>
          <p:nvPr/>
        </p:nvSpPr>
        <p:spPr>
          <a:xfrm>
            <a:off x="4754880" y="1847088"/>
            <a:ext cx="3749040" cy="182880"/>
          </a:xfrm>
          <a:prstGeom prst="rect">
            <a:avLst/>
          </a:prstGeom>
          <a:noFill/>
          <a:ln/>
        </p:spPr>
        <p:txBody>
          <a:bodyPr wrap="square" rtlCol="0" anchor="ctr"/>
          <a:lstStyle/>
          <a:p>
            <a:pPr indent="0" marL="0">
              <a:buNone/>
            </a:pPr>
            <a:r>
              <a:rPr lang="en-US" sz="1300" dirty="0">
                <a:solidFill>
                  <a:srgbClr val="1A1A1A"/>
                </a:solidFill>
              </a:rPr>
              <a:t>Gen Z/Millennial beauty consumers expanding</a:t>
            </a:r>
            <a:endParaRPr lang="en-US" sz="1300" dirty="0"/>
          </a:p>
        </p:txBody>
      </p:sp>
      <p:sp>
        <p:nvSpPr>
          <p:cNvPr id="16" name="Shape 14"/>
          <p:cNvSpPr/>
          <p:nvPr/>
        </p:nvSpPr>
        <p:spPr>
          <a:xfrm>
            <a:off x="457200" y="2194560"/>
            <a:ext cx="4114800" cy="548640"/>
          </a:xfrm>
          <a:prstGeom prst="rect">
            <a:avLst/>
          </a:prstGeom>
          <a:solidFill>
            <a:srgbClr val="FFFFFF"/>
          </a:solidFill>
          <a:ln w="25400">
            <a:solidFill>
              <a:srgbClr val="D4AF37"/>
            </a:solidFill>
            <a:prstDash val="solid"/>
          </a:ln>
        </p:spPr>
      </p:sp>
      <p:sp>
        <p:nvSpPr>
          <p:cNvPr id="17" name="Text 15"/>
          <p:cNvSpPr/>
          <p:nvPr/>
        </p:nvSpPr>
        <p:spPr>
          <a:xfrm>
            <a:off x="640080" y="2267712"/>
            <a:ext cx="3749040" cy="201168"/>
          </a:xfrm>
          <a:prstGeom prst="rect">
            <a:avLst/>
          </a:prstGeom>
          <a:noFill/>
          <a:ln/>
        </p:spPr>
        <p:txBody>
          <a:bodyPr wrap="square" rtlCol="0" anchor="ctr"/>
          <a:lstStyle/>
          <a:p>
            <a:pPr indent="0" marL="0">
              <a:buNone/>
            </a:pPr>
            <a:r>
              <a:rPr lang="en-US" sz="1600" b="1" dirty="0">
                <a:solidFill>
                  <a:srgbClr val="003366"/>
                </a:solidFill>
              </a:rPr>
              <a:t>🛡️ Risk-Managed Approach</a:t>
            </a:r>
            <a:endParaRPr lang="en-US" sz="1600" dirty="0"/>
          </a:p>
        </p:txBody>
      </p:sp>
      <p:sp>
        <p:nvSpPr>
          <p:cNvPr id="18" name="Text 16"/>
          <p:cNvSpPr/>
          <p:nvPr/>
        </p:nvSpPr>
        <p:spPr>
          <a:xfrm>
            <a:off x="640080" y="2487168"/>
            <a:ext cx="3749040" cy="182880"/>
          </a:xfrm>
          <a:prstGeom prst="rect">
            <a:avLst/>
          </a:prstGeom>
          <a:noFill/>
          <a:ln/>
        </p:spPr>
        <p:txBody>
          <a:bodyPr wrap="square" rtlCol="0" anchor="ctr"/>
          <a:lstStyle/>
          <a:p>
            <a:pPr indent="0" marL="0">
              <a:buNone/>
            </a:pPr>
            <a:r>
              <a:rPr lang="en-US" sz="1300" dirty="0">
                <a:solidFill>
                  <a:srgbClr val="1A1A1A"/>
                </a:solidFill>
              </a:rPr>
              <a:t>Stage-gates allow validation at every phase</a:t>
            </a:r>
            <a:endParaRPr lang="en-US" sz="1300" dirty="0"/>
          </a:p>
        </p:txBody>
      </p:sp>
      <p:sp>
        <p:nvSpPr>
          <p:cNvPr id="19" name="Shape 17"/>
          <p:cNvSpPr/>
          <p:nvPr/>
        </p:nvSpPr>
        <p:spPr>
          <a:xfrm>
            <a:off x="4572000" y="2194560"/>
            <a:ext cx="4114800" cy="548640"/>
          </a:xfrm>
          <a:prstGeom prst="rect">
            <a:avLst/>
          </a:prstGeom>
          <a:solidFill>
            <a:srgbClr val="FFFFFF"/>
          </a:solidFill>
          <a:ln w="25400">
            <a:solidFill>
              <a:srgbClr val="D4AF37"/>
            </a:solidFill>
            <a:prstDash val="solid"/>
          </a:ln>
        </p:spPr>
      </p:sp>
      <p:sp>
        <p:nvSpPr>
          <p:cNvPr id="20" name="Text 18"/>
          <p:cNvSpPr/>
          <p:nvPr/>
        </p:nvSpPr>
        <p:spPr>
          <a:xfrm>
            <a:off x="4754880" y="2267712"/>
            <a:ext cx="3749040" cy="201168"/>
          </a:xfrm>
          <a:prstGeom prst="rect">
            <a:avLst/>
          </a:prstGeom>
          <a:noFill/>
          <a:ln/>
        </p:spPr>
        <p:txBody>
          <a:bodyPr wrap="square" rtlCol="0" anchor="ctr"/>
          <a:lstStyle/>
          <a:p>
            <a:pPr indent="0" marL="0">
              <a:buNone/>
            </a:pPr>
            <a:r>
              <a:rPr lang="en-US" sz="1600" b="1" dirty="0">
                <a:solidFill>
                  <a:srgbClr val="003366"/>
                </a:solidFill>
              </a:rPr>
              <a:t>💰 Higher Margins</a:t>
            </a:r>
            <a:endParaRPr lang="en-US" sz="1600" dirty="0"/>
          </a:p>
        </p:txBody>
      </p:sp>
      <p:sp>
        <p:nvSpPr>
          <p:cNvPr id="21" name="Text 19"/>
          <p:cNvSpPr/>
          <p:nvPr/>
        </p:nvSpPr>
        <p:spPr>
          <a:xfrm>
            <a:off x="4754880" y="2487168"/>
            <a:ext cx="3749040" cy="182880"/>
          </a:xfrm>
          <a:prstGeom prst="rect">
            <a:avLst/>
          </a:prstGeom>
          <a:noFill/>
          <a:ln/>
        </p:spPr>
        <p:txBody>
          <a:bodyPr wrap="square" rtlCol="0" anchor="ctr"/>
          <a:lstStyle/>
          <a:p>
            <a:pPr indent="0" marL="0">
              <a:buNone/>
            </a:pPr>
            <a:r>
              <a:rPr lang="en-US" sz="1300" dirty="0">
                <a:solidFill>
                  <a:srgbClr val="1A1A1A"/>
                </a:solidFill>
              </a:rPr>
              <a:t>60% gross margins vs 30-40% commodity</a:t>
            </a:r>
            <a:endParaRPr lang="en-US" sz="1300" dirty="0"/>
          </a:p>
        </p:txBody>
      </p:sp>
      <p:sp>
        <p:nvSpPr>
          <p:cNvPr id="22" name="Shape 20"/>
          <p:cNvSpPr/>
          <p:nvPr/>
        </p:nvSpPr>
        <p:spPr>
          <a:xfrm>
            <a:off x="914400" y="3108960"/>
            <a:ext cx="7315200" cy="822960"/>
          </a:xfrm>
          <a:prstGeom prst="rect">
            <a:avLst/>
          </a:prstGeom>
          <a:solidFill>
            <a:srgbClr val="003366"/>
          </a:solidFill>
          <a:ln w="25400">
            <a:solidFill>
              <a:srgbClr val="D4AF37"/>
            </a:solidFill>
            <a:prstDash val="solid"/>
          </a:ln>
        </p:spPr>
      </p:sp>
      <p:sp>
        <p:nvSpPr>
          <p:cNvPr id="23" name="Text 21"/>
          <p:cNvSpPr/>
          <p:nvPr/>
        </p:nvSpPr>
        <p:spPr>
          <a:xfrm>
            <a:off x="914400" y="3200400"/>
            <a:ext cx="7315200" cy="228600"/>
          </a:xfrm>
          <a:prstGeom prst="rect">
            <a:avLst/>
          </a:prstGeom>
          <a:noFill/>
          <a:ln/>
        </p:spPr>
        <p:txBody>
          <a:bodyPr wrap="square" rtlCol="0" anchor="ctr"/>
          <a:lstStyle/>
          <a:p>
            <a:pPr algn="ctr" indent="0" marL="0">
              <a:buNone/>
            </a:pPr>
            <a:r>
              <a:rPr lang="en-US" sz="2000" b="1" dirty="0">
                <a:solidFill>
                  <a:srgbClr val="D4AF37"/>
                </a:solidFill>
              </a:rPr>
              <a:t>The Bottom Line</a:t>
            </a:r>
            <a:endParaRPr lang="en-US" sz="2000" dirty="0"/>
          </a:p>
        </p:txBody>
      </p:sp>
      <p:sp>
        <p:nvSpPr>
          <p:cNvPr id="24" name="Text 22"/>
          <p:cNvSpPr/>
          <p:nvPr/>
        </p:nvSpPr>
        <p:spPr>
          <a:xfrm>
            <a:off x="914400" y="3474720"/>
            <a:ext cx="7315200" cy="365760"/>
          </a:xfrm>
          <a:prstGeom prst="rect">
            <a:avLst/>
          </a:prstGeom>
          <a:noFill/>
          <a:ln/>
        </p:spPr>
        <p:txBody>
          <a:bodyPr wrap="square" rtlCol="0" anchor="ctr"/>
          <a:lstStyle/>
          <a:p>
            <a:pPr algn="ctr" indent="0" marL="0">
              <a:buNone/>
            </a:pPr>
            <a:r>
              <a:rPr lang="en-US" sz="1600" dirty="0">
                <a:solidFill>
                  <a:srgbClr val="FFFFFF"/>
                </a:solidFill>
              </a:rPr>
              <a:t>This isn't a risky bet—it's the logical evolution of our business.</a:t>
            </a:r>
            <a:endParaRPr lang="en-US" sz="1600" dirty="0"/>
          </a:p>
          <a:p>
            <a:pPr algn="ctr" indent="0" marL="0">
              <a:buNone/>
            </a:pPr>
            <a:r>
              <a:rPr lang="en-US" sz="1600" dirty="0">
                <a:solidFill>
                  <a:srgbClr val="FFFFFF"/>
                </a:solidFill>
              </a:rPr>
              <a:t>We're using what we have to reach who's buying, in a category where we can win.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3366"/>
          </a:solidFill>
          <a:ln/>
        </p:spPr>
      </p:sp>
      <p:sp>
        <p:nvSpPr>
          <p:cNvPr id="3" name="Text 1"/>
          <p:cNvSpPr/>
          <p:nvPr/>
        </p:nvSpPr>
        <p:spPr>
          <a:xfrm>
            <a:off x="457200" y="182880"/>
            <a:ext cx="8229600" cy="365760"/>
          </a:xfrm>
          <a:prstGeom prst="rect">
            <a:avLst/>
          </a:prstGeom>
          <a:noFill/>
          <a:ln/>
        </p:spPr>
        <p:txBody>
          <a:bodyPr wrap="square" rtlCol="0" anchor="ctr"/>
          <a:lstStyle/>
          <a:p>
            <a:pPr indent="0" marL="0">
              <a:buNone/>
            </a:pPr>
            <a:r>
              <a:rPr lang="en-US" sz="3600" b="1" dirty="0">
                <a:solidFill>
                  <a:srgbClr val="FFFFFF"/>
                </a:solidFill>
              </a:rPr>
              <a:t>Immediate Next Steps</a:t>
            </a:r>
            <a:endParaRPr lang="en-US" sz="3600" dirty="0"/>
          </a:p>
        </p:txBody>
      </p:sp>
      <p:sp>
        <p:nvSpPr>
          <p:cNvPr id="4" name="Shape 2"/>
          <p:cNvSpPr/>
          <p:nvPr/>
        </p:nvSpPr>
        <p:spPr>
          <a:xfrm>
            <a:off x="548640" y="1005840"/>
            <a:ext cx="365760" cy="365760"/>
          </a:xfrm>
          <a:prstGeom prst="ellipse">
            <a:avLst/>
          </a:prstGeom>
          <a:solidFill>
            <a:srgbClr val="D4AF37"/>
          </a:solidFill>
          <a:ln/>
        </p:spPr>
      </p:sp>
      <p:sp>
        <p:nvSpPr>
          <p:cNvPr id="5" name="Text 3"/>
          <p:cNvSpPr/>
          <p:nvPr/>
        </p:nvSpPr>
        <p:spPr>
          <a:xfrm>
            <a:off x="548640" y="1005840"/>
            <a:ext cx="365760" cy="365760"/>
          </a:xfrm>
          <a:prstGeom prst="rect">
            <a:avLst/>
          </a:prstGeom>
          <a:noFill/>
          <a:ln/>
        </p:spPr>
        <p:txBody>
          <a:bodyPr wrap="square" rtlCol="0" anchor="ctr"/>
          <a:lstStyle/>
          <a:p>
            <a:pPr algn="ctr" indent="0" marL="0">
              <a:buNone/>
            </a:pPr>
            <a:r>
              <a:rPr lang="en-US" sz="2000" b="1" dirty="0">
                <a:solidFill>
                  <a:srgbClr val="FFFFFF"/>
                </a:solidFill>
              </a:rPr>
              <a:t>1</a:t>
            </a:r>
            <a:endParaRPr lang="en-US" sz="2000" dirty="0"/>
          </a:p>
        </p:txBody>
      </p:sp>
      <p:sp>
        <p:nvSpPr>
          <p:cNvPr id="6" name="Text 4"/>
          <p:cNvSpPr/>
          <p:nvPr/>
        </p:nvSpPr>
        <p:spPr>
          <a:xfrm>
            <a:off x="1097280" y="1024128"/>
            <a:ext cx="7315200" cy="182880"/>
          </a:xfrm>
          <a:prstGeom prst="rect">
            <a:avLst/>
          </a:prstGeom>
          <a:noFill/>
          <a:ln/>
        </p:spPr>
        <p:txBody>
          <a:bodyPr wrap="square" rtlCol="0" anchor="ctr"/>
          <a:lstStyle/>
          <a:p>
            <a:pPr indent="0" marL="0">
              <a:buNone/>
            </a:pPr>
            <a:r>
              <a:rPr lang="en-US" sz="1700" b="1" dirty="0">
                <a:solidFill>
                  <a:srgbClr val="003366"/>
                </a:solidFill>
              </a:rPr>
              <a:t>Board Approval for Gate 1 - Week 1</a:t>
            </a:r>
            <a:endParaRPr lang="en-US" sz="1700" dirty="0"/>
          </a:p>
        </p:txBody>
      </p:sp>
      <p:sp>
        <p:nvSpPr>
          <p:cNvPr id="7" name="Text 5"/>
          <p:cNvSpPr/>
          <p:nvPr/>
        </p:nvSpPr>
        <p:spPr>
          <a:xfrm>
            <a:off x="1097280" y="1225296"/>
            <a:ext cx="7315200" cy="137160"/>
          </a:xfrm>
          <a:prstGeom prst="rect">
            <a:avLst/>
          </a:prstGeom>
          <a:noFill/>
          <a:ln/>
        </p:spPr>
        <p:txBody>
          <a:bodyPr wrap="square" rtlCol="0" anchor="ctr"/>
          <a:lstStyle/>
          <a:p>
            <a:pPr indent="0" marL="0">
              <a:buNone/>
            </a:pPr>
            <a:r>
              <a:rPr lang="en-US" sz="1400" dirty="0">
                <a:solidFill>
                  <a:srgbClr val="1A1A1A"/>
                </a:solidFill>
              </a:rPr>
              <a:t>Secure $15-25K investment approval</a:t>
            </a:r>
            <a:endParaRPr lang="en-US" sz="1400" dirty="0"/>
          </a:p>
        </p:txBody>
      </p:sp>
      <p:sp>
        <p:nvSpPr>
          <p:cNvPr id="8" name="Shape 6"/>
          <p:cNvSpPr/>
          <p:nvPr/>
        </p:nvSpPr>
        <p:spPr>
          <a:xfrm>
            <a:off x="548640" y="1645920"/>
            <a:ext cx="365760" cy="365760"/>
          </a:xfrm>
          <a:prstGeom prst="ellipse">
            <a:avLst/>
          </a:prstGeom>
          <a:solidFill>
            <a:srgbClr val="D4AF37"/>
          </a:solidFill>
          <a:ln/>
        </p:spPr>
      </p:sp>
      <p:sp>
        <p:nvSpPr>
          <p:cNvPr id="9" name="Text 7"/>
          <p:cNvSpPr/>
          <p:nvPr/>
        </p:nvSpPr>
        <p:spPr>
          <a:xfrm>
            <a:off x="548640" y="1645920"/>
            <a:ext cx="365760" cy="365760"/>
          </a:xfrm>
          <a:prstGeom prst="rect">
            <a:avLst/>
          </a:prstGeom>
          <a:noFill/>
          <a:ln/>
        </p:spPr>
        <p:txBody>
          <a:bodyPr wrap="square" rtlCol="0" anchor="ctr"/>
          <a:lstStyle/>
          <a:p>
            <a:pPr algn="ctr" indent="0" marL="0">
              <a:buNone/>
            </a:pPr>
            <a:r>
              <a:rPr lang="en-US" sz="2000" b="1" dirty="0">
                <a:solidFill>
                  <a:srgbClr val="FFFFFF"/>
                </a:solidFill>
              </a:rPr>
              <a:t>2</a:t>
            </a:r>
            <a:endParaRPr lang="en-US" sz="2000" dirty="0"/>
          </a:p>
        </p:txBody>
      </p:sp>
      <p:sp>
        <p:nvSpPr>
          <p:cNvPr id="10" name="Text 8"/>
          <p:cNvSpPr/>
          <p:nvPr/>
        </p:nvSpPr>
        <p:spPr>
          <a:xfrm>
            <a:off x="1097280" y="1664208"/>
            <a:ext cx="7315200" cy="182880"/>
          </a:xfrm>
          <a:prstGeom prst="rect">
            <a:avLst/>
          </a:prstGeom>
          <a:noFill/>
          <a:ln/>
        </p:spPr>
        <p:txBody>
          <a:bodyPr wrap="square" rtlCol="0" anchor="ctr"/>
          <a:lstStyle/>
          <a:p>
            <a:pPr indent="0" marL="0">
              <a:buNone/>
            </a:pPr>
            <a:r>
              <a:rPr lang="en-US" sz="1700" b="1" dirty="0">
                <a:solidFill>
                  <a:srgbClr val="003366"/>
                </a:solidFill>
              </a:rPr>
              <a:t>Select Independent Lab - Weeks 1-2</a:t>
            </a:r>
            <a:endParaRPr lang="en-US" sz="1700" dirty="0"/>
          </a:p>
        </p:txBody>
      </p:sp>
      <p:sp>
        <p:nvSpPr>
          <p:cNvPr id="11" name="Text 9"/>
          <p:cNvSpPr/>
          <p:nvPr/>
        </p:nvSpPr>
        <p:spPr>
          <a:xfrm>
            <a:off x="1097280" y="1865376"/>
            <a:ext cx="7315200" cy="137160"/>
          </a:xfrm>
          <a:prstGeom prst="rect">
            <a:avLst/>
          </a:prstGeom>
          <a:noFill/>
          <a:ln/>
        </p:spPr>
        <p:txBody>
          <a:bodyPr wrap="square" rtlCol="0" anchor="ctr"/>
          <a:lstStyle/>
          <a:p>
            <a:pPr indent="0" marL="0">
              <a:buNone/>
            </a:pPr>
            <a:r>
              <a:rPr lang="en-US" sz="1400" dirty="0">
                <a:solidFill>
                  <a:srgbClr val="1A1A1A"/>
                </a:solidFill>
              </a:rPr>
              <a:t>Identify certified lab for marine product analysis</a:t>
            </a:r>
            <a:endParaRPr lang="en-US" sz="1400" dirty="0"/>
          </a:p>
        </p:txBody>
      </p:sp>
      <p:sp>
        <p:nvSpPr>
          <p:cNvPr id="12" name="Shape 10"/>
          <p:cNvSpPr/>
          <p:nvPr/>
        </p:nvSpPr>
        <p:spPr>
          <a:xfrm>
            <a:off x="548640" y="2286000"/>
            <a:ext cx="365760" cy="365760"/>
          </a:xfrm>
          <a:prstGeom prst="ellipse">
            <a:avLst/>
          </a:prstGeom>
          <a:solidFill>
            <a:srgbClr val="D4AF37"/>
          </a:solidFill>
          <a:ln/>
        </p:spPr>
      </p:sp>
      <p:sp>
        <p:nvSpPr>
          <p:cNvPr id="13" name="Text 11"/>
          <p:cNvSpPr/>
          <p:nvPr/>
        </p:nvSpPr>
        <p:spPr>
          <a:xfrm>
            <a:off x="548640" y="2286000"/>
            <a:ext cx="365760" cy="365760"/>
          </a:xfrm>
          <a:prstGeom prst="rect">
            <a:avLst/>
          </a:prstGeom>
          <a:noFill/>
          <a:ln/>
        </p:spPr>
        <p:txBody>
          <a:bodyPr wrap="square" rtlCol="0" anchor="ctr"/>
          <a:lstStyle/>
          <a:p>
            <a:pPr algn="ctr" indent="0" marL="0">
              <a:buNone/>
            </a:pPr>
            <a:r>
              <a:rPr lang="en-US" sz="2000" b="1" dirty="0">
                <a:solidFill>
                  <a:srgbClr val="FFFFFF"/>
                </a:solidFill>
              </a:rPr>
              <a:t>3</a:t>
            </a:r>
            <a:endParaRPr lang="en-US" sz="2000" dirty="0"/>
          </a:p>
        </p:txBody>
      </p:sp>
      <p:sp>
        <p:nvSpPr>
          <p:cNvPr id="14" name="Text 12"/>
          <p:cNvSpPr/>
          <p:nvPr/>
        </p:nvSpPr>
        <p:spPr>
          <a:xfrm>
            <a:off x="1097280" y="2304288"/>
            <a:ext cx="7315200" cy="182880"/>
          </a:xfrm>
          <a:prstGeom prst="rect">
            <a:avLst/>
          </a:prstGeom>
          <a:noFill/>
          <a:ln/>
        </p:spPr>
        <p:txBody>
          <a:bodyPr wrap="square" rtlCol="0" anchor="ctr"/>
          <a:lstStyle/>
          <a:p>
            <a:pPr indent="0" marL="0">
              <a:buNone/>
            </a:pPr>
            <a:r>
              <a:rPr lang="en-US" sz="1700" b="1" dirty="0">
                <a:solidFill>
                  <a:srgbClr val="003366"/>
                </a:solidFill>
              </a:rPr>
              <a:t>Collect Samples - Week 3</a:t>
            </a:r>
            <a:endParaRPr lang="en-US" sz="1700" dirty="0"/>
          </a:p>
        </p:txBody>
      </p:sp>
      <p:sp>
        <p:nvSpPr>
          <p:cNvPr id="15" name="Text 13"/>
          <p:cNvSpPr/>
          <p:nvPr/>
        </p:nvSpPr>
        <p:spPr>
          <a:xfrm>
            <a:off x="1097280" y="2505456"/>
            <a:ext cx="7315200" cy="137160"/>
          </a:xfrm>
          <a:prstGeom prst="rect">
            <a:avLst/>
          </a:prstGeom>
          <a:noFill/>
          <a:ln/>
        </p:spPr>
        <p:txBody>
          <a:bodyPr wrap="square" rtlCol="0" anchor="ctr"/>
          <a:lstStyle/>
          <a:p>
            <a:pPr indent="0" marL="0">
              <a:buNone/>
            </a:pPr>
            <a:r>
              <a:rPr lang="en-US" sz="1400" dirty="0">
                <a:solidFill>
                  <a:srgbClr val="1A1A1A"/>
                </a:solidFill>
              </a:rPr>
              <a:t>Gather wild and farmed comparison samples</a:t>
            </a:r>
            <a:endParaRPr lang="en-US" sz="1400" dirty="0"/>
          </a:p>
        </p:txBody>
      </p:sp>
      <p:sp>
        <p:nvSpPr>
          <p:cNvPr id="16" name="Shape 14"/>
          <p:cNvSpPr/>
          <p:nvPr/>
        </p:nvSpPr>
        <p:spPr>
          <a:xfrm>
            <a:off x="548640" y="2926080"/>
            <a:ext cx="365760" cy="365760"/>
          </a:xfrm>
          <a:prstGeom prst="ellipse">
            <a:avLst/>
          </a:prstGeom>
          <a:solidFill>
            <a:srgbClr val="D4AF37"/>
          </a:solidFill>
          <a:ln/>
        </p:spPr>
      </p:sp>
      <p:sp>
        <p:nvSpPr>
          <p:cNvPr id="17" name="Text 15"/>
          <p:cNvSpPr/>
          <p:nvPr/>
        </p:nvSpPr>
        <p:spPr>
          <a:xfrm>
            <a:off x="548640" y="2926080"/>
            <a:ext cx="365760" cy="365760"/>
          </a:xfrm>
          <a:prstGeom prst="rect">
            <a:avLst/>
          </a:prstGeom>
          <a:noFill/>
          <a:ln/>
        </p:spPr>
        <p:txBody>
          <a:bodyPr wrap="square" rtlCol="0" anchor="ctr"/>
          <a:lstStyle/>
          <a:p>
            <a:pPr algn="ctr" indent="0" marL="0">
              <a:buNone/>
            </a:pPr>
            <a:r>
              <a:rPr lang="en-US" sz="2000" b="1" dirty="0">
                <a:solidFill>
                  <a:srgbClr val="FFFFFF"/>
                </a:solidFill>
              </a:rPr>
              <a:t>4</a:t>
            </a:r>
            <a:endParaRPr lang="en-US" sz="2000" dirty="0"/>
          </a:p>
        </p:txBody>
      </p:sp>
      <p:sp>
        <p:nvSpPr>
          <p:cNvPr id="18" name="Text 16"/>
          <p:cNvSpPr/>
          <p:nvPr/>
        </p:nvSpPr>
        <p:spPr>
          <a:xfrm>
            <a:off x="1097280" y="2944368"/>
            <a:ext cx="7315200" cy="182880"/>
          </a:xfrm>
          <a:prstGeom prst="rect">
            <a:avLst/>
          </a:prstGeom>
          <a:noFill/>
          <a:ln/>
        </p:spPr>
        <p:txBody>
          <a:bodyPr wrap="square" rtlCol="0" anchor="ctr"/>
          <a:lstStyle/>
          <a:p>
            <a:pPr indent="0" marL="0">
              <a:buNone/>
            </a:pPr>
            <a:r>
              <a:rPr lang="en-US" sz="1700" b="1" dirty="0">
                <a:solidFill>
                  <a:srgbClr val="003366"/>
                </a:solidFill>
              </a:rPr>
              <a:t>Begin Testing - Weeks 4-10</a:t>
            </a:r>
            <a:endParaRPr lang="en-US" sz="1700" dirty="0"/>
          </a:p>
        </p:txBody>
      </p:sp>
      <p:sp>
        <p:nvSpPr>
          <p:cNvPr id="19" name="Text 17"/>
          <p:cNvSpPr/>
          <p:nvPr/>
        </p:nvSpPr>
        <p:spPr>
          <a:xfrm>
            <a:off x="1097280" y="3145536"/>
            <a:ext cx="7315200" cy="137160"/>
          </a:xfrm>
          <a:prstGeom prst="rect">
            <a:avLst/>
          </a:prstGeom>
          <a:noFill/>
          <a:ln/>
        </p:spPr>
        <p:txBody>
          <a:bodyPr wrap="square" rtlCol="0" anchor="ctr"/>
          <a:lstStyle/>
          <a:p>
            <a:pPr indent="0" marL="0">
              <a:buNone/>
            </a:pPr>
            <a:r>
              <a:rPr lang="en-US" sz="1400" dirty="0">
                <a:solidFill>
                  <a:srgbClr val="1A1A1A"/>
                </a:solidFill>
              </a:rPr>
              <a:t>Comprehensive compound and hormone analysis</a:t>
            </a:r>
            <a:endParaRPr lang="en-US" sz="1400" dirty="0"/>
          </a:p>
        </p:txBody>
      </p:sp>
      <p:sp>
        <p:nvSpPr>
          <p:cNvPr id="20" name="Shape 18"/>
          <p:cNvSpPr/>
          <p:nvPr/>
        </p:nvSpPr>
        <p:spPr>
          <a:xfrm>
            <a:off x="548640" y="3566160"/>
            <a:ext cx="365760" cy="365760"/>
          </a:xfrm>
          <a:prstGeom prst="ellipse">
            <a:avLst/>
          </a:prstGeom>
          <a:solidFill>
            <a:srgbClr val="D4AF37"/>
          </a:solidFill>
          <a:ln/>
        </p:spPr>
      </p:sp>
      <p:sp>
        <p:nvSpPr>
          <p:cNvPr id="21" name="Text 19"/>
          <p:cNvSpPr/>
          <p:nvPr/>
        </p:nvSpPr>
        <p:spPr>
          <a:xfrm>
            <a:off x="548640" y="3566160"/>
            <a:ext cx="365760" cy="365760"/>
          </a:xfrm>
          <a:prstGeom prst="rect">
            <a:avLst/>
          </a:prstGeom>
          <a:noFill/>
          <a:ln/>
        </p:spPr>
        <p:txBody>
          <a:bodyPr wrap="square" rtlCol="0" anchor="ctr"/>
          <a:lstStyle/>
          <a:p>
            <a:pPr algn="ctr" indent="0" marL="0">
              <a:buNone/>
            </a:pPr>
            <a:r>
              <a:rPr lang="en-US" sz="2000" b="1" dirty="0">
                <a:solidFill>
                  <a:srgbClr val="FFFFFF"/>
                </a:solidFill>
              </a:rPr>
              <a:t>5</a:t>
            </a:r>
            <a:endParaRPr lang="en-US" sz="2000" dirty="0"/>
          </a:p>
        </p:txBody>
      </p:sp>
      <p:sp>
        <p:nvSpPr>
          <p:cNvPr id="22" name="Text 20"/>
          <p:cNvSpPr/>
          <p:nvPr/>
        </p:nvSpPr>
        <p:spPr>
          <a:xfrm>
            <a:off x="1097280" y="3584448"/>
            <a:ext cx="7315200" cy="182880"/>
          </a:xfrm>
          <a:prstGeom prst="rect">
            <a:avLst/>
          </a:prstGeom>
          <a:noFill/>
          <a:ln/>
        </p:spPr>
        <p:txBody>
          <a:bodyPr wrap="square" rtlCol="0" anchor="ctr"/>
          <a:lstStyle/>
          <a:p>
            <a:pPr indent="0" marL="0">
              <a:buNone/>
            </a:pPr>
            <a:r>
              <a:rPr lang="en-US" sz="1700" b="1" dirty="0">
                <a:solidFill>
                  <a:srgbClr val="003366"/>
                </a:solidFill>
              </a:rPr>
              <a:t>First GO/NO-GO Decision - Week 10</a:t>
            </a:r>
            <a:endParaRPr lang="en-US" sz="1700" dirty="0"/>
          </a:p>
        </p:txBody>
      </p:sp>
      <p:sp>
        <p:nvSpPr>
          <p:cNvPr id="23" name="Text 21"/>
          <p:cNvSpPr/>
          <p:nvPr/>
        </p:nvSpPr>
        <p:spPr>
          <a:xfrm>
            <a:off x="1097280" y="3785616"/>
            <a:ext cx="7315200" cy="137160"/>
          </a:xfrm>
          <a:prstGeom prst="rect">
            <a:avLst/>
          </a:prstGeom>
          <a:noFill/>
          <a:ln/>
        </p:spPr>
        <p:txBody>
          <a:bodyPr wrap="square" rtlCol="0" anchor="ctr"/>
          <a:lstStyle/>
          <a:p>
            <a:pPr indent="0" marL="0">
              <a:buNone/>
            </a:pPr>
            <a:r>
              <a:rPr lang="en-US" sz="1400" dirty="0">
                <a:solidFill>
                  <a:srgbClr val="1A1A1A"/>
                </a:solidFill>
              </a:rPr>
              <a:t>Review results: Proceed or exit with minimal loss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3366"/>
        </a:solidFill>
      </p:bgPr>
    </p:bg>
    <p:spTree>
      <p:nvGrpSpPr>
        <p:cNvPr id="1" name=""/>
        <p:cNvGrpSpPr/>
        <p:nvPr/>
      </p:nvGrpSpPr>
      <p:grpSpPr>
        <a:xfrm>
          <a:off x="0" y="0"/>
          <a:ext cx="0" cy="0"/>
          <a:chOff x="0" y="0"/>
          <a:chExt cx="0" cy="0"/>
        </a:xfrm>
      </p:grpSpPr>
      <p:sp>
        <p:nvSpPr>
          <p:cNvPr id="2" name="Text 0"/>
          <p:cNvSpPr/>
          <p:nvPr/>
        </p:nvSpPr>
        <p:spPr>
          <a:xfrm>
            <a:off x="914400" y="914400"/>
            <a:ext cx="7315200" cy="731520"/>
          </a:xfrm>
          <a:prstGeom prst="rect">
            <a:avLst/>
          </a:prstGeom>
          <a:noFill/>
          <a:ln/>
        </p:spPr>
        <p:txBody>
          <a:bodyPr wrap="square" rtlCol="0" anchor="ctr"/>
          <a:lstStyle/>
          <a:p>
            <a:pPr algn="ctr" indent="0" marL="0">
              <a:buNone/>
            </a:pPr>
            <a:r>
              <a:rPr lang="en-US" sz="4200" b="1" dirty="0">
                <a:solidFill>
                  <a:srgbClr val="FFFFFF"/>
                </a:solidFill>
              </a:rPr>
              <a:t>Let's Test Our Hypothesis</a:t>
            </a:r>
            <a:endParaRPr lang="en-US" sz="4200" dirty="0"/>
          </a:p>
        </p:txBody>
      </p:sp>
      <p:sp>
        <p:nvSpPr>
          <p:cNvPr id="3" name="Text 1"/>
          <p:cNvSpPr/>
          <p:nvPr/>
        </p:nvSpPr>
        <p:spPr>
          <a:xfrm>
            <a:off x="3840480" y="960120"/>
            <a:ext cx="1463040" cy="640080"/>
          </a:xfrm>
          <a:prstGeom prst="rect">
            <a:avLst/>
          </a:prstGeom>
          <a:noFill/>
          <a:ln/>
        </p:spPr>
        <p:txBody>
          <a:bodyPr wrap="square" rtlCol="0" anchor="ctr"/>
          <a:lstStyle/>
          <a:p>
            <a:pPr algn="ctr" indent="0" marL="0">
              <a:buNone/>
            </a:pPr>
            <a:r>
              <a:rPr lang="en-US" sz="4200" b="1" dirty="0">
                <a:solidFill>
                  <a:srgbClr val="D4AF37"/>
                </a:solidFill>
              </a:rPr>
              <a:t>Hypothesis</a:t>
            </a:r>
            <a:endParaRPr lang="en-US" sz="4200" dirty="0"/>
          </a:p>
        </p:txBody>
      </p:sp>
      <p:sp>
        <p:nvSpPr>
          <p:cNvPr id="4" name="Shape 2"/>
          <p:cNvSpPr/>
          <p:nvPr/>
        </p:nvSpPr>
        <p:spPr>
          <a:xfrm>
            <a:off x="685800" y="2011680"/>
            <a:ext cx="2560320" cy="731520"/>
          </a:xfrm>
          <a:prstGeom prst="rect">
            <a:avLst/>
          </a:prstGeom>
          <a:solidFill>
            <a:srgbClr val="FFFFFF"/>
          </a:solidFill>
          <a:ln w="25400">
            <a:solidFill>
              <a:srgbClr val="D4AF37"/>
            </a:solidFill>
            <a:prstDash val="solid"/>
          </a:ln>
        </p:spPr>
      </p:sp>
      <p:sp>
        <p:nvSpPr>
          <p:cNvPr id="5" name="Text 3"/>
          <p:cNvSpPr/>
          <p:nvPr/>
        </p:nvSpPr>
        <p:spPr>
          <a:xfrm>
            <a:off x="685800" y="2084832"/>
            <a:ext cx="2560320" cy="182880"/>
          </a:xfrm>
          <a:prstGeom prst="rect">
            <a:avLst/>
          </a:prstGeom>
          <a:noFill/>
          <a:ln/>
        </p:spPr>
        <p:txBody>
          <a:bodyPr wrap="square" rtlCol="0" anchor="ctr"/>
          <a:lstStyle/>
          <a:p>
            <a:pPr algn="ctr" indent="0" marL="0">
              <a:buNone/>
            </a:pPr>
            <a:r>
              <a:rPr lang="en-US" sz="1300" b="1" dirty="0">
                <a:solidFill>
                  <a:srgbClr val="003366"/>
                </a:solidFill>
              </a:rPr>
              <a:t>Initial Commitment</a:t>
            </a:r>
            <a:endParaRPr lang="en-US" sz="1300" dirty="0"/>
          </a:p>
        </p:txBody>
      </p:sp>
      <p:sp>
        <p:nvSpPr>
          <p:cNvPr id="6" name="Text 4"/>
          <p:cNvSpPr/>
          <p:nvPr/>
        </p:nvSpPr>
        <p:spPr>
          <a:xfrm>
            <a:off x="685800" y="2304288"/>
            <a:ext cx="2560320" cy="365760"/>
          </a:xfrm>
          <a:prstGeom prst="rect">
            <a:avLst/>
          </a:prstGeom>
          <a:noFill/>
          <a:ln/>
        </p:spPr>
        <p:txBody>
          <a:bodyPr wrap="square" rtlCol="0" anchor="ctr"/>
          <a:lstStyle/>
          <a:p>
            <a:pPr algn="ctr" indent="0" marL="0">
              <a:buNone/>
            </a:pPr>
            <a:r>
              <a:rPr lang="en-US" sz="2400" b="1" dirty="0">
                <a:solidFill>
                  <a:srgbClr val="003366"/>
                </a:solidFill>
              </a:rPr>
              <a:t>$15-25K</a:t>
            </a:r>
            <a:endParaRPr lang="en-US" sz="2400" dirty="0"/>
          </a:p>
        </p:txBody>
      </p:sp>
      <p:sp>
        <p:nvSpPr>
          <p:cNvPr id="7" name="Shape 5"/>
          <p:cNvSpPr/>
          <p:nvPr/>
        </p:nvSpPr>
        <p:spPr>
          <a:xfrm>
            <a:off x="3200400" y="2011680"/>
            <a:ext cx="2560320" cy="731520"/>
          </a:xfrm>
          <a:prstGeom prst="rect">
            <a:avLst/>
          </a:prstGeom>
          <a:solidFill>
            <a:srgbClr val="FFFFFF"/>
          </a:solidFill>
          <a:ln w="25400">
            <a:solidFill>
              <a:srgbClr val="D4AF37"/>
            </a:solidFill>
            <a:prstDash val="solid"/>
          </a:ln>
        </p:spPr>
      </p:sp>
      <p:sp>
        <p:nvSpPr>
          <p:cNvPr id="8" name="Text 6"/>
          <p:cNvSpPr/>
          <p:nvPr/>
        </p:nvSpPr>
        <p:spPr>
          <a:xfrm>
            <a:off x="3200400" y="2084832"/>
            <a:ext cx="2560320" cy="182880"/>
          </a:xfrm>
          <a:prstGeom prst="rect">
            <a:avLst/>
          </a:prstGeom>
          <a:noFill/>
          <a:ln/>
        </p:spPr>
        <p:txBody>
          <a:bodyPr wrap="square" rtlCol="0" anchor="ctr"/>
          <a:lstStyle/>
          <a:p>
            <a:pPr algn="ctr" indent="0" marL="0">
              <a:buNone/>
            </a:pPr>
            <a:r>
              <a:rPr lang="en-US" sz="1300" b="1" dirty="0">
                <a:solidFill>
                  <a:srgbClr val="003366"/>
                </a:solidFill>
              </a:rPr>
              <a:t>Potential Upside</a:t>
            </a:r>
            <a:endParaRPr lang="en-US" sz="1300" dirty="0"/>
          </a:p>
        </p:txBody>
      </p:sp>
      <p:sp>
        <p:nvSpPr>
          <p:cNvPr id="9" name="Text 7"/>
          <p:cNvSpPr/>
          <p:nvPr/>
        </p:nvSpPr>
        <p:spPr>
          <a:xfrm>
            <a:off x="3200400" y="2304288"/>
            <a:ext cx="2560320" cy="365760"/>
          </a:xfrm>
          <a:prstGeom prst="rect">
            <a:avLst/>
          </a:prstGeom>
          <a:noFill/>
          <a:ln/>
        </p:spPr>
        <p:txBody>
          <a:bodyPr wrap="square" rtlCol="0" anchor="ctr"/>
          <a:lstStyle/>
          <a:p>
            <a:pPr algn="ctr" indent="0" marL="0">
              <a:buNone/>
            </a:pPr>
            <a:r>
              <a:rPr lang="en-US" sz="2400" b="1" dirty="0">
                <a:solidFill>
                  <a:srgbClr val="003366"/>
                </a:solidFill>
              </a:rPr>
              <a:t>$6-10M</a:t>
            </a:r>
            <a:endParaRPr lang="en-US" sz="2400" dirty="0"/>
          </a:p>
        </p:txBody>
      </p:sp>
      <p:sp>
        <p:nvSpPr>
          <p:cNvPr id="10" name="Shape 8"/>
          <p:cNvSpPr/>
          <p:nvPr/>
        </p:nvSpPr>
        <p:spPr>
          <a:xfrm>
            <a:off x="5715000" y="2011680"/>
            <a:ext cx="2560320" cy="731520"/>
          </a:xfrm>
          <a:prstGeom prst="rect">
            <a:avLst/>
          </a:prstGeom>
          <a:solidFill>
            <a:srgbClr val="FFFFFF"/>
          </a:solidFill>
          <a:ln w="25400">
            <a:solidFill>
              <a:srgbClr val="D4AF37"/>
            </a:solidFill>
            <a:prstDash val="solid"/>
          </a:ln>
        </p:spPr>
      </p:sp>
      <p:sp>
        <p:nvSpPr>
          <p:cNvPr id="11" name="Text 9"/>
          <p:cNvSpPr/>
          <p:nvPr/>
        </p:nvSpPr>
        <p:spPr>
          <a:xfrm>
            <a:off x="5715000" y="2084832"/>
            <a:ext cx="2560320" cy="182880"/>
          </a:xfrm>
          <a:prstGeom prst="rect">
            <a:avLst/>
          </a:prstGeom>
          <a:noFill/>
          <a:ln/>
        </p:spPr>
        <p:txBody>
          <a:bodyPr wrap="square" rtlCol="0" anchor="ctr"/>
          <a:lstStyle/>
          <a:p>
            <a:pPr algn="ctr" indent="0" marL="0">
              <a:buNone/>
            </a:pPr>
            <a:r>
              <a:rPr lang="en-US" sz="1300" b="1" dirty="0">
                <a:solidFill>
                  <a:srgbClr val="003366"/>
                </a:solidFill>
              </a:rPr>
              <a:t>Risk Management</a:t>
            </a:r>
            <a:endParaRPr lang="en-US" sz="1300" dirty="0"/>
          </a:p>
        </p:txBody>
      </p:sp>
      <p:sp>
        <p:nvSpPr>
          <p:cNvPr id="12" name="Text 10"/>
          <p:cNvSpPr/>
          <p:nvPr/>
        </p:nvSpPr>
        <p:spPr>
          <a:xfrm>
            <a:off x="5715000" y="2304288"/>
            <a:ext cx="2560320" cy="365760"/>
          </a:xfrm>
          <a:prstGeom prst="rect">
            <a:avLst/>
          </a:prstGeom>
          <a:noFill/>
          <a:ln/>
        </p:spPr>
        <p:txBody>
          <a:bodyPr wrap="square" rtlCol="0" anchor="ctr"/>
          <a:lstStyle/>
          <a:p>
            <a:pPr algn="ctr" indent="0" marL="0">
              <a:buNone/>
            </a:pPr>
            <a:r>
              <a:rPr lang="en-US" sz="2400" b="1" dirty="0">
                <a:solidFill>
                  <a:srgbClr val="003366"/>
                </a:solidFill>
              </a:rPr>
              <a:t>Controlled</a:t>
            </a:r>
            <a:endParaRPr lang="en-US" sz="2400" dirty="0"/>
          </a:p>
          <a:p>
            <a:pPr algn="ctr" indent="0" marL="0">
              <a:buNone/>
            </a:pPr>
            <a:r>
              <a:rPr lang="en-US" sz="2400" b="1" dirty="0">
                <a:solidFill>
                  <a:srgbClr val="003366"/>
                </a:solidFill>
              </a:rPr>
              <a:t>at Every Stage</a:t>
            </a:r>
            <a:endParaRPr lang="en-US" sz="2400" dirty="0"/>
          </a:p>
        </p:txBody>
      </p:sp>
      <p:sp>
        <p:nvSpPr>
          <p:cNvPr id="13" name="Shape 11"/>
          <p:cNvSpPr/>
          <p:nvPr/>
        </p:nvSpPr>
        <p:spPr>
          <a:xfrm>
            <a:off x="1371600" y="3017520"/>
            <a:ext cx="6400800" cy="640080"/>
          </a:xfrm>
          <a:prstGeom prst="rect">
            <a:avLst/>
          </a:prstGeom>
          <a:solidFill>
            <a:srgbClr val="D4AF37"/>
          </a:solidFill>
          <a:ln/>
        </p:spPr>
      </p:sp>
      <p:sp>
        <p:nvSpPr>
          <p:cNvPr id="14" name="Text 12"/>
          <p:cNvSpPr/>
          <p:nvPr/>
        </p:nvSpPr>
        <p:spPr>
          <a:xfrm>
            <a:off x="1371600" y="3063240"/>
            <a:ext cx="6400800" cy="548640"/>
          </a:xfrm>
          <a:prstGeom prst="rect">
            <a:avLst/>
          </a:prstGeom>
          <a:noFill/>
          <a:ln/>
        </p:spPr>
        <p:txBody>
          <a:bodyPr wrap="square" rtlCol="0" anchor="ctr"/>
          <a:lstStyle/>
          <a:p>
            <a:pPr algn="ctr" indent="0" marL="0">
              <a:buNone/>
            </a:pPr>
            <a:r>
              <a:rPr lang="en-US" sz="2600" b="1" dirty="0">
                <a:solidFill>
                  <a:srgbClr val="FFFFFF"/>
                </a:solidFill>
              </a:rPr>
              <a:t>Ready to Transform</a:t>
            </a:r>
            <a:endParaRPr lang="en-US" sz="2600" dirty="0"/>
          </a:p>
          <a:p>
            <a:pPr algn="ctr" indent="0" marL="0">
              <a:buNone/>
            </a:pPr>
            <a:r>
              <a:rPr lang="en-US" sz="2600" b="1" dirty="0">
                <a:solidFill>
                  <a:srgbClr val="FFFFFF"/>
                </a:solidFill>
              </a:rPr>
              <a:t>Crisis into Opportunity?</a:t>
            </a:r>
            <a:endParaRPr lang="en-US" sz="2600" dirty="0"/>
          </a:p>
        </p:txBody>
      </p:sp>
      <p:sp>
        <p:nvSpPr>
          <p:cNvPr id="15" name="Text 13"/>
          <p:cNvSpPr/>
          <p:nvPr/>
        </p:nvSpPr>
        <p:spPr>
          <a:xfrm>
            <a:off x="914400" y="3840480"/>
            <a:ext cx="7315200" cy="365760"/>
          </a:xfrm>
          <a:prstGeom prst="rect">
            <a:avLst/>
          </a:prstGeom>
          <a:noFill/>
          <a:ln/>
        </p:spPr>
        <p:txBody>
          <a:bodyPr wrap="square" rtlCol="0" anchor="ctr"/>
          <a:lstStyle/>
          <a:p>
            <a:pPr algn="ctr" indent="0" marL="0">
              <a:buNone/>
            </a:pPr>
            <a:r>
              <a:rPr lang="en-US" sz="1600" i="1" dirty="0">
                <a:solidFill>
                  <a:srgbClr val="7FCDCD"/>
                </a:solidFill>
              </a:rPr>
              <a:t>The only risk greater than trying this strategy</a:t>
            </a:r>
            <a:endParaRPr lang="en-US" sz="1600" dirty="0"/>
          </a:p>
          <a:p>
            <a:pPr algn="ctr" indent="0" marL="0">
              <a:buNone/>
            </a:pPr>
            <a:r>
              <a:rPr lang="en-US" sz="1600" i="1" dirty="0">
                <a:solidFill>
                  <a:srgbClr val="7FCDCD"/>
                </a:solidFill>
              </a:rPr>
              <a:t>is continuing to do nothing while our market disappears.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Mallacoota Co-Op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Crisis to Opportunity: The Beauty Pivot</dc:title>
  <dc:subject>Beauty Market Repositioning Strategy</dc:subject>
  <dc:creator>Mallacoota Black Lip Abalone Co-Operative</dc:creator>
  <cp:lastModifiedBy>Mallacoota Black Lip Abalone Co-Operative</cp:lastModifiedBy>
  <cp:revision>1</cp:revision>
  <dcterms:created xsi:type="dcterms:W3CDTF">2025-11-15T03:22:43Z</dcterms:created>
  <dcterms:modified xsi:type="dcterms:W3CDTF">2025-11-15T03:22:43Z</dcterms:modified>
</cp:coreProperties>
</file>